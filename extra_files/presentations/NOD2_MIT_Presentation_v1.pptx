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345704"/>
            <a:ext cx="8290661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0"/>
              </a:lnSpc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Medicine, N=1: FEP-Validated Drug Discovery for NOD2 R702W Crohn's Disease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51127" y="2394645"/>
            <a:ext cx="58415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Computational Approach to Personalized Therapeutics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32864" y="3042345"/>
            <a:ext cx="1478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72441" y="3353395"/>
            <a:ext cx="2398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2324" y="3626346"/>
            <a:ext cx="28392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 Regional Science Fair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74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4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193750"/>
            <a:ext cx="2667149" cy="476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450" y="200962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450" y="179695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EXPLAINED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095351"/>
            <a:ext cx="2667149" cy="8191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Libraries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Prep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Docking?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Docking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ML?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850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850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(cont.)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38500" y="1193750"/>
            <a:ext cx="2667149" cy="1676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MD?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vs MM-GBSA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95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95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59550" y="1193750"/>
            <a:ext cx="2667149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Explained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Comparison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59550" y="252397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9550" y="231130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9550" y="2609701"/>
            <a:ext cx="2667149" cy="647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This Matters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82551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882551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1034951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8650" y="1495276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risk of Crohn's disease with NOD2 mutations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952476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1952476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650" y="2104876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8650" y="25652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is the strongest genetic risk factor for Crohn's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022402"/>
            <a:ext cx="4398913" cy="9144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022402"/>
            <a:ext cx="0" cy="914400"/>
          </a:xfrm>
          <a:prstGeom prst="line">
            <a:avLst/>
          </a:prstGeom>
          <a:noFill/>
          <a:ln w="571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31748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drugs target NOD2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650" y="34034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treatments suppress symptoms, not the root cause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650" y="36320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the most common NOD2 mutation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97363" y="2311450"/>
            <a:ext cx="3665637" cy="1149251"/>
          </a:xfrm>
          <a:prstGeom prst="roundRect">
            <a:avLst>
              <a:gd name="adj" fmla="val 884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55017" y="2501950"/>
            <a:ext cx="33503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 Precision Medicine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5017" y="28130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5017" y="29654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5017" y="31178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find a drug that works for MY mutation?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Gut's Bacterial Alarm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3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NOD2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74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451" y="1555403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002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Intestinal epithelial cell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5347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4401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3451" y="21522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002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sensor protein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5347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401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451" y="27490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002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wall fragment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5347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4401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3451" y="3345805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002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Inflammation signal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5347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4401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878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inflammation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878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cleared, tissue heals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72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91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NOD2 (R702W)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72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4200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13250" y="1555403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3801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intestinal cell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5146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4200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813250" y="21522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3801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 NOD2: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Can't detect bacteria!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5146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to detect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94200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813250" y="27490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3801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 accumulate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5146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confused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94200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13250" y="3345805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3801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DYSREGULATED signaling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5146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94200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58677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58677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develops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Overview: From 9,566 to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400" y="1933724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2E86A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5510" y="2054275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05510" y="2292400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25551" y="21114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05050" y="1933724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42161" y="2054275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42161" y="2292400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2201" y="21114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1700" y="1933724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78811" y="2054275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8811" y="2292400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hits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98852" y="21114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78351" y="1933724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15462" y="2054275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5462" y="2292400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0.85-0.93 AUC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35502" y="21114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15001" y="1933724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52112" y="2054275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2112" y="2292400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drug-likeness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72152" y="211142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76549" y="2654350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13660" y="2774900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13660" y="3013025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33700" y="2832050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13199" y="2654350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0310" y="2774900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50310" y="3013025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70350" y="2832050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49850" y="2654350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86960" y="2774900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86960" y="3013025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windows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07001" y="2832050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86500" y="2654350"/>
            <a:ext cx="1180951" cy="593527"/>
          </a:xfrm>
          <a:prstGeom prst="roundRect">
            <a:avLst>
              <a:gd name="adj" fmla="val 12839"/>
            </a:avLst>
          </a:prstGeom>
          <a:solidFill>
            <a:srgbClr val="2E86A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3611" y="2774900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3611" y="3013025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39436" y="3463826"/>
            <a:ext cx="1179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039436" y="3730526"/>
            <a:ext cx="1179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filtered out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51576" y="3463826"/>
            <a:ext cx="991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451576" y="3730526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MD simulation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74952" y="3463826"/>
            <a:ext cx="12485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674952" y="3730526"/>
            <a:ext cx="12485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windows computed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55929" y="3463826"/>
            <a:ext cx="9461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155929" y="3730526"/>
            <a:ext cx="946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FEP-validated hits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Compound Library?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9,566 Different Keys for One Lock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8500" y="2016175"/>
            <a:ext cx="2565499" cy="1142702"/>
          </a:xfrm>
          <a:prstGeom prst="roundRect">
            <a:avLst>
              <a:gd name="adj" fmla="val 13337"/>
            </a:avLst>
          </a:prstGeom>
          <a:solidFill>
            <a:srgbClr val="F4F6F6"/>
          </a:solidFill>
          <a:ln w="3810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70686" y="2308175"/>
            <a:ext cx="202112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Protein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0686" y="2724001"/>
            <a:ext cx="2021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"LOCK" we need to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5370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232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90476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7427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05583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32533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0689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4764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35796" y="3349377"/>
            <a:ext cx="338584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62746" y="3425577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5881" y="3349377"/>
            <a:ext cx="711250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2831" y="3425577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9,566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1072" y="3743027"/>
            <a:ext cx="1300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keys FIT the lock?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5400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22763" y="1054001"/>
            <a:ext cx="0" cy="11049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8975" y="120640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8975" y="145405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8975" y="172075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plants, fungi, bacteria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8975" y="186362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Evolution-optimized molecules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8950" y="228585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2763" y="2285851"/>
            <a:ext cx="0" cy="110490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8975" y="243825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 Drugs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8975" y="268590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98975" y="295260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proven safe in humans!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8975" y="309547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8950" y="3517702"/>
            <a:ext cx="4127599" cy="873026"/>
          </a:xfrm>
          <a:prstGeom prst="roundRect">
            <a:avLst>
              <a:gd name="adj" fmla="val 872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3122" y="3670102"/>
            <a:ext cx="3899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Library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13122" y="3943052"/>
            <a:ext cx="389925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Library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PROTEIN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222177"/>
            <a:ext cx="4127599" cy="262205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8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LRR Domain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Leucine-Rich Repeat region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bacteria are sensed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AlphaFold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AI-predicted 3D 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UniProt: Q9HC29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Arginine (R) to Tryptophan (W)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79.4 A from binding site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50" y="3222129"/>
            <a:ext cx="382279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8900" y="3222129"/>
            <a:ext cx="0" cy="4697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3323630"/>
            <a:ext cx="3653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the binding site - this is ALLOSTERIC (works at a distance)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8950" y="1222177"/>
            <a:ext cx="4127599" cy="263157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Products: 7,414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13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COCONUT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13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diverse molecules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13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Drugs: 2,152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13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Pre-validated for human safety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513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conformer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Protonation at pH 7.4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1350" y="30951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minimization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1350" y="3365004"/>
            <a:ext cx="3822799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70400" y="3365004"/>
            <a:ext cx="0" cy="3363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0951" y="346650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9,566 compounds ready for virtual screening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Molecular Docking?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Testing How Molecules FIT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0637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5430" y="106188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302" y="990451"/>
            <a:ext cx="4418261" cy="285750"/>
          </a:xfrm>
          <a:prstGeom prst="roundRect">
            <a:avLst>
              <a:gd name="adj" fmla="val 177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0803" y="1066651"/>
            <a:ext cx="4299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Protein + Drug molecule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36832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430" y="142383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302" y="1352401"/>
            <a:ext cx="4418261" cy="285750"/>
          </a:xfrm>
          <a:prstGeom prst="roundRect">
            <a:avLst>
              <a:gd name="adj" fmla="val 177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0803" y="1428601"/>
            <a:ext cx="4299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possible orientation and position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3901" y="173027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5430" y="178578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302" y="1714351"/>
            <a:ext cx="4418261" cy="285750"/>
          </a:xfrm>
          <a:prstGeom prst="roundRect">
            <a:avLst>
              <a:gd name="adj" fmla="val 177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0803" y="1790551"/>
            <a:ext cx="4299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"How well does it fit?" (lower = better)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3901" y="209222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5430" y="214773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302" y="2076301"/>
            <a:ext cx="4418261" cy="285750"/>
          </a:xfrm>
          <a:prstGeom prst="roundRect">
            <a:avLst>
              <a:gd name="adj" fmla="val 177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0803" y="2152501"/>
            <a:ext cx="4299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9,566 compounds by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901" y="245417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5430" y="250968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302" y="2438251"/>
            <a:ext cx="4418261" cy="285750"/>
          </a:xfrm>
          <a:prstGeom prst="roundRect">
            <a:avLst>
              <a:gd name="adj" fmla="val 177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0803" y="2514451"/>
            <a:ext cx="4299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top 500 best-fitting hits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8063" y="990451"/>
            <a:ext cx="3672036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37113" y="990451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7664" y="1091952"/>
            <a:ext cx="3499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Lock and 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57664" y="1285577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protein has a "pocket" (lock)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57664" y="1425178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try many molecules (keys)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57664" y="1564779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how snugly it fits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8063" y="1882080"/>
            <a:ext cx="3672036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237113" y="1882080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7664" y="1983581"/>
            <a:ext cx="3499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57664" y="2177207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drugs make many contacts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57664" y="2316807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complement the pocket shape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57664" y="2456408"/>
            <a:ext cx="349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captures this fit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18063" y="2773710"/>
            <a:ext cx="3672036" cy="955030"/>
          </a:xfrm>
          <a:prstGeom prst="roundRect">
            <a:avLst>
              <a:gd name="adj" fmla="val 797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9564" y="2875211"/>
            <a:ext cx="35384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GNINA: AI-Powered Docking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19564" y="3068836"/>
            <a:ext cx="35384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docking uses physics equations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19564" y="3208437"/>
            <a:ext cx="35384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adds a neural network brain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9564" y="3348038"/>
            <a:ext cx="35384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from millions of examples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19564" y="3487638"/>
            <a:ext cx="35384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than traditional methods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Virtual Screening: GNINA Docking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Parameters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5471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05808" y="1244501"/>
            <a:ext cx="7005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v1.0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475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4571" y="1438126"/>
            <a:ext cx="1324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(neural network)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943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Exhaustiveness: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51412" y="1631752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3166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77828" y="1825377"/>
            <a:ext cx="7291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RTX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158627"/>
          </a:xfrm>
          <a:prstGeom prst="roundRect">
            <a:avLst>
              <a:gd name="adj" fmla="val 657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525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8620" y="2723704"/>
            <a:ext cx="1064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domain cleft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5255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size: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64272" y="2917329"/>
            <a:ext cx="84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x 25 x 25 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424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9120" y="3110954"/>
            <a:ext cx="870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7450" y="3583930"/>
            <a:ext cx="4127599" cy="1254026"/>
          </a:xfrm>
          <a:prstGeom prst="roundRect">
            <a:avLst>
              <a:gd name="adj" fmla="val 607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484" y="3774430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484" y="4085481"/>
            <a:ext cx="38215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hrs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484" y="449505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3750" y="819150"/>
            <a:ext cx="2578001" cy="673001"/>
          </a:xfrm>
          <a:prstGeom prst="roundRect">
            <a:avLst>
              <a:gd name="adj" fmla="val 7548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96890" y="965150"/>
            <a:ext cx="23317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96890" y="1203275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compounds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3236" y="1746052"/>
            <a:ext cx="13046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GNINA docking 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4750" y="2171402"/>
            <a:ext cx="1816001" cy="673001"/>
          </a:xfrm>
          <a:prstGeom prst="roundRect">
            <a:avLst>
              <a:gd name="adj" fmla="val 7548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85510" y="2317403"/>
            <a:ext cx="1554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5510" y="255552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5% kept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3185" y="3098304"/>
            <a:ext cx="11619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ML + ADMET 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08799" y="3523655"/>
            <a:ext cx="1307902" cy="673001"/>
          </a:xfrm>
          <a:prstGeom prst="roundRect">
            <a:avLst>
              <a:gd name="adj" fmla="val 7548"/>
            </a:avLst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44641" y="3669655"/>
            <a:ext cx="10362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44641" y="390778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candidates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 Here?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 Computer to Predict Good Binders FAST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5067449" cy="3048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1092101"/>
            <a:ext cx="4909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TRAINING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1320701"/>
            <a:ext cx="5067449" cy="367039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447651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732" y="149840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47354" y="146030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26704" y="1498402"/>
            <a:ext cx="3537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2D structure of compound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851" y="1758702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732" y="180945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47354" y="177135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26704" y="1809452"/>
            <a:ext cx="3537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binary barcode (2048 bits)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851" y="2069753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4732" y="2120503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7354" y="2082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26704" y="2120503"/>
            <a:ext cx="3537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15 physical properties (MW, LogP, etc.)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851" y="2380804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732" y="243155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47354" y="239345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26704" y="2431554"/>
            <a:ext cx="3537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ensemble learns patterns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0851" y="2691854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4732" y="274260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47354" y="2691854"/>
            <a:ext cx="965002" cy="234851"/>
          </a:xfrm>
          <a:prstGeom prst="roundRect">
            <a:avLst>
              <a:gd name="adj" fmla="val 2163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41234" y="274260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3856" y="2742605"/>
            <a:ext cx="27341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 Will it bind?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11850" y="1015901"/>
            <a:ext cx="3378250" cy="923776"/>
          </a:xfrm>
          <a:prstGeom prst="roundRect">
            <a:avLst>
              <a:gd name="adj" fmla="val 824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530900" y="1015901"/>
            <a:ext cx="0" cy="9237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6900" y="1142851"/>
            <a:ext cx="3147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ML?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76900" y="1336477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is SLOW (hours per compound)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76900" y="1507927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is FAST (milliseconds per compound)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76900" y="1679377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docking results, predict faster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11850" y="2041178"/>
            <a:ext cx="3378250" cy="923776"/>
          </a:xfrm>
          <a:prstGeom prst="roundRect">
            <a:avLst>
              <a:gd name="adj" fmla="val 824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530900" y="2041178"/>
            <a:ext cx="0" cy="9237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76900" y="2168128"/>
            <a:ext cx="3147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Labels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76900" y="2361754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(1):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10% docking scores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76900" y="2533204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(0):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Bottom 10% docking scores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76900" y="2704654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what makes a good binder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1850" y="3066455"/>
            <a:ext cx="3378250" cy="1095226"/>
          </a:xfrm>
          <a:prstGeom prst="roundRect">
            <a:avLst>
              <a:gd name="adj" fmla="val 695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530900" y="3066455"/>
            <a:ext cx="0" cy="109522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76900" y="3193405"/>
            <a:ext cx="3147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Fingerprint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76900" y="3387030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bit = presence of a chemical feature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76900" y="3558480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42 = "has aromatic ring"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76900" y="3729930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567 = "has NH2 group"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76900" y="3901380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molecules have similar fingerprints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the Model from CHEATING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288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94508" y="1249114"/>
            <a:ext cx="127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10470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1945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7834" y="1876127"/>
            <a:ext cx="4698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SCAFFOLD, different decorations = SIMILAR molecules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901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464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Random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452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188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452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2188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(TEST)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452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2188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(TRAIN)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464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cores!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20714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21278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Scaffold Split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1265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99002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1265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99002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(TRAIN)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1265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99002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(TEST)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21278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generalize!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51078" y="1015901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8028" y="1142851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8028" y="13460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with same core behave similarly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8028" y="14793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is in TRAIN and one in TEST...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78028" y="16127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just memorizes the core = CHEATING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8028" y="17460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falsely high accuracy!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51078" y="2107853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78028" y="2234803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78028" y="2437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keeps same-core molecules TOGETHER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8028" y="25713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ALL in training, or ALL in test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8028" y="27046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learn GENERAL patterns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78028" y="28380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estimate of real-world performance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51078" y="3199805"/>
            <a:ext cx="3839021" cy="847576"/>
          </a:xfrm>
          <a:prstGeom prst="roundRect">
            <a:avLst>
              <a:gd name="adj" fmla="val 8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70128" y="3199805"/>
            <a:ext cx="0" cy="8475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6128" y="3326755"/>
            <a:ext cx="36179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6128" y="35203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with scaffold split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6128" y="365373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fold: different scaffolds in test 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6128" y="37870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model generalizes to NEW molecules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Model: NOD2-Scout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676126"/>
            <a:ext cx="4159300" cy="673001"/>
          </a:xfrm>
          <a:prstGeom prst="roundRect">
            <a:avLst>
              <a:gd name="adj" fmla="val 1132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347" y="80307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5347" y="1079302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Boosted Decision Trees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450" y="1425327"/>
            <a:ext cx="4159300" cy="894755"/>
          </a:xfrm>
          <a:prstGeom prst="roundRect">
            <a:avLst>
              <a:gd name="adj" fmla="val 85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8951" y="1526828"/>
            <a:ext cx="4035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8951" y="1742629"/>
            <a:ext cx="589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20951" y="1742629"/>
            <a:ext cx="1075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2048-bit Morgan FP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8951" y="1901279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5204" y="1901279"/>
            <a:ext cx="11016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physicochemical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8951" y="2059930"/>
            <a:ext cx="732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features: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89202" y="2059930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450" y="2396282"/>
            <a:ext cx="4159300" cy="894755"/>
          </a:xfrm>
          <a:prstGeom prst="roundRect">
            <a:avLst>
              <a:gd name="adj" fmla="val 85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8951" y="2497782"/>
            <a:ext cx="4035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8951" y="2713583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73550" y="2713583"/>
            <a:ext cx="5117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8951" y="2872234"/>
            <a:ext cx="512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type: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97300" y="2872234"/>
            <a:ext cx="997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8951" y="3030885"/>
            <a:ext cx="6890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size: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42977" y="3030885"/>
            <a:ext cx="10529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~1,900 compounds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7250" y="676126"/>
            <a:ext cx="4159300" cy="1380827"/>
          </a:xfrm>
          <a:prstGeom prst="roundRect">
            <a:avLst>
              <a:gd name="adj" fmla="val 551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1063" y="676126"/>
            <a:ext cx="0" cy="1380827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6376" y="777627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(5-fold CV)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6376" y="1298228"/>
            <a:ext cx="131371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05835" y="1341090"/>
            <a:ext cx="15291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range across folds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5835" y="1474440"/>
            <a:ext cx="15291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predictive power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7250" y="2133154"/>
            <a:ext cx="4159300" cy="1301353"/>
          </a:xfrm>
          <a:prstGeom prst="roundRect">
            <a:avLst>
              <a:gd name="adj" fmla="val 58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91063" y="2133154"/>
            <a:ext cx="0" cy="1301353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6376" y="2234654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Control (Sanity Check)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6376" y="2469505"/>
            <a:ext cx="795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 labels: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24502" y="2450455"/>
            <a:ext cx="8165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0.50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6376" y="2685306"/>
            <a:ext cx="3986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guessing = 0.50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16376" y="3009156"/>
            <a:ext cx="3986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model learned REAL patterns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7250" y="3510707"/>
            <a:ext cx="4159300" cy="894755"/>
          </a:xfrm>
          <a:prstGeom prst="roundRect">
            <a:avLst>
              <a:gd name="adj" fmla="val 85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68751" y="3612207"/>
            <a:ext cx="4035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68751" y="3828008"/>
            <a:ext cx="6383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0.50: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05750" y="3828008"/>
            <a:ext cx="835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guess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68751" y="3986659"/>
            <a:ext cx="6383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0.70: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15151" y="3986659"/>
            <a:ext cx="622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68751" y="4145310"/>
            <a:ext cx="706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0.85+: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88350" y="4145310"/>
            <a:ext cx="7514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model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Drug's Journey Through Your Body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4773662" cy="3048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1092101"/>
            <a:ext cx="46101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DRUG'S JOURNEY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1320701"/>
            <a:ext cx="4773662" cy="367039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4476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407" y="1520577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7902" y="1487239"/>
            <a:ext cx="4143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7902" y="1630114"/>
            <a:ext cx="4143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your GUT absorb it into blood?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851" y="18666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4407" y="1939528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7902" y="1906191"/>
            <a:ext cx="4143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902" y="2049066"/>
            <a:ext cx="4143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REACH the target organ (intestine)?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851" y="22855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584" y="2358479"/>
            <a:ext cx="1510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7902" y="2325142"/>
            <a:ext cx="4143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METABOLISM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7902" y="2468017"/>
            <a:ext cx="4143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LIVER destroy it too fast?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851" y="27045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9318" y="2777430"/>
            <a:ext cx="1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7902" y="2744093"/>
            <a:ext cx="4143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7902" y="2886968"/>
            <a:ext cx="4143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body GET RID of it (kidney)?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0851" y="312345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4230" y="3196382"/>
            <a:ext cx="1108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7902" y="3163044"/>
            <a:ext cx="4143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7902" y="3305919"/>
            <a:ext cx="4143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HURT or KILL you?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8063" y="1015901"/>
            <a:ext cx="3672036" cy="1349276"/>
          </a:xfrm>
          <a:prstGeom prst="roundRect">
            <a:avLst>
              <a:gd name="adj" fmla="val 564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37113" y="1015901"/>
            <a:ext cx="0" cy="134927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83113" y="1142851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Rule of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83113" y="1361926"/>
            <a:ext cx="3447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checklist for "drug-likeness"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83113" y="1552426"/>
            <a:ext cx="9310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Weight: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95977" y="1552426"/>
            <a:ext cx="476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 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83113" y="1723876"/>
            <a:ext cx="10217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LogP (fat solubility):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01075" y="1723876"/>
            <a:ext cx="165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83113" y="1895326"/>
            <a:ext cx="803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H-bond donors: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01075" y="1895326"/>
            <a:ext cx="165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83113" y="2066776"/>
            <a:ext cx="952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H-bond acceptors: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37377" y="2066776"/>
            <a:ext cx="2302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8063" y="2466677"/>
            <a:ext cx="3672036" cy="1133326"/>
          </a:xfrm>
          <a:prstGeom prst="roundRect">
            <a:avLst>
              <a:gd name="adj" fmla="val 672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45013" y="2593628"/>
            <a:ext cx="3486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ADMET Matters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5013" y="2787253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drug candidates FAIL clinical trials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5013" y="2958703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failures: poor ADMET, not poor binding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5013" y="3130153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early = save time and money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5013" y="3301603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computationally before experiments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8063" y="3701504"/>
            <a:ext cx="3672036" cy="911126"/>
          </a:xfrm>
          <a:prstGeom prst="roundRect">
            <a:avLst>
              <a:gd name="adj" fmla="val 836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237113" y="3701504"/>
            <a:ext cx="0" cy="9111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83113" y="3828455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Filter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83113" y="4047530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Pan-Assay Interference Compounds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83113" y="4218980"/>
            <a:ext cx="34476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"frequent hitter" molecules that bind everything non-specifically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 Filtering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676126"/>
            <a:ext cx="4159300" cy="1333202"/>
          </a:xfrm>
          <a:prstGeom prst="roundRect">
            <a:avLst>
              <a:gd name="adj" fmla="val 57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676126"/>
            <a:ext cx="0" cy="13332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576" y="777627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Applied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576" y="993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501" y="1002953"/>
            <a:ext cx="968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Rule of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576" y="1183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8501" y="1193453"/>
            <a:ext cx="1850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filter (problematic structures)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576" y="1374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501" y="1383953"/>
            <a:ext cx="1794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predictions (hERG, AMES)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576" y="1564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8501" y="1574453"/>
            <a:ext cx="1179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Solubility requirements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576" y="1755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501" y="1764953"/>
            <a:ext cx="1516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stability predictions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2085529"/>
            <a:ext cx="4159300" cy="1066502"/>
          </a:xfrm>
          <a:prstGeom prst="roundRect">
            <a:avLst>
              <a:gd name="adj" fmla="val 71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2085529"/>
            <a:ext cx="0" cy="1066502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576" y="2187029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Removed By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576" y="2402830"/>
            <a:ext cx="1273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 violations: ~40%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576" y="2574280"/>
            <a:ext cx="1024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alerts: ~15%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576" y="2745730"/>
            <a:ext cx="1027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flags: ~20%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576" y="2917180"/>
            <a:ext cx="1078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ADMET: ~23%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6425" y="1135559"/>
            <a:ext cx="212080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0096" y="1256109"/>
            <a:ext cx="1813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40096" y="1494234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docking hits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36370" y="1906786"/>
            <a:ext cx="63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Lipinski 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0475" y="2227362"/>
            <a:ext cx="1612850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99225" y="2347913"/>
            <a:ext cx="1295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9225" y="2586038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2304" y="2998589"/>
            <a:ext cx="927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PAINS + Tox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0025" y="3319165"/>
            <a:ext cx="1193750" cy="555427"/>
          </a:xfrm>
          <a:prstGeom prst="roundRect">
            <a:avLst>
              <a:gd name="adj" fmla="val 1371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93535" y="3420666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93535" y="3658791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candidates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7250" y="3950791"/>
            <a:ext cx="4159300" cy="606326"/>
          </a:xfrm>
          <a:prstGeom prst="roundRect">
            <a:avLst>
              <a:gd name="adj" fmla="val 12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5146" y="4077742"/>
            <a:ext cx="3983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Filtered 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5146" y="4287292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best proceed to MD/FEP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Molecular Dynamics?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SNAPSHOT to MOVIE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2323356" cy="374452"/>
          </a:xfrm>
          <a:prstGeom prst="roundRect">
            <a:avLst>
              <a:gd name="adj" fmla="val 2035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198" y="1117402"/>
            <a:ext cx="2162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1390352"/>
            <a:ext cx="2323356" cy="36007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5173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352" y="15935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FROZEN snapshot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0851" y="18792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352" y="19554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Rigid, fixed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851" y="22412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352" y="23174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pose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0851" y="26031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352" y="26793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Ignored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851" y="29651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352" y="30413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 (static)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0851" y="33270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352" y="34032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it FIT?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04207" y="1015901"/>
            <a:ext cx="2323356" cy="374452"/>
          </a:xfrm>
          <a:prstGeom prst="roundRect">
            <a:avLst>
              <a:gd name="adj" fmla="val 203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84504" y="1117402"/>
            <a:ext cx="2162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SIMULATION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04207" y="1390352"/>
            <a:ext cx="2323356" cy="36007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31157" y="15173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32658" y="15935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MOVIE over 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1157" y="18792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32658" y="19554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Flexible, wiggles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1157" y="22412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32658" y="23174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Moves around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1157" y="26031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32658" y="26793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Explicit molecules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1157" y="296510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32658" y="304130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Nanoseconds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31157" y="3327053"/>
            <a:ext cx="2069455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32658" y="3403253"/>
            <a:ext cx="1903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it STAY?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8063" y="1015901"/>
            <a:ext cx="3672036" cy="1304776"/>
          </a:xfrm>
          <a:prstGeom prst="roundRect">
            <a:avLst>
              <a:gd name="adj" fmla="val 58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237113" y="1015901"/>
            <a:ext cx="0" cy="13047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3113" y="1142851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MD Works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83113" y="133647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protein + drug in a box of water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83113" y="150792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Newton's laws (F = ma)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83113" y="167937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forces between all atoms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83113" y="185082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atoms tiny step (2 femtoseconds)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83113" y="202227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MILLIONS of times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8063" y="2422178"/>
            <a:ext cx="3672036" cy="1133326"/>
          </a:xfrm>
          <a:prstGeom prst="roundRect">
            <a:avLst>
              <a:gd name="adj" fmla="val 67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237113" y="2422178"/>
            <a:ext cx="0" cy="113332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83113" y="2549128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83113" y="2742754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for atom interactions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83113" y="2914204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300K (body temperature)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83113" y="3085654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step: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fs = 0.000000000000002 sec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83113" y="3257104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ns = 10 million steps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18063" y="3657005"/>
            <a:ext cx="3672036" cy="847576"/>
          </a:xfrm>
          <a:prstGeom prst="roundRect">
            <a:avLst>
              <a:gd name="adj" fmla="val 899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345013" y="3783955"/>
            <a:ext cx="3486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Question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45013" y="397758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says drug FITS the pocket...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45013" y="411093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does it STAY there over time?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5013" y="424428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does it wobble and fall out?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 Simulations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Force Fields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FF: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9561" y="1438126"/>
            <a:ext cx="921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ff14SB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19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FF: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76377" y="1631752"/>
            <a:ext cx="424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765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model: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9778" y="1825377"/>
            <a:ext cx="359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TIP3P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53768" y="272370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5333" y="2917329"/>
            <a:ext cx="690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bar (NPT)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599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step: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73723" y="3110954"/>
            <a:ext cx="223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8060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trajectory: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67907" y="3304580"/>
            <a:ext cx="331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206401"/>
          </a:xfrm>
          <a:prstGeom prst="roundRect">
            <a:avLst>
              <a:gd name="adj" fmla="val 63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206401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Breakdown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92126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 NOD2: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95058" y="1244501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x 20ns = 280 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8975" y="1606451"/>
            <a:ext cx="899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5058" y="1558826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x 20ns = 240 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98950" y="2152501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2343001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 Time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2615952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851984" y="3146078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molecular dynamics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98950" y="361592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376832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40159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Ligands remained stably bound in pocket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41588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unbinding events observed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43017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structure remained intact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and Mutation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99877"/>
          </a:xfrm>
          <a:prstGeom prst="roundRect">
            <a:avLst>
              <a:gd name="adj" fmla="val 54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399877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4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Confirmed by 3 Tools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74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4226" y="1254026"/>
            <a:ext cx="1727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Chai-1: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structure prediction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4226" y="1466701"/>
            <a:ext cx="199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DiffDock: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Diffusion-based docking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74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4226" y="1679377"/>
            <a:ext cx="2015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FlowDock: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Flow-matching docking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1933277"/>
            <a:ext cx="3850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independent methods agree on binding location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450" y="2345978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983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713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Arginine (R) - POSITIVE charge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29649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Tryptophan (W) - NEUTRAL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31585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Loss of positive charge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50" y="33776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affects electrostatics at a distance!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819150"/>
            <a:ext cx="4127599" cy="1660178"/>
          </a:xfrm>
          <a:prstGeom prst="roundRect">
            <a:avLst>
              <a:gd name="adj" fmla="val 459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9450" y="1009650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Distance from Binding 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9450" y="1282601"/>
            <a:ext cx="3821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 Angstroms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89450" y="1657201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where drugs bind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9450" y="1850827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it still affects binding affinity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9450" y="2095202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ALLOSTERIC communication!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98950" y="260627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1350" y="27586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Allosteric?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1350" y="30063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at one site affect another site at a DISTANCE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314920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pressing a button on one end of a seesaw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32920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mutation disrupts long-range communication in NOD2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460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"Favorability" of a Reaction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3901" y="866626"/>
            <a:ext cx="4627513" cy="1361926"/>
          </a:xfrm>
          <a:prstGeom prst="roundRect">
            <a:avLst>
              <a:gd name="adj" fmla="val 559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7115" y="993577"/>
            <a:ext cx="44610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Ball Rolling on a Hill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47192" y="6798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35461" y="1613456"/>
            <a:ext cx="877364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0704" y="1606600"/>
            <a:ext cx="5868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DOWN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08525" y="1885801"/>
            <a:ext cx="3310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&lt; 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33924" y="6798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22192" y="1613456"/>
            <a:ext cx="877364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8859" y="1606600"/>
            <a:ext cx="524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UP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95257" y="1885801"/>
            <a:ext cx="3310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&gt; 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901" y="2304752"/>
            <a:ext cx="4627513" cy="2288381"/>
          </a:xfrm>
          <a:prstGeom prst="roundRect">
            <a:avLst>
              <a:gd name="adj" fmla="val 33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0851" y="2431703"/>
            <a:ext cx="44610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Affinity Scale (kcal/mol)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0851" y="2803029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2702" y="2823716"/>
            <a:ext cx="1269950" cy="101501"/>
          </a:xfrm>
          <a:prstGeom prst="roundRect">
            <a:avLst>
              <a:gd name="adj" fmla="val 250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39603" y="2807791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Amazingly tight!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851" y="325055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2702" y="3271242"/>
            <a:ext cx="888950" cy="101501"/>
          </a:xfrm>
          <a:prstGeom prst="roundRect">
            <a:avLst>
              <a:gd name="adj" fmla="val 250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58603" y="3255318"/>
            <a:ext cx="551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0851" y="3698081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2702" y="3718768"/>
            <a:ext cx="507950" cy="101501"/>
          </a:xfrm>
          <a:prstGeom prst="roundRect">
            <a:avLst>
              <a:gd name="adj" fmla="val 250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77603" y="3702844"/>
            <a:ext cx="652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0851" y="414560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2702" y="4166295"/>
            <a:ext cx="126950" cy="101501"/>
          </a:xfrm>
          <a:prstGeom prst="roundRect">
            <a:avLst>
              <a:gd name="adj" fmla="val 2502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96603" y="4150370"/>
            <a:ext cx="557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binding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33814" y="866626"/>
            <a:ext cx="3856286" cy="834628"/>
          </a:xfrm>
          <a:prstGeom prst="roundRect">
            <a:avLst>
              <a:gd name="adj" fmla="val 91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052864" y="866626"/>
            <a:ext cx="0" cy="834628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0764" y="955477"/>
            <a:ext cx="3713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Gibbs Free Energy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0764" y="1136452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DG: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Reaction WANTS to happen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0764" y="1295102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spontaneously binds to protein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0764" y="1453753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RELEASED (favorable)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33814" y="1764655"/>
            <a:ext cx="3856286" cy="834628"/>
          </a:xfrm>
          <a:prstGeom prst="roundRect">
            <a:avLst>
              <a:gd name="adj" fmla="val 91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52864" y="1764655"/>
            <a:ext cx="0" cy="834628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0764" y="1853505"/>
            <a:ext cx="3713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= Stronger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0764" y="2034480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-5 kcal/mol: Weak binding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0764" y="2193131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-10 kcal/mol: Strong binding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0764" y="2351782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kcal/mol: Very tight binding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33814" y="2662684"/>
            <a:ext cx="3856286" cy="530126"/>
          </a:xfrm>
          <a:prstGeom prst="roundRect">
            <a:avLst>
              <a:gd name="adj" fmla="val 1437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85878" y="2751534"/>
            <a:ext cx="3752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 = DH - TDS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85878" y="2970609"/>
            <a:ext cx="3752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Enthalpy (bonds) - Temperature x Entropy (disorder)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33814" y="3256211"/>
            <a:ext cx="3856286" cy="834628"/>
          </a:xfrm>
          <a:prstGeom prst="roundRect">
            <a:avLst>
              <a:gd name="adj" fmla="val 91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052864" y="3256211"/>
            <a:ext cx="0" cy="834628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0764" y="3345061"/>
            <a:ext cx="3713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0764" y="3526036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tells us HOW TIGHTLY a drug binds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0764" y="3684687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drug stays bound longer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0764" y="3843338"/>
            <a:ext cx="371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lower dose needed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Perturbation: The Alchemical Transformation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0500" y="990451"/>
            <a:ext cx="4866829" cy="1790402"/>
          </a:xfrm>
          <a:prstGeom prst="roundRect">
            <a:avLst>
              <a:gd name="adj" fmla="val 425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1321" y="1117402"/>
            <a:ext cx="4705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"Fading Away" (Lambda Transformation)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0520" y="1666577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4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90520" y="2190452"/>
            <a:ext cx="426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520" y="2438102"/>
            <a:ext cx="426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67718" y="19221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70442" y="1666577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4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70442" y="2190452"/>
            <a:ext cx="426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0.3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70442" y="2438102"/>
            <a:ext cx="426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47640" y="19221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50363" y="1666577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4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50363" y="2190452"/>
            <a:ext cx="426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0.7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50363" y="2438102"/>
            <a:ext cx="426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27562" y="1922115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30285" y="1666577"/>
            <a:ext cx="426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4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30285" y="2190452"/>
            <a:ext cx="426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30285" y="2438102"/>
            <a:ext cx="426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0500" y="2882354"/>
            <a:ext cx="4866829" cy="1640979"/>
          </a:xfrm>
          <a:prstGeom prst="roundRect">
            <a:avLst>
              <a:gd name="adj" fmla="val 464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1321" y="3009305"/>
            <a:ext cx="4705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Cycle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7450" y="3252192"/>
            <a:ext cx="1187351" cy="349151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9525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3016" y="331246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Drug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016" y="342676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33340" y="3355330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→→→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2879" y="3252192"/>
            <a:ext cx="1187351" cy="349151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9525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18445" y="331246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Ghost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18445" y="342676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gone)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7450" y="3764756"/>
            <a:ext cx="554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DG_complex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36269" y="3764756"/>
            <a:ext cx="5038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DG_solvent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17450" y="4023420"/>
            <a:ext cx="1187351" cy="349151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9525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93016" y="4083695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 water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016" y="4197995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33340" y="4126557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→→→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2879" y="4023420"/>
            <a:ext cx="1187351" cy="349151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 w="9525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18445" y="4083695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water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18445" y="4197995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gone)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0500" y="4624834"/>
            <a:ext cx="4866829" cy="345877"/>
          </a:xfrm>
          <a:prstGeom prst="roundRect">
            <a:avLst>
              <a:gd name="adj" fmla="val 220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45363" y="4726335"/>
            <a:ext cx="4757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DG_bind = DG_solvent - DG_complex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09729" y="990451"/>
            <a:ext cx="3743771" cy="805904"/>
          </a:xfrm>
          <a:prstGeom prst="roundRect">
            <a:avLst>
              <a:gd name="adj" fmla="val 9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228779" y="990451"/>
            <a:ext cx="0" cy="8059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329" y="1091952"/>
            <a:ext cx="3572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329" y="1276052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directly measure binding energy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49329" y="1415653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compare bound vs unbound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49329" y="1555254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can't easily separate them!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09729" y="1872555"/>
            <a:ext cx="3743771" cy="945505"/>
          </a:xfrm>
          <a:prstGeom prst="roundRect">
            <a:avLst>
              <a:gd name="adj" fmla="val 805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228779" y="1872555"/>
            <a:ext cx="0" cy="94550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9329" y="1974056"/>
            <a:ext cx="3572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Clever Solution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329" y="2158157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ALCHEMICAL transformation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49329" y="2297757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"turn off" the drug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9329" y="2437358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fade like a ghost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49329" y="2576959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energy at each step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09729" y="2894261"/>
            <a:ext cx="3743771" cy="945505"/>
          </a:xfrm>
          <a:prstGeom prst="roundRect">
            <a:avLst>
              <a:gd name="adj" fmla="val 805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228779" y="2894261"/>
            <a:ext cx="0" cy="94550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49329" y="2995761"/>
            <a:ext cx="3572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(L) Parameter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49329" y="3179862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0: Drug fully interacts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49329" y="3319463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0.5: Half ghost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49329" y="3459063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1: Drug completely non-interacting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49329" y="3598664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MD at 20-30 L values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09729" y="3915966"/>
            <a:ext cx="3743771" cy="805904"/>
          </a:xfrm>
          <a:prstGeom prst="roundRect">
            <a:avLst>
              <a:gd name="adj" fmla="val 9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5228779" y="3915966"/>
            <a:ext cx="0" cy="8059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9329" y="4017466"/>
            <a:ext cx="3572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Gold Standard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49329" y="4201567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thermodynamics included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349329" y="4341168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properly accounted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49329" y="4480768"/>
            <a:ext cx="35727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Pfizer, Merck, etc.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is Better Than MM-GBSA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Method vs The Gold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74866" y="1054001"/>
            <a:ext cx="2751683" cy="1269802"/>
          </a:xfrm>
          <a:prstGeom prst="roundRect">
            <a:avLst>
              <a:gd name="adj" fmla="val 60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8679" y="1054001"/>
            <a:ext cx="0" cy="12698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4891" y="1206401"/>
            <a:ext cx="24472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4891" y="1435001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changes CHARGE (+ to neutral)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74891" y="1619101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handles charges POORLY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74891" y="1803202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 give WRONG answer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74891" y="1987302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handles this properly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4866" y="2450753"/>
            <a:ext cx="2751683" cy="1269802"/>
          </a:xfrm>
          <a:prstGeom prst="roundRect">
            <a:avLst>
              <a:gd name="adj" fmla="val 60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8679" y="2450753"/>
            <a:ext cx="0" cy="12698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4891" y="2603153"/>
            <a:ext cx="24472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Entropy Matters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4891" y="2831753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binding reduces flexibility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74891" y="3015853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costs entropy (disorder)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74891" y="3199954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ignores this penalty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74891" y="3384054"/>
            <a:ext cx="2447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includes it automatically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74866" y="4016425"/>
            <a:ext cx="2751683" cy="936575"/>
          </a:xfrm>
          <a:prstGeom prst="roundRect">
            <a:avLst>
              <a:gd name="adj" fmla="val 81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7266" y="4168825"/>
            <a:ext cx="2495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27266" y="4371975"/>
            <a:ext cx="24958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project, MM-GBSA would give WRONG conclusions about the mutation effect!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705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Alchemistry: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60254" y="1438126"/>
            <a:ext cx="849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71961" y="1631752"/>
            <a:ext cx="12451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OpenFF 2.1.0 (Sage)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518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1521" y="1825377"/>
            <a:ext cx="1194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pymbar 4.0 (MBAR)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10366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windows: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6213" y="2723704"/>
            <a:ext cx="791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per leg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1043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Sampling/window: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38451" y="2917329"/>
            <a:ext cx="259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53768" y="311095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56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Soft-core: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3110" y="3304580"/>
            <a:ext cx="856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(for VDW)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3777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Protocol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5726" y="1254026"/>
            <a:ext cx="1641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leg: Drug in protein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89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5726" y="1466701"/>
            <a:ext cx="1727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Solvent leg: Drug in water box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89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5726" y="1679377"/>
            <a:ext cx="1667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for both WT and R702W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8975" y="188252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5726" y="1892052"/>
            <a:ext cx="1878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for free energy estimation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8950" y="2323802"/>
            <a:ext cx="4127599" cy="1095375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2476202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Tested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27238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FDA-approved (gout drug)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2904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product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30858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tested on WT and R702W mutant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8950" y="3546128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51984" y="3736628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FEP Windows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51984" y="4009579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851984" y="453970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windows per compound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 Numbers Mean?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DG to Drug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739378"/>
            <a:ext cx="4795242" cy="269677"/>
          </a:xfrm>
          <a:prstGeom prst="roundRect">
            <a:avLst>
              <a:gd name="adj" fmla="val 1883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802779"/>
            <a:ext cx="4632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AFFINITY 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009055"/>
            <a:ext cx="4795242" cy="403294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1085255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9151" y="1085255"/>
            <a:ext cx="0" cy="64115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951" y="1262955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kcal/mol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0052" y="1348680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100 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1153" y="1348680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 - not useful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101" y="1764506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9151" y="1764506"/>
            <a:ext cx="0" cy="64115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951" y="1942207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 kcal/mol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0052" y="2027932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41153" y="2027932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lead compound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0101" y="2443758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9151" y="2443758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951" y="2621459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 kcal/mol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0052" y="2707184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25 nM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41153" y="2707184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 candidate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0101" y="3123009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49151" y="3123009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951" y="3300710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 kcal/mol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0052" y="3386435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nM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1153" y="3386435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drug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0101" y="3802261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9151" y="3802261"/>
            <a:ext cx="0" cy="6411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951" y="3979962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 kcal/mol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0052" y="4065687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5 pM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41153" y="4065687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SUSPICIOUSLY tight!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543" y="739378"/>
            <a:ext cx="3688556" cy="641300"/>
          </a:xfrm>
          <a:prstGeom prst="roundRect">
            <a:avLst>
              <a:gd name="adj" fmla="val 1188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42381" y="81557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Formula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2381" y="98702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 = exp(DG / RT)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2381" y="1171129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0.00199 kcal/mol/K, T = 300K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01543" y="1444079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220593" y="1444079"/>
            <a:ext cx="0" cy="72985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15843" y="1520279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Kd?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15843" y="1678930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Dissociation constant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5843" y="1818531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where 50% is bound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15843" y="1958132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TIGHTER binding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01543" y="2237333"/>
            <a:ext cx="3688556" cy="653951"/>
          </a:xfrm>
          <a:prstGeom prst="roundRect">
            <a:avLst>
              <a:gd name="adj" fmla="val 116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220593" y="2237333"/>
            <a:ext cx="0" cy="653951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5843" y="2313533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Approved Drugs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15843" y="24721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drugs: -8 to -12 kcal/mol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5843" y="25864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range: 1 nM to 1 uM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15843" y="27007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tighter is unusual!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01543" y="2954685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220593" y="2954685"/>
            <a:ext cx="0" cy="72985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5843" y="3030885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15843" y="31895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 is EXTREMELY tight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15843" y="33291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indicate calculation issues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15843" y="3468737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validation!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Mutations Affect Drug Binding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4606677" cy="838200"/>
          </a:xfrm>
          <a:prstGeom prst="roundRect">
            <a:avLst>
              <a:gd name="adj" fmla="val 909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144" y="1206401"/>
            <a:ext cx="4310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= DG(mutant) - DG(wild-type)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144" y="1520726"/>
            <a:ext cx="4310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in binding between mutant and normal protein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901" y="1981051"/>
            <a:ext cx="4606677" cy="1406277"/>
          </a:xfrm>
          <a:prstGeom prst="roundRect">
            <a:avLst>
              <a:gd name="adj" fmla="val 54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144" y="2171551"/>
            <a:ext cx="431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Comparing Two Protein Versions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7123" y="2450902"/>
            <a:ext cx="888802" cy="345877"/>
          </a:xfrm>
          <a:prstGeom prst="roundRect">
            <a:avLst>
              <a:gd name="adj" fmla="val 1468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2545" y="2552402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8235" y="2911078"/>
            <a:ext cx="906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protein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88830" y="286345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0865" y="2450902"/>
            <a:ext cx="966341" cy="345877"/>
          </a:xfrm>
          <a:prstGeom prst="roundRect">
            <a:avLst>
              <a:gd name="adj" fmla="val 1468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35512" y="2552402"/>
            <a:ext cx="597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41202" y="2911078"/>
            <a:ext cx="985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2264" y="3158728"/>
            <a:ext cx="1269950" cy="381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3901" y="3514279"/>
            <a:ext cx="4606677" cy="895350"/>
          </a:xfrm>
          <a:prstGeom prst="roundRect">
            <a:avLst>
              <a:gd name="adj" fmla="val 85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1575" y="3723829"/>
            <a:ext cx="42713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tells us: Does the mutation HELP or HURT drug binding?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1078" y="1015901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8028" y="1142851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POSITIVE (+)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78028" y="1361926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&gt; DG(wt)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78028" y="15429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WEAKER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78028" y="171435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WORSE in mutant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78028" y="18858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+2 means 50x weaker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1078" y="2285702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8028" y="2412653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NEGATIVE (-)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8028" y="2631728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&lt; DG(wt)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8028" y="28127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STRONGER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8028" y="298415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BETTER in mutant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8028" y="31556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-2 means 50x tighter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1078" y="3555504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8028" y="3682454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8028" y="3901529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approx DG(wt)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8028" y="40825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doesn't affect binding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8028" y="4253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for EVERYONE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8028" y="44254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R702W patients!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The Key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3975795"/>
            <a:ext cx="4178350" cy="1040755"/>
          </a:xfrm>
          <a:prstGeom prst="roundRect">
            <a:avLst>
              <a:gd name="adj" fmla="val 73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3975795"/>
            <a:ext cx="0" cy="1040755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576" y="4077295"/>
            <a:ext cx="4006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576" y="4280446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in normal NOD2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576" y="4439096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50x WEAKER in R702W mutant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576" y="4597747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ideal for my mutation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576" y="4756398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Already FDA-approved = faster path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8200" y="3975795"/>
            <a:ext cx="4178350" cy="1040755"/>
          </a:xfrm>
          <a:prstGeom prst="roundRect">
            <a:avLst>
              <a:gd name="adj" fmla="val 73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2013" y="3975795"/>
            <a:ext cx="0" cy="1040755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7326" y="4077295"/>
            <a:ext cx="4006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7326" y="4280446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toward mutation-resistance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7326" y="4439096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 = works for everyone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7326" y="4597747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Not statistically significant!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326" y="4756398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vs FEP: Critical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Old Method Would Have Fooled 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2769394"/>
            <a:ext cx="8509099" cy="1273076"/>
          </a:xfrm>
          <a:prstGeom prst="roundRect">
            <a:avLst>
              <a:gd name="adj" fmla="val 598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3201144"/>
            <a:ext cx="2677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3884" y="3152031"/>
            <a:ext cx="5196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3884" y="3342531"/>
            <a:ext cx="5196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predicted Febuxostat would work BETTER in the mutant - the exact OPPOSITE of reality!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3884" y="3501182"/>
            <a:ext cx="5196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MM-GBSA alone would have led to WRONG conclusions about which drugs to pursue.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7450" y="4143970"/>
            <a:ext cx="4191149" cy="872579"/>
          </a:xfrm>
          <a:prstGeom prst="roundRect">
            <a:avLst>
              <a:gd name="adj" fmla="val 87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4143970"/>
            <a:ext cx="0" cy="87257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051" y="4245471"/>
            <a:ext cx="4029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MM-GBSA Failed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051" y="4439096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changes charge (+ to neutral)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051" y="4597747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handles electrostatics poorly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051" y="4756398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effects ignored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5550" y="4143970"/>
            <a:ext cx="4191149" cy="872579"/>
          </a:xfrm>
          <a:prstGeom prst="roundRect">
            <a:avLst>
              <a:gd name="adj" fmla="val 87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4600" y="4143970"/>
            <a:ext cx="0" cy="87257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5150" y="4245471"/>
            <a:ext cx="4029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Succeeded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5150" y="4439096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thermodynamic sampling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5150" y="4597747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treatment of charges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5150" y="4756398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included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Can We Trust the Numbers?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4773662" cy="2558355"/>
          </a:xfrm>
          <a:prstGeom prst="roundRect">
            <a:avLst>
              <a:gd name="adj" fmla="val 297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474" y="1206401"/>
            <a:ext cx="44805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Bars and the Zero 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485751"/>
            <a:ext cx="4392662" cy="599777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5902" y="1714202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3707" y="1595140"/>
            <a:ext cx="25301" cy="381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6158" y="1734889"/>
            <a:ext cx="412403" cy="101501"/>
          </a:xfrm>
          <a:prstGeom prst="roundRect">
            <a:avLst>
              <a:gd name="adj" fmla="val 5004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94099" y="172209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40213" y="1718965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+/- 0.26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474" y="2237929"/>
            <a:ext cx="4480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 does NOT cross zero = SIGNIFICANT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4401" y="2498229"/>
            <a:ext cx="4392662" cy="599777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5902" y="272668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3707" y="2607618"/>
            <a:ext cx="25301" cy="381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66206" y="2747367"/>
            <a:ext cx="577453" cy="101501"/>
          </a:xfrm>
          <a:prstGeom prst="roundRect">
            <a:avLst>
              <a:gd name="adj" fmla="val 5004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64147" y="273456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0213" y="2731443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+/- 0.37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0474" y="3250406"/>
            <a:ext cx="4480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 CROSSES zero = NOT SIGNIFICANT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901" y="3701207"/>
            <a:ext cx="4773662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72951" y="3701207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951" y="3828157"/>
            <a:ext cx="45712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 (CI)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8951" y="4021782"/>
            <a:ext cx="4571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CI = [+1.82, +2.86]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8951" y="4193232"/>
            <a:ext cx="4571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 CI = [-1.16, +0.28]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8951" y="4364682"/>
            <a:ext cx="4571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CI includes zero, effect might be NOTHING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8063" y="1015901"/>
            <a:ext cx="3672036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237113" y="1015901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83113" y="1142851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Mean?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83113" y="133647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= "true value is 95% likely to be in this range"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83113" y="150792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range includes ZERO, the effect might not be real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83113" y="167937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distinguish it from random noise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8063" y="2079278"/>
            <a:ext cx="3672036" cy="847576"/>
          </a:xfrm>
          <a:prstGeom prst="roundRect">
            <a:avLst>
              <a:gd name="adj" fmla="val 89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45013" y="2206228"/>
            <a:ext cx="3486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SIGNIFICANT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5013" y="2399854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+/- 0.26 (8 sigma)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5013" y="2533204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[+1.82, +2.86] does NOT include zero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5013" y="2666554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confident: mutation HURTS binding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8063" y="3028355"/>
            <a:ext cx="3672036" cy="847576"/>
          </a:xfrm>
          <a:prstGeom prst="roundRect">
            <a:avLst>
              <a:gd name="adj" fmla="val 899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45013" y="3155305"/>
            <a:ext cx="3486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 NOT SIGNIFICANT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5013" y="334893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+/- 0.37 (1.8 sigma)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5013" y="348228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[-1.16, +0.28] INCLUDES zero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5013" y="3615630"/>
            <a:ext cx="3486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claim mutation-resistance yet!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8063" y="3977432"/>
            <a:ext cx="3672036" cy="790426"/>
          </a:xfrm>
          <a:prstGeom prst="roundRect">
            <a:avLst>
              <a:gd name="adj" fmla="val 96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237113" y="3977432"/>
            <a:ext cx="0" cy="7904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83113" y="4104382"/>
            <a:ext cx="3447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Science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83113" y="429800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shows a TREND but not proof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83113" y="4469457"/>
            <a:ext cx="3447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validation is required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475" y="1200001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475" y="1403152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prior literature on this interaction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546027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novel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1942802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1942802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323654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475" y="2526804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previous FEP calculations for NOD2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2669679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PhD-level methodology for high school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066455"/>
            <a:ext cx="4127599" cy="793700"/>
          </a:xfrm>
          <a:prstGeom prst="roundRect">
            <a:avLst>
              <a:gd name="adj" fmla="val 96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263" y="3066455"/>
            <a:ext cx="0" cy="793700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475" y="3218855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 Demonstrated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475" y="342200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MM-GBSA gives WRONG sign for DDG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475" y="356488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for allosteric charge-changing mutations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22763" y="819150"/>
            <a:ext cx="0" cy="936575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8975" y="971550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Candidate Identified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8975" y="117470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shows trend toward resistance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8975" y="131757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 = works for everyone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8975" y="146045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(Pending experimental validation)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1857226"/>
            <a:ext cx="4127599" cy="107945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2009626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Dual Mechanism Potential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1350" y="22127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Bufadienolides are KNOWN NF-kB inhibitors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3556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work through TWO pathways: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4985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Stabilize NOD2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6414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Directly inhibit downstream inflammation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8950" y="303817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3228677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35144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1984" y="36668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personally motivated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51984" y="38192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that could help people like me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(Being Honest)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science acknowledges its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1263" y="1054001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0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FEP Convergence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20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analysis reported weight warnings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20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lambda windows may be undersampled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20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values less reliable than relative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088803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1263" y="2088803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026" y="221575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Bufadienolide DDG Not Significant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026" y="24189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includes zero [-1.16, +0.28]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0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CLAIM mutation-resistance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0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TREND, not a proof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3123605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3123605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026" y="3250555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Experimental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2026" y="34537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results are computational predictions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2026" y="362515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ITC, SPR, or cell assays performed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026" y="37966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must be verified in 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1054001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1054001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5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Suspiciously Tight Binding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5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DG = -15.22 kcal/mol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35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to Kd ~ 5 picomolar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5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tight - needs verification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526" y="18984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FEP artifact or force field issue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2260253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22763" y="2260253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526" y="238720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Pseudo-Label ML Training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5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docking scores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35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experimental binding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526" y="29332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to replicate docking, not biology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526" y="31047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AUC may be partly circular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98950" y="4016425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1350" y="4168825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List Limitations?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1350" y="43719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respect honesty over hiding flaws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51350" y="45148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understanding of the science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51350" y="46577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clear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3118" y="1028700"/>
            <a:ext cx="2375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Binding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3271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Plasmon Resonance (SPR) 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5461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Titration Calorimetry (ITC)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7652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REAL binding affinity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2187476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3118" y="2397026"/>
            <a:ext cx="1152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Assays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50" y="269542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 reporter assay in NOD2 cells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91450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if compounds reduce inflammation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313357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WT vs R702W cells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555802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93118" y="3765352"/>
            <a:ext cx="13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40637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related bufadienolides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4282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Structure-Activity Relationships (SAR)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45019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even better candidates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1133326"/>
          </a:xfrm>
          <a:prstGeom prst="roundRect">
            <a:avLst>
              <a:gd name="adj" fmla="val 67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1350" y="12192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Obtain bufadienolide samples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1350" y="14128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 binding assay (WT and MUT)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1350" y="160645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Confirm or refute computational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207942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1350" y="2231827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Opportunity: Febuxostat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1350" y="24794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FDA-approved for gout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622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 established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7652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 for trial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9081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though weaker in R702W, still worth testing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3330327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4618" y="3539877"/>
            <a:ext cx="938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1350" y="38382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models of Crohn's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1350" y="4057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studies for bufadienolide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51350" y="42764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pathway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78105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88255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8501" y="892076"/>
            <a:ext cx="23033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complete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222177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32367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8501" y="1333202"/>
            <a:ext cx="314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 to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validated hits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166330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176480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8501" y="1774329"/>
            <a:ext cx="2675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PhD-level methods: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(120 windows)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901" y="210443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301" y="2205930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501" y="2215455"/>
            <a:ext cx="1605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901" y="2545556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01" y="264705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501" y="2656582"/>
            <a:ext cx="2541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AUC: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0.85-0.93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(scaffold-split CV)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901" y="298668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301" y="308818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501" y="3097709"/>
            <a:ext cx="314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this mutation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901" y="4127599"/>
            <a:ext cx="5067449" cy="863501"/>
          </a:xfrm>
          <a:prstGeom prst="roundRect">
            <a:avLst>
              <a:gd name="adj" fmla="val 882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7536" y="4318099"/>
            <a:ext cx="4780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7536" y="4648200"/>
            <a:ext cx="478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1850" y="781050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35662" y="781050"/>
            <a:ext cx="0" cy="933004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6425" y="908000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86425" y="1111151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FDA-approved, works in WT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6425" y="126980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50x WEAKER in R702W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86425" y="142845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(significant)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1850" y="1815554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535662" y="1815554"/>
            <a:ext cx="0" cy="933004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6425" y="1942505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86425" y="2145655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TREND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6425" y="2304306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(not significant)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86425" y="2462957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1850" y="2850059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38800" y="2977009"/>
            <a:ext cx="31868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38800" y="3180159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 ever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38800" y="3338810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38800" y="3497461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 approach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NOD2 Crohn's Drug Discovery - MIT PhD Review</dc:title>
  <dc:subject>FEP-Validated Drug Discovery for NOD2 R702W</dc:subject>
  <dc:creator>Tanmay Vasudeva</dc:creator>
  <cp:lastModifiedBy>Tanmay Vasudeva</cp:lastModifiedBy>
  <cp:revision>1</cp:revision>
  <dcterms:created xsi:type="dcterms:W3CDTF">2026-01-19T17:44:59Z</dcterms:created>
  <dcterms:modified xsi:type="dcterms:W3CDTF">2026-01-19T17:44:59Z</dcterms:modified>
</cp:coreProperties>
</file>