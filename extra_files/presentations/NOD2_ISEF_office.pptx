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95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1345704"/>
            <a:ext cx="8290661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80"/>
              </a:lnSpc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Medicine, N=1: FEP-Validated Drug Discovery for NOD2 R702W Crohn's Disease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51127" y="2394645"/>
            <a:ext cx="58415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0"/>
              </a:spcAft>
              <a:buNone/>
            </a:pPr>
            <a:r>
              <a:rPr lang="en-US" sz="18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Computational Approach to Personalized Therapeutics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32864" y="3042345"/>
            <a:ext cx="14781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Tanmay Vasudeva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72441" y="3353395"/>
            <a:ext cx="23989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Virtual Academy at Hallsville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2324" y="3626346"/>
            <a:ext cx="28392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Worth Regional Science Fair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7450" y="1108025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17450" y="895350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1193750"/>
            <a:ext cx="2667149" cy="4762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NOD2?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7450" y="2009626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7450" y="1796951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EXPLAINED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7450" y="2095351"/>
            <a:ext cx="2667149" cy="8191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Libraries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Prep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Docking?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Docking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ML?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8500" y="1108025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38500" y="895350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(cont.)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38500" y="1193750"/>
            <a:ext cx="2667149" cy="1676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Split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ML Model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ADMET?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ADMET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MD?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MD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Free Energy?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FEP?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vs MM-GBSA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59550" y="1108025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59550" y="895350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59550" y="1193750"/>
            <a:ext cx="2667149" cy="9906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FEP Setup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Explained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DDG?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Results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Comparison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59550" y="2523976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59550" y="2311301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59550" y="2609701"/>
            <a:ext cx="2667149" cy="6477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Contributions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Why This Matters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82551"/>
            <a:ext cx="4398913" cy="91752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882551"/>
            <a:ext cx="0" cy="917525"/>
          </a:xfrm>
          <a:prstGeom prst="line">
            <a:avLst/>
          </a:prstGeom>
          <a:noFill/>
          <a:ln w="571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8650" y="1034951"/>
            <a:ext cx="403997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40x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8650" y="1495276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risk of Crohn's disease with NOD2 mutations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1952476"/>
            <a:ext cx="4398913" cy="91752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9575" y="1952476"/>
            <a:ext cx="0" cy="917525"/>
          </a:xfrm>
          <a:prstGeom prst="line">
            <a:avLst/>
          </a:prstGeom>
          <a:noFill/>
          <a:ln w="571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8650" y="2104876"/>
            <a:ext cx="403997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8650" y="2565202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is the strongest genetic risk factor for Crohn's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000" y="3022402"/>
            <a:ext cx="4398913" cy="9144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9575" y="3022402"/>
            <a:ext cx="0" cy="914400"/>
          </a:xfrm>
          <a:prstGeom prst="line">
            <a:avLst/>
          </a:prstGeom>
          <a:noFill/>
          <a:ln w="571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8650" y="3174802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drugs target NOD2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8650" y="3403402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treatments suppress symptoms, not the root cause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650" y="3632002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is the most common NOD2 mutation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97363" y="2311450"/>
            <a:ext cx="3665637" cy="1149251"/>
          </a:xfrm>
          <a:prstGeom prst="roundRect">
            <a:avLst>
              <a:gd name="adj" fmla="val 884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55017" y="2501950"/>
            <a:ext cx="33503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 Precision Medicine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5017" y="2813000"/>
            <a:ext cx="3350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carry the R702W mutation.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5017" y="2965400"/>
            <a:ext cx="3350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is personal.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5017" y="3117800"/>
            <a:ext cx="3350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find a drug that works for MY mutation?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701576"/>
            <a:ext cx="4159300" cy="908000"/>
          </a:xfrm>
          <a:prstGeom prst="roundRect">
            <a:avLst>
              <a:gd name="adj" fmla="val 83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305" y="853976"/>
            <a:ext cx="393159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Million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31305" y="1314301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worldwide have Crohn's disease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7450" y="1711077"/>
            <a:ext cx="4159300" cy="908000"/>
          </a:xfrm>
          <a:prstGeom prst="roundRect">
            <a:avLst>
              <a:gd name="adj" fmla="val 83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305" y="1863477"/>
            <a:ext cx="393159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1305" y="2323802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risk with NOD2 R702W mutation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7450" y="2720578"/>
            <a:ext cx="4159300" cy="1133326"/>
          </a:xfrm>
          <a:prstGeom prst="roundRect">
            <a:avLst>
              <a:gd name="adj" fmla="val 672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9850" y="2872978"/>
            <a:ext cx="39315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Unmet Need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50" y="3120628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drugs directly target NOD2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50" y="3314254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treatments only manage symptoms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9850" y="3507879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 exists for Crohn's disease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7250" y="701576"/>
            <a:ext cx="4159300" cy="1326952"/>
          </a:xfrm>
          <a:prstGeom prst="roundRect">
            <a:avLst>
              <a:gd name="adj" fmla="val 574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9650" y="853976"/>
            <a:ext cx="39315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Validates This Approach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9650" y="1101626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Pfizer uses FEP for drug discovery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9650" y="1295251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Merck uses FEP for lead optimization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9650" y="1488877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Novartis uses FEP in clinical candidates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9650" y="1682502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predicts binding within 1 kcal/mol of experiment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7250" y="2130028"/>
            <a:ext cx="4159300" cy="908000"/>
          </a:xfrm>
          <a:prstGeom prst="roundRect">
            <a:avLst>
              <a:gd name="adj" fmla="val 83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81105" y="2282428"/>
            <a:ext cx="393159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81105" y="2742754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is the most common NOD2 mutation in Europeans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7250" y="3139529"/>
            <a:ext cx="4159300" cy="895350"/>
          </a:xfrm>
          <a:prstGeom prst="roundRect">
            <a:avLst>
              <a:gd name="adj" fmla="val 85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81105" y="3291929"/>
            <a:ext cx="39315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 Precision Medicine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81105" y="3577679"/>
            <a:ext cx="3931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carry the R702W mutation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81105" y="3730079"/>
            <a:ext cx="3931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research could help people like 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NOD2?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Gut's Bacterial Alarm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7450" y="1054001"/>
            <a:ext cx="4159300" cy="374452"/>
          </a:xfrm>
          <a:prstGeom prst="roundRect">
            <a:avLst>
              <a:gd name="adj" fmla="val 2035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9388" y="1155502"/>
            <a:ext cx="4035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NOD2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7450" y="1428452"/>
            <a:ext cx="4159300" cy="3524548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4401" y="1555403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3451" y="1555403"/>
            <a:ext cx="0" cy="28575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4002" y="1631603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CELL:</a:t>
            </a: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Intestinal epithelial cell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5347" y="1917353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4401" y="2152204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3451" y="2152204"/>
            <a:ext cx="0" cy="28575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4002" y="22284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NOD2:</a:t>
            </a: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Bacterial sensor protein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5347" y="2514154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4401" y="2749004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3451" y="2749004"/>
            <a:ext cx="0" cy="28575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4002" y="28252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MDP:</a:t>
            </a: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Bacterial wall fragment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5347" y="3110954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4401" y="3345805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3451" y="3345805"/>
            <a:ext cx="0" cy="28575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4002" y="3422005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NF-kB:</a:t>
            </a: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Inflammation signal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5347" y="3707755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4401" y="3942606"/>
            <a:ext cx="3905399" cy="488752"/>
          </a:xfrm>
          <a:prstGeom prst="roundRect">
            <a:avLst>
              <a:gd name="adj" fmla="val 1039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8878" y="4044107"/>
            <a:ext cx="3776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inflammation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878" y="4186982"/>
            <a:ext cx="3776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 cleared, tissue heals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7250" y="1054001"/>
            <a:ext cx="4159300" cy="374452"/>
          </a:xfrm>
          <a:prstGeom prst="roundRect">
            <a:avLst>
              <a:gd name="adj" fmla="val 2035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29188" y="1155502"/>
            <a:ext cx="4035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NOD2 (R702W)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7250" y="1428452"/>
            <a:ext cx="4159300" cy="3524548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94200" y="1555403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813250" y="1555403"/>
            <a:ext cx="0" cy="28575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3801" y="1631603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CELL:</a:t>
            </a: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intestinal cell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5146" y="1917353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94200" y="2152204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813250" y="2152204"/>
            <a:ext cx="0" cy="28575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33801" y="22284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MUTANT NOD2:</a:t>
            </a: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Can't detect bacteria!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5146" y="2514154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to detect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94200" y="2749004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813250" y="2749004"/>
            <a:ext cx="0" cy="28575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33801" y="28252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MDP:</a:t>
            </a: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Bacteria accumulate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5146" y="3110954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confused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94200" y="3345805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813250" y="3345805"/>
            <a:ext cx="0" cy="28575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33801" y="3422005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NF-kB:</a:t>
            </a: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DYSREGULATED signaling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5146" y="3707755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794200" y="3942606"/>
            <a:ext cx="3905399" cy="488752"/>
          </a:xfrm>
          <a:prstGeom prst="roundRect">
            <a:avLst>
              <a:gd name="adj" fmla="val 1039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58677" y="4044107"/>
            <a:ext cx="3776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inflammation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58677" y="4186982"/>
            <a:ext cx="3776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Crohn's disease develops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Binding Pocket?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Drugs Meet Their Target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88777"/>
            <a:ext cx="8636198" cy="749052"/>
          </a:xfrm>
          <a:prstGeom prst="roundRect">
            <a:avLst>
              <a:gd name="adj" fmla="val 13564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809327"/>
            <a:ext cx="85629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a LOCK and KEY...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0501" y="1031528"/>
            <a:ext cx="8562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house door has a special hole (the lock). Only YOUR key fits that hole perfectly!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0501" y="1174403"/>
            <a:ext cx="8562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Proteins have special holes too - called "binding pockets" - and drugs are the keys!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02669" y="151402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90775" y="156477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85168" y="1818680"/>
            <a:ext cx="1689050" cy="1054001"/>
          </a:xfrm>
          <a:prstGeom prst="roundRect">
            <a:avLst>
              <a:gd name="adj" fmla="val 96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85218" y="2028230"/>
            <a:ext cx="888950" cy="634901"/>
          </a:xfrm>
          <a:prstGeom prst="roundRect">
            <a:avLst>
              <a:gd name="adj" fmla="val 60009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80667" y="2218730"/>
            <a:ext cx="292001" cy="292001"/>
          </a:xfrm>
          <a:prstGeom prst="roundRect">
            <a:avLst>
              <a:gd name="adj" fmla="val 31315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69044" y="2923431"/>
            <a:ext cx="9211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has a HOLE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74811" y="3088481"/>
            <a:ext cx="909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binding pocket)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6619" y="2210693"/>
            <a:ext cx="151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44901" y="151402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33007" y="156477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27400" y="1818680"/>
            <a:ext cx="1689050" cy="1054001"/>
          </a:xfrm>
          <a:prstGeom prst="roundRect">
            <a:avLst>
              <a:gd name="adj" fmla="val 96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10206" y="2184035"/>
            <a:ext cx="323290" cy="323289"/>
          </a:xfrm>
          <a:prstGeom prst="roundRect">
            <a:avLst>
              <a:gd name="adj" fmla="val 15713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238031" y="2923431"/>
            <a:ext cx="667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molecule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37233" y="3088481"/>
            <a:ext cx="8693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(shaped like a key)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68851" y="2210693"/>
            <a:ext cx="151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87133" y="151402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75239" y="156477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69632" y="1818680"/>
            <a:ext cx="1689050" cy="1054001"/>
          </a:xfrm>
          <a:prstGeom prst="roundRect">
            <a:avLst>
              <a:gd name="adj" fmla="val 96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69682" y="2028230"/>
            <a:ext cx="888950" cy="634901"/>
          </a:xfrm>
          <a:prstGeom prst="roundRect">
            <a:avLst>
              <a:gd name="adj" fmla="val 60009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03231" y="221873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39237" y="2923431"/>
            <a:ext cx="9498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FITS in pocket!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22729" y="3088481"/>
            <a:ext cx="7828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(now it can work)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3901" y="3278981"/>
            <a:ext cx="8636198" cy="393502"/>
          </a:xfrm>
          <a:prstGeom prst="roundRect">
            <a:avLst>
              <a:gd name="adj" fmla="val 19365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0501" y="3399532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key = won't fit = drug doesn't work | Right key = fits perfectly = drug works!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3901" y="3748683"/>
            <a:ext cx="2794099" cy="742652"/>
          </a:xfrm>
          <a:prstGeom prst="roundRect">
            <a:avLst>
              <a:gd name="adj" fmla="val 1026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272951" y="3748683"/>
            <a:ext cx="0" cy="7426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8201" y="3824883"/>
            <a:ext cx="2655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Shape Matters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8201" y="3996333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shape = drug falls out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8201" y="4135934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shape = drug stays stuck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8201" y="4275534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fit = drug works great!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174950" y="3748683"/>
            <a:ext cx="2794099" cy="742652"/>
          </a:xfrm>
          <a:prstGeom prst="roundRect">
            <a:avLst>
              <a:gd name="adj" fmla="val 1026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3194000" y="3748683"/>
            <a:ext cx="0" cy="7426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89250" y="3824883"/>
            <a:ext cx="2655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Good Pocket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89250" y="3996333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big, not too small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89250" y="4135934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"sticky" spots inside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89250" y="4275534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doesn't like it (hydrophobic)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96000" y="3748683"/>
            <a:ext cx="2794099" cy="742652"/>
          </a:xfrm>
          <a:prstGeom prst="roundRect">
            <a:avLst>
              <a:gd name="adj" fmla="val 1026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115050" y="3748683"/>
            <a:ext cx="0" cy="7426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10300" y="3824883"/>
            <a:ext cx="2655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NOD2's Pocket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0300" y="3996333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in the LRR part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0300" y="4135934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detects bacteria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10300" y="4275534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drugs to fit here!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69702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Overview: From 9,566 to 2 Validated Hits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0734" y="664815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1962" y="741015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1962" y="950565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38114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23715" y="571202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18867" y="647402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18867" y="856952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951887" y="1053703"/>
            <a:ext cx="1815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-95%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525018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10619" y="664815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05771" y="741015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05771" y="950565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11922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97523" y="664815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92675" y="741015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92675" y="950565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98827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84428" y="571202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79580" y="647402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79580" y="856952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480115" y="1053703"/>
            <a:ext cx="2463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-98.4%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085731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71332" y="664815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66484" y="741015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66484" y="950565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272635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58236" y="664815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653388" y="741015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53388" y="950565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459539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40472" y="1272778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635624" y="1348978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35624" y="1558528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win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441775" y="1396603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27377" y="1253728"/>
            <a:ext cx="876002" cy="495300"/>
          </a:xfrm>
          <a:prstGeom prst="roundRect">
            <a:avLst>
              <a:gd name="adj" fmla="val 10256"/>
            </a:avLst>
          </a:prstGeom>
          <a:solidFill>
            <a:srgbClr val="27AE60"/>
          </a:solidFill>
          <a:ln w="19050">
            <a:solidFill>
              <a:srgbClr val="1C28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41578" y="1348978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41578" y="1558528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HITS!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523357" y="1936254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726507" y="1964829"/>
            <a:ext cx="4989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Input/Output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406205" y="1936254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609356" y="1964829"/>
            <a:ext cx="3274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120878" y="1936254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324029" y="1964829"/>
            <a:ext cx="3023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90500" y="2275880"/>
            <a:ext cx="8763000" cy="761554"/>
          </a:xfrm>
          <a:prstGeom prst="roundRect">
            <a:avLst>
              <a:gd name="adj" fmla="val 667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06401" y="2377380"/>
            <a:ext cx="8731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Attrition: 99.98% Filtered Out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92001" y="2561481"/>
            <a:ext cx="8559998" cy="253901"/>
          </a:xfrm>
          <a:prstGeom prst="roundRect">
            <a:avLst>
              <a:gd name="adj" fmla="val 15006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92001" y="2561481"/>
            <a:ext cx="8559998" cy="253901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292001" y="2561481"/>
            <a:ext cx="444996" cy="2539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92001" y="2561481"/>
            <a:ext cx="6846" cy="253901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92001" y="2561481"/>
            <a:ext cx="1637" cy="253901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92001" y="2840682"/>
            <a:ext cx="4283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start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2541538" y="2840682"/>
            <a:ext cx="9876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after docking (5.2%)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339358" y="2840682"/>
            <a:ext cx="9354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after ADMET (0.08%)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085981" y="2840682"/>
            <a:ext cx="7810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validated (0.02%)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90500" y="3113633"/>
            <a:ext cx="8763000" cy="457200"/>
          </a:xfrm>
          <a:prstGeom prst="roundRect">
            <a:avLst>
              <a:gd name="adj" fmla="val 1111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043209" y="3189833"/>
            <a:ext cx="6149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99.98%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043209" y="3399383"/>
            <a:ext cx="6149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out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211587" y="3189833"/>
            <a:ext cx="5742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3211587" y="3399383"/>
            <a:ext cx="5742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simulation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339943" y="3189833"/>
            <a:ext cx="5475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339943" y="3399383"/>
            <a:ext cx="5475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windows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440738" y="3189833"/>
            <a:ext cx="6601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440738" y="3399383"/>
            <a:ext cx="6601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candidates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Compound Library?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9,566 Different Keys for One Lock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8500" y="2016175"/>
            <a:ext cx="2565499" cy="1142702"/>
          </a:xfrm>
          <a:prstGeom prst="roundRect">
            <a:avLst>
              <a:gd name="adj" fmla="val 13337"/>
            </a:avLst>
          </a:prstGeom>
          <a:solidFill>
            <a:srgbClr val="F4F6F6"/>
          </a:solidFill>
          <a:ln w="3810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70686" y="2308175"/>
            <a:ext cx="202112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Protein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0686" y="2724001"/>
            <a:ext cx="20211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"LOCK" we need to fit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5370" y="3349377"/>
            <a:ext cx="513606" cy="266700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2320" y="3425577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90476" y="3349377"/>
            <a:ext cx="513606" cy="266700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17427" y="3425577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05583" y="3349377"/>
            <a:ext cx="513606" cy="266700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32533" y="3425577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20689" y="3349377"/>
            <a:ext cx="513606" cy="266700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47640" y="3425577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35796" y="3349377"/>
            <a:ext cx="338584" cy="266700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62746" y="3425577"/>
            <a:ext cx="863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5881" y="3349377"/>
            <a:ext cx="711250" cy="266700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02831" y="3425577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9,566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31072" y="3743027"/>
            <a:ext cx="13002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keys FIT the lock?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1054001"/>
            <a:ext cx="4127599" cy="1104900"/>
          </a:xfrm>
          <a:prstGeom prst="roundRect">
            <a:avLst>
              <a:gd name="adj" fmla="val 68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22763" y="1054001"/>
            <a:ext cx="0" cy="1104900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8975" y="1206401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Products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8975" y="1454051"/>
            <a:ext cx="38506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7,414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98975" y="1720751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plants, fungi, bacteria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8975" y="1863626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Evolution-optimized molecules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98950" y="2285851"/>
            <a:ext cx="4127599" cy="1104900"/>
          </a:xfrm>
          <a:prstGeom prst="roundRect">
            <a:avLst>
              <a:gd name="adj" fmla="val 68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22763" y="2285851"/>
            <a:ext cx="0" cy="1104900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8975" y="2438251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FDA-Approved Drugs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8975" y="2685901"/>
            <a:ext cx="38506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898975" y="2952601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proven safe in humans!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8975" y="3095476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repurposed quickly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98950" y="3517702"/>
            <a:ext cx="4127599" cy="873026"/>
          </a:xfrm>
          <a:prstGeom prst="roundRect">
            <a:avLst>
              <a:gd name="adj" fmla="val 872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13122" y="3670102"/>
            <a:ext cx="38992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Library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13122" y="3943052"/>
            <a:ext cx="389925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compounds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and Library Preparation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403027"/>
          </a:xfrm>
          <a:prstGeom prst="roundRect">
            <a:avLst>
              <a:gd name="adj" fmla="val 1890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920651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PROTEIN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7450" y="1222177"/>
            <a:ext cx="4127599" cy="2622054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9850" y="1374577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LRR Domain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9850" y="15777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Leucine-Rich Repeat region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9850" y="17206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bacteria are sensed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50" y="1990427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AlphaFold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9850" y="219357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AI-predicted 3D structure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2336453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UniProt: Q9HC29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50" y="2606278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9850" y="280942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Arginine (R) to Tryptophan (W)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9850" y="2952304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79.4 A from binding site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50" y="3222129"/>
            <a:ext cx="3822799" cy="469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8900" y="3222129"/>
            <a:ext cx="0" cy="46970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9451" y="3323630"/>
            <a:ext cx="36533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mutation is FAR from the binding site - this is ALLOSTERIC (works at a distance)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8950" y="819150"/>
            <a:ext cx="4127599" cy="403027"/>
          </a:xfrm>
          <a:prstGeom prst="roundRect">
            <a:avLst>
              <a:gd name="adj" fmla="val 1890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51350" y="920651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LIBRARY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98950" y="1222177"/>
            <a:ext cx="4127599" cy="2631579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51350" y="1374577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Products: 7,414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1350" y="15777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COCONUT database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51350" y="17206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diverse molecules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51350" y="1990427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Drugs: 2,152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51350" y="219357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DrugBank database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51350" y="2336453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Pre-validated for human safety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1350" y="2606278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Steps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51350" y="280942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conformer generation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1350" y="2952304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Protonation at pH 7.4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51350" y="309517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minimization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51350" y="3365004"/>
            <a:ext cx="3822799" cy="336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870400" y="3365004"/>
            <a:ext cx="0" cy="33635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90951" y="3466505"/>
            <a:ext cx="36533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9,566 compounds ready for virtual screening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Docking?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How a Drug Fits in the Pocket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63476"/>
            <a:ext cx="8636198" cy="710952"/>
          </a:xfrm>
          <a:prstGeom prst="roundRect">
            <a:avLst>
              <a:gd name="adj" fmla="val 1429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784027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putting a PUZZLE PIECE into a puzzle...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0501" y="98717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try it one way - doesn't fit. Flip it - doesn't fit. Rotate it - CLICK! It fits!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0501" y="112052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 = computer tries MILLIONS of ways to put a drug molecule into the protein's pocket until it finds the best fit!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3901" y="1437829"/>
            <a:ext cx="4627513" cy="1123652"/>
          </a:xfrm>
          <a:prstGeom prst="roundRect">
            <a:avLst>
              <a:gd name="adj" fmla="val 67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4160" y="1539329"/>
            <a:ext cx="698450" cy="571500"/>
          </a:xfrm>
          <a:prstGeom prst="roundRect">
            <a:avLst>
              <a:gd name="adj" fmla="val 1777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0610" y="169172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4461" y="2148929"/>
            <a:ext cx="177701" cy="177701"/>
          </a:xfrm>
          <a:prstGeom prst="roundRect">
            <a:avLst>
              <a:gd name="adj" fmla="val 2858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8107" y="2364730"/>
            <a:ext cx="53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way?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60277" y="189488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20143" y="1539329"/>
            <a:ext cx="698450" cy="571500"/>
          </a:xfrm>
          <a:prstGeom prst="roundRect">
            <a:avLst>
              <a:gd name="adj" fmla="val 1777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026593" y="169172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43640" y="2112126"/>
            <a:ext cx="251307" cy="251307"/>
          </a:xfrm>
          <a:prstGeom prst="roundRect">
            <a:avLst>
              <a:gd name="adj" fmla="val 2021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75287" y="2364730"/>
            <a:ext cx="3880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it?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456259" y="189488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16126" y="1539329"/>
            <a:ext cx="698450" cy="571500"/>
          </a:xfrm>
          <a:prstGeom prst="roundRect">
            <a:avLst>
              <a:gd name="adj" fmla="val 1777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22575" y="169172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051396" y="2123899"/>
            <a:ext cx="227761" cy="227761"/>
          </a:xfrm>
          <a:prstGeom prst="roundRect">
            <a:avLst>
              <a:gd name="adj" fmla="val 2230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031839" y="2364730"/>
            <a:ext cx="2670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it?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2242" y="189488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12109" y="1647230"/>
            <a:ext cx="698450" cy="571500"/>
          </a:xfrm>
          <a:prstGeom prst="roundRect">
            <a:avLst>
              <a:gd name="adj" fmla="val 1777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18558" y="179963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43859" y="1812280"/>
            <a:ext cx="190500" cy="190500"/>
          </a:xfrm>
          <a:prstGeom prst="roundRect">
            <a:avLst>
              <a:gd name="adj" fmla="val 2666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50442" y="2256830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FITS!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587698" y="2624882"/>
            <a:ext cx="936575" cy="317302"/>
          </a:xfrm>
          <a:prstGeom prst="roundRect">
            <a:avLst>
              <a:gd name="adj" fmla="val 1601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81863" y="2688282"/>
            <a:ext cx="748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fit = -8.5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681863" y="2783532"/>
            <a:ext cx="748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 score = good)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25775" y="2624882"/>
            <a:ext cx="921841" cy="317302"/>
          </a:xfrm>
          <a:prstGeom prst="roundRect">
            <a:avLst>
              <a:gd name="adj" fmla="val 1601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720087" y="2688282"/>
            <a:ext cx="7332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fit = -3.2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720087" y="2783532"/>
            <a:ext cx="7332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 score = bad)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53901" y="3005584"/>
            <a:ext cx="4627513" cy="266700"/>
          </a:xfrm>
          <a:prstGeom prst="roundRect">
            <a:avLst>
              <a:gd name="adj" fmla="val 1904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85350" y="3081784"/>
            <a:ext cx="45646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9,566 drugs --&gt; Try millions of positions --&gt; Rank by score --&gt; Keep top 500 best fits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33814" y="1437829"/>
            <a:ext cx="3856286" cy="805904"/>
          </a:xfrm>
          <a:prstGeom prst="roundRect">
            <a:avLst>
              <a:gd name="adj" fmla="val 94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052864" y="1437829"/>
            <a:ext cx="0" cy="8059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35314" y="1501229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(Simple!)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35314" y="1640830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with drug floating near pocket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135314" y="1748730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Try putting it in different positions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35314" y="1856631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Score each try (does it fit well?)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35314" y="1964531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Keep the best position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35314" y="2072432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Do this for EVERY drug (9,566!)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33814" y="2294483"/>
            <a:ext cx="3856286" cy="590104"/>
          </a:xfrm>
          <a:prstGeom prst="roundRect">
            <a:avLst>
              <a:gd name="adj" fmla="val 12913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097214" y="2357884"/>
            <a:ext cx="3804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GNINA: Smart Docking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97214" y="2497485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AI to score (like a smart friend)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97214" y="2605385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= super fast computer chip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097214" y="2713286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accurate than old methods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033814" y="2935337"/>
            <a:ext cx="3856286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5052864" y="2935337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135314" y="2998738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Docking Isn't Perfect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35314" y="3138339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like a PHOTO - frozen in time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135314" y="3246239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proteins WIGGLE (need MD)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135314" y="3354139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are guesses (need FEP)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135314" y="3462040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 = first filter, not final answer!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90525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Virtual Screening: GNINA Docking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466725"/>
            <a:ext cx="4838105" cy="1205805"/>
          </a:xfrm>
          <a:prstGeom prst="roundRect">
            <a:avLst>
              <a:gd name="adj" fmla="val 6319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850" y="561975"/>
            <a:ext cx="4740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Set Up GNINA (Step-by-Step)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3850" y="733425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Inputs I needed: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3850" y="853976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protein structure (PDB file from AlphaFold)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3850" y="974527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drug molecules (SDF files from databases)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3850" y="1095077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site coordinates (where drug should go)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3850" y="1215628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command I ran: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3850" y="1336179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-r protein.pdb -l drugs.sdf --autobox_ligand ref.pdb -o results.sdf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3850" y="1456730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GNINA does:</a:t>
            </a: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Tries millions of drug positions, uses AI to score each one, keeps the best pose for each drug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28600" y="1723281"/>
            <a:ext cx="4838105" cy="761405"/>
          </a:xfrm>
          <a:prstGeom prst="roundRect">
            <a:avLst>
              <a:gd name="adj" fmla="val 667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2001" y="1786682"/>
            <a:ext cx="4805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Docking Settings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2001" y="1939082"/>
            <a:ext cx="3830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Software: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22589" y="1939082"/>
            <a:ext cx="4903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v1.0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92001" y="2059632"/>
            <a:ext cx="332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Scoring: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981152" y="2059632"/>
            <a:ext cx="10425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(AI neural network)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92001" y="2180183"/>
            <a:ext cx="6601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Exhaustiveness: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223147" y="2180183"/>
            <a:ext cx="795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(very thorough)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92001" y="2300734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GPU: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925044" y="2300734"/>
            <a:ext cx="10998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RTX (100x faster!)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600" y="2535436"/>
            <a:ext cx="4838105" cy="640854"/>
          </a:xfrm>
          <a:prstGeom prst="roundRect">
            <a:avLst>
              <a:gd name="adj" fmla="val 79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2001" y="2598837"/>
            <a:ext cx="4805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Site I Targeted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2001" y="2751237"/>
            <a:ext cx="3679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72558" y="2751237"/>
            <a:ext cx="7453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LRR domain cleft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92001" y="2871788"/>
            <a:ext cx="3678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size: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068068" y="2871788"/>
            <a:ext cx="9539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x 25 x 25 Angstrom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92001" y="2992338"/>
            <a:ext cx="2973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Center: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591223" y="2992338"/>
            <a:ext cx="14403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Auto-detected from known ligand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28600" y="3227040"/>
            <a:ext cx="4838105" cy="704850"/>
          </a:xfrm>
          <a:prstGeom prst="roundRect">
            <a:avLst>
              <a:gd name="adj" fmla="val 720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57943" y="3303240"/>
            <a:ext cx="4779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7943" y="3474690"/>
            <a:ext cx="47794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~48 hrs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57943" y="3741390"/>
            <a:ext cx="4779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made it 100x faster than CPU!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93655" y="466725"/>
            <a:ext cx="3721745" cy="761405"/>
          </a:xfrm>
          <a:prstGeom prst="roundRect">
            <a:avLst>
              <a:gd name="adj" fmla="val 667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212705" y="466725"/>
            <a:ext cx="0" cy="761405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95156" y="530126"/>
            <a:ext cx="36279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Chose GNINA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95156" y="682526"/>
            <a:ext cx="36279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docking (AutoDock) uses math formulas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295156" y="803077"/>
            <a:ext cx="36279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uses AI trained on millions of examples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295156" y="923627"/>
            <a:ext cx="36279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scoring is MORE ACCURATE for our pocket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95156" y="1044178"/>
            <a:ext cx="36279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support = I could finish in 2 days!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133802" y="1278880"/>
            <a:ext cx="1841450" cy="457200"/>
          </a:xfrm>
          <a:prstGeom prst="roundRect">
            <a:avLst>
              <a:gd name="adj" fmla="val 11111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212543" y="1374130"/>
            <a:ext cx="16839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12543" y="1545580"/>
            <a:ext cx="1683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I started with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441430" y="1786830"/>
            <a:ext cx="1250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scores each one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87703" y="1970931"/>
            <a:ext cx="1333500" cy="457200"/>
          </a:xfrm>
          <a:prstGeom prst="roundRect">
            <a:avLst>
              <a:gd name="adj" fmla="val 11111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471523" y="2066181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71523" y="2237631"/>
            <a:ext cx="1165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5% scores kept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414492" y="2478881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ML + ADMET filters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78203" y="2662982"/>
            <a:ext cx="952500" cy="457200"/>
          </a:xfrm>
          <a:prstGeom prst="roundRect">
            <a:avLst>
              <a:gd name="adj" fmla="val 11111"/>
            </a:avLst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665833" y="2758232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665833" y="2929682"/>
            <a:ext cx="7772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candidates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193655" y="3170932"/>
            <a:ext cx="3721745" cy="640854"/>
          </a:xfrm>
          <a:prstGeom prst="roundRect">
            <a:avLst>
              <a:gd name="adj" fmla="val 79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257056" y="3234333"/>
            <a:ext cx="36668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 Got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57056" y="3386733"/>
            <a:ext cx="5896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drug: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088809" y="3386733"/>
            <a:ext cx="7784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pose + score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257056" y="3507284"/>
            <a:ext cx="5190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range: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135838" y="3507284"/>
            <a:ext cx="7304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 to -11 kcal/mol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257056" y="3627834"/>
            <a:ext cx="5996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negative: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220075" y="3627834"/>
            <a:ext cx="644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binding!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 Here?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a Computer to Predict Good Drugs FAST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63476"/>
            <a:ext cx="8636198" cy="710952"/>
          </a:xfrm>
          <a:prstGeom prst="roundRect">
            <a:avLst>
              <a:gd name="adj" fmla="val 1429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784027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teaching a DOG a trick...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0501" y="98717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show the dog: "This is a GOOD toy (treat!) ... This is a BAD toy (no treat)." Do this many times.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0501" y="112052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Eventually the dog LEARNS what makes a good toy! ML = teaching a computer: "This is a good drug, this is a bad drug" until it LEARNS the pattern!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3901" y="1437829"/>
            <a:ext cx="4795242" cy="317302"/>
          </a:xfrm>
          <a:prstGeom prst="roundRect">
            <a:avLst>
              <a:gd name="adj" fmla="val 1601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7302" y="1501229"/>
            <a:ext cx="850850" cy="190500"/>
          </a:xfrm>
          <a:prstGeom prst="roundRect">
            <a:avLst>
              <a:gd name="adj" fmla="val 2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6517" y="1539329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44352" y="1510754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72952" y="1539329"/>
            <a:ext cx="15889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drug molecule drawing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3901" y="1805880"/>
            <a:ext cx="4795242" cy="317302"/>
          </a:xfrm>
          <a:prstGeom prst="roundRect">
            <a:avLst>
              <a:gd name="adj" fmla="val 1601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7302" y="1869281"/>
            <a:ext cx="850850" cy="190500"/>
          </a:xfrm>
          <a:prstGeom prst="roundRect">
            <a:avLst>
              <a:gd name="adj" fmla="val 2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6517" y="1907381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Barcode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44352" y="187880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72952" y="1907381"/>
            <a:ext cx="20627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it into numbers (like a grocery barcode!)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3901" y="2173932"/>
            <a:ext cx="4795242" cy="317302"/>
          </a:xfrm>
          <a:prstGeom prst="roundRect">
            <a:avLst>
              <a:gd name="adj" fmla="val 1601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7302" y="2237333"/>
            <a:ext cx="850850" cy="190500"/>
          </a:xfrm>
          <a:prstGeom prst="roundRect">
            <a:avLst>
              <a:gd name="adj" fmla="val 2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6517" y="2275433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244352" y="2246858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72952" y="2275433"/>
            <a:ext cx="23658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facts: How heavy? How oily? How many rings?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3901" y="2541984"/>
            <a:ext cx="4795242" cy="317302"/>
          </a:xfrm>
          <a:prstGeom prst="roundRect">
            <a:avLst>
              <a:gd name="adj" fmla="val 1601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7302" y="2605385"/>
            <a:ext cx="850850" cy="190500"/>
          </a:xfrm>
          <a:prstGeom prst="roundRect">
            <a:avLst>
              <a:gd name="adj" fmla="val 2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86517" y="2643485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44352" y="2614910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72952" y="2643485"/>
            <a:ext cx="2277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looks at patterns from MANY examples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3901" y="2910036"/>
            <a:ext cx="4795242" cy="317302"/>
          </a:xfrm>
          <a:prstGeom prst="roundRect">
            <a:avLst>
              <a:gd name="adj" fmla="val 1601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17302" y="2973437"/>
            <a:ext cx="850850" cy="190500"/>
          </a:xfrm>
          <a:prstGeom prst="roundRect">
            <a:avLst>
              <a:gd name="adj" fmla="val 2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86517" y="3011537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44352" y="2973437"/>
            <a:ext cx="850850" cy="190500"/>
          </a:xfrm>
          <a:prstGeom prst="roundRect">
            <a:avLst>
              <a:gd name="adj" fmla="val 2666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313567" y="3011537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71402" y="3011537"/>
            <a:ext cx="14160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Prediction: Will this drug work?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01543" y="1437829"/>
            <a:ext cx="3688556" cy="736104"/>
          </a:xfrm>
          <a:prstGeom prst="roundRect">
            <a:avLst>
              <a:gd name="adj" fmla="val 10352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83994" y="1520279"/>
            <a:ext cx="35941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Learning to Recognize Cats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83994" y="1659880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computer 1000 cat pictures: "CAT"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283994" y="1767780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computer 1000 dog pictures: "NOT CAT"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283994" y="1875681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it can recognize NEW cats!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283994" y="1983581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idea: show good/bad drugs, it learns!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01543" y="2224683"/>
            <a:ext cx="3688556" cy="590104"/>
          </a:xfrm>
          <a:prstGeom prst="roundRect">
            <a:avLst>
              <a:gd name="adj" fmla="val 1291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220593" y="2224683"/>
            <a:ext cx="0" cy="5901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03044" y="2288084"/>
            <a:ext cx="35941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ML?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03044" y="2427684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Docking: slow (hours per drug)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303044" y="2535585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ML: super fast (0.001 seconds per drug!)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303044" y="2643485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once, predict millions instantly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201543" y="2865537"/>
            <a:ext cx="3688556" cy="590104"/>
          </a:xfrm>
          <a:prstGeom prst="roundRect">
            <a:avLst>
              <a:gd name="adj" fmla="val 1291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5220593" y="2865537"/>
            <a:ext cx="0" cy="5901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303044" y="2928938"/>
            <a:ext cx="35941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Taught It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03044" y="3068538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(1) = Top 10% docking scores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303044" y="3176439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(0) = Bottom 10% docking scores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303044" y="3284339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learned: "What makes drugs fit?"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01543" y="3506391"/>
            <a:ext cx="3688556" cy="590104"/>
          </a:xfrm>
          <a:prstGeom prst="roundRect">
            <a:avLst>
              <a:gd name="adj" fmla="val 1291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5220593" y="3506391"/>
            <a:ext cx="0" cy="5901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303044" y="3569791"/>
            <a:ext cx="35941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Algorithm: XGBoost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303044" y="3709392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many "decision trees"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303044" y="3817293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tree asks yes/no questions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303044" y="3925193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all trees = smart prediction!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Split Explained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the Model from CHEATING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015901"/>
            <a:ext cx="2050107" cy="733276"/>
          </a:xfrm>
          <a:prstGeom prst="roundRect">
            <a:avLst>
              <a:gd name="adj" fmla="val 103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2889" y="1488877"/>
            <a:ext cx="18321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decoration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94508" y="1249114"/>
            <a:ext cx="1279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10470" y="1015901"/>
            <a:ext cx="2050107" cy="733276"/>
          </a:xfrm>
          <a:prstGeom prst="roundRect">
            <a:avLst>
              <a:gd name="adj" fmla="val 103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19459" y="1488877"/>
            <a:ext cx="18321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decoration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7834" y="1876127"/>
            <a:ext cx="46988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SCAFFOLD, different decorations = SIMILAR molecules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3901" y="2263378"/>
            <a:ext cx="2239863" cy="1348829"/>
          </a:xfrm>
          <a:prstGeom prst="roundRect">
            <a:avLst>
              <a:gd name="adj" fmla="val 5649"/>
            </a:avLst>
          </a:prstGeom>
          <a:noFill/>
          <a:ln w="19050">
            <a:solidFill>
              <a:srgbClr val="E76F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4464" y="2383929"/>
            <a:ext cx="20387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WRONG: Random Split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452" y="2603004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2188" y="2653754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 + dec1 (TRAIN)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4452" y="2856905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2188" y="2907655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 + dec2 (TEST)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4452" y="3110805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2188" y="3161556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 + dec1 (TRAIN)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4464" y="3377357"/>
            <a:ext cx="20387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8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memorizes cores!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20714" y="2263378"/>
            <a:ext cx="2239863" cy="1348829"/>
          </a:xfrm>
          <a:prstGeom prst="roundRect">
            <a:avLst>
              <a:gd name="adj" fmla="val 5649"/>
            </a:avLst>
          </a:prstGeom>
          <a:noFill/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21278" y="2383929"/>
            <a:ext cx="20387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Scaffold Split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1265" y="2603004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799002" y="2653754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 + dec1 (TRAIN)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1265" y="2856905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99002" y="2907655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 + dec2 (TRAIN)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1265" y="3110805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99002" y="3161556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 + dec1 (TEST)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21278" y="3377357"/>
            <a:ext cx="20387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must generalize!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51078" y="1015901"/>
            <a:ext cx="3839021" cy="990451"/>
          </a:xfrm>
          <a:prstGeom prst="roundRect">
            <a:avLst>
              <a:gd name="adj" fmla="val 7693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78028" y="1142851"/>
            <a:ext cx="3656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78028" y="1346002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Molecules with same core behave similarly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78028" y="1479352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one is in TRAIN and one in TEST...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78028" y="1612702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just memorizes the core = CHEATING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78028" y="1746052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falsely high accuracy!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51078" y="2107853"/>
            <a:ext cx="3839021" cy="990451"/>
          </a:xfrm>
          <a:prstGeom prst="roundRect">
            <a:avLst>
              <a:gd name="adj" fmla="val 7693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178028" y="2234803"/>
            <a:ext cx="3656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78028" y="243795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SPLIT keeps same-core molecules TOGETHER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78028" y="257130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ALL in training, or ALL in test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78028" y="270465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must learn GENERAL patterns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78028" y="283800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estimate of real-world performance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51078" y="3199805"/>
            <a:ext cx="3839021" cy="847576"/>
          </a:xfrm>
          <a:prstGeom prst="roundRect">
            <a:avLst>
              <a:gd name="adj" fmla="val 899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070128" y="3199805"/>
            <a:ext cx="0" cy="84757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216128" y="3326755"/>
            <a:ext cx="36179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Approach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6128" y="3520380"/>
            <a:ext cx="36179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 with scaffold split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6128" y="3653730"/>
            <a:ext cx="36179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fold: different scaffolds in test set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16128" y="3787080"/>
            <a:ext cx="36179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model generalizes to NEW molecules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90525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ML Model: How I Built and Used 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466725"/>
            <a:ext cx="4076105" cy="1567458"/>
          </a:xfrm>
          <a:prstGeom prst="roundRect">
            <a:avLst>
              <a:gd name="adj" fmla="val 486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850" y="561975"/>
            <a:ext cx="39633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Built the Model (Step-by-Step)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3850" y="733425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Created training data from docking: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3850" y="853976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(label=1): Top 10% docking scores (~960 drugs)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3850" y="974527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(label=0): Bottom 10% docking scores (~960 drugs)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3850" y="1095077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Converted drugs to numbers: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3850" y="1215628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fingerprint: 2048 bits (chemical features)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3850" y="1336179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properties: weight, oiliness, charge, etc.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3850" y="1456730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Python code I used: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3850" y="1577280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xgboost import XGBClassifier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3850" y="1697831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XGBClassifier(n_estimators=100)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3850" y="1818382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model.fit(X_train, y_train)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28600" y="2084933"/>
            <a:ext cx="4076105" cy="399752"/>
          </a:xfrm>
          <a:prstGeom prst="roundRect">
            <a:avLst>
              <a:gd name="adj" fmla="val 1270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2508" y="2148334"/>
            <a:ext cx="4028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Classifier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2508" y="2326035"/>
            <a:ext cx="40282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"Gradient Boosted Decision Trees" - very accurate for this task!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28600" y="2535436"/>
            <a:ext cx="4076105" cy="640854"/>
          </a:xfrm>
          <a:prstGeom prst="roundRect">
            <a:avLst>
              <a:gd name="adj" fmla="val 79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2001" y="2598837"/>
            <a:ext cx="4028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Settings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2001" y="2751237"/>
            <a:ext cx="2536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Trees: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470672" y="2751237"/>
            <a:ext cx="7860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decision trees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92001" y="2871788"/>
            <a:ext cx="3830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15320" y="2871788"/>
            <a:ext cx="7405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2,063 total inputs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2001" y="2992338"/>
            <a:ext cx="545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time: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74430" y="2992338"/>
            <a:ext cx="4762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minutes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431655" y="466725"/>
            <a:ext cx="4483745" cy="761405"/>
          </a:xfrm>
          <a:prstGeom prst="roundRect">
            <a:avLst>
              <a:gd name="adj" fmla="val 667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450705" y="466725"/>
            <a:ext cx="0" cy="761405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33156" y="530126"/>
            <a:ext cx="440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Validated It (Made Sure It Works)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33156" y="682526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split:</a:t>
            </a: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on DIFFERENT chemical families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33156" y="803077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cross-validation:</a:t>
            </a: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 5 times, test 5 times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533156" y="923627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control:</a:t>
            </a: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Shuffled labels --&gt; AUC = 0.50 (random)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33156" y="1044178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model:</a:t>
            </a: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AUC = 0.85-0.93 (works!)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431655" y="1278880"/>
            <a:ext cx="4483745" cy="504527"/>
          </a:xfrm>
          <a:prstGeom prst="roundRect">
            <a:avLst>
              <a:gd name="adj" fmla="val 1006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451486" y="1342281"/>
            <a:ext cx="44440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AUC: 0.85 - 0.93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51486" y="1605707"/>
            <a:ext cx="44440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correctly distinguishes good vs bad binders!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31655" y="1834158"/>
            <a:ext cx="4483745" cy="1012031"/>
          </a:xfrm>
          <a:prstGeom prst="roundRect">
            <a:avLst>
              <a:gd name="adj" fmla="val 502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450705" y="1834158"/>
            <a:ext cx="0" cy="1012031"/>
          </a:xfrm>
          <a:prstGeom prst="line">
            <a:avLst/>
          </a:prstGeom>
          <a:noFill/>
          <a:ln w="381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33156" y="1897559"/>
            <a:ext cx="440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Used It (Prediction)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33156" y="2049959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a NEW drug not in training data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33156" y="2170509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to fingerprint + properties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533156" y="2291060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Feed to trained model: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33156" y="2411611"/>
            <a:ext cx="44052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= model.predict_proba(new_drug)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33156" y="2541687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probability: 0.0 (bad) to 1.0 (good)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33156" y="2662238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prob &gt; 0.5, keep the drug!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431655" y="2896939"/>
            <a:ext cx="4483745" cy="640854"/>
          </a:xfrm>
          <a:prstGeom prst="roundRect">
            <a:avLst>
              <a:gd name="adj" fmla="val 79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495056" y="2960340"/>
            <a:ext cx="44440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ML After Docking?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495056" y="3112740"/>
            <a:ext cx="3527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Docking: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121253" y="3112740"/>
            <a:ext cx="7453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but detailed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495056" y="3233291"/>
            <a:ext cx="1511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ML: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180338" y="3233291"/>
            <a:ext cx="6850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screening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495056" y="3353842"/>
            <a:ext cx="3779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Together: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304014" y="3353842"/>
            <a:ext cx="5589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both!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ADMET?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Drug's Journey Through Your Body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63476"/>
            <a:ext cx="8636198" cy="710952"/>
          </a:xfrm>
          <a:prstGeom prst="roundRect">
            <a:avLst>
              <a:gd name="adj" fmla="val 1429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784027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MEDICINE PILL going on an ADVENTURE...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0501" y="98717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swallow a pill. Can your tummy absorb it? Does it reach the sick part? Does your liver destroy it? Can you pee it out? Does it make you feel bad?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0501" y="112052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ADMET = checking if the drug can survive the journey AND not hurt you!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3901" y="1437829"/>
            <a:ext cx="4627513" cy="380851"/>
          </a:xfrm>
          <a:prstGeom prst="roundRect">
            <a:avLst>
              <a:gd name="adj" fmla="val 133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0101" y="148857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4635" y="1542455"/>
            <a:ext cx="1123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651" y="1513880"/>
            <a:ext cx="21117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ABSORPTION - Can tummy absorb 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651" y="1647230"/>
            <a:ext cx="21117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 goes in mouth --&gt; stomach --&gt; blood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53901" y="1869430"/>
            <a:ext cx="4627513" cy="380851"/>
          </a:xfrm>
          <a:prstGeom prst="roundRect">
            <a:avLst>
              <a:gd name="adj" fmla="val 133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0101" y="192018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4635" y="1974056"/>
            <a:ext cx="1123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651" y="1945481"/>
            <a:ext cx="24552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- Does it reach the sick part?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651" y="2078831"/>
            <a:ext cx="24552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carries drug to where it's needed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53901" y="2301032"/>
            <a:ext cx="4627513" cy="380851"/>
          </a:xfrm>
          <a:prstGeom prst="roundRect">
            <a:avLst>
              <a:gd name="adj" fmla="val 133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0101" y="235178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6301" y="2405658"/>
            <a:ext cx="1294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651" y="2377083"/>
            <a:ext cx="2517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METABOLISM - Does liver destroy it too fast?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651" y="2510433"/>
            <a:ext cx="25176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 breaks down foreign things (like drugs!)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53901" y="2732633"/>
            <a:ext cx="4627513" cy="380851"/>
          </a:xfrm>
          <a:prstGeom prst="roundRect">
            <a:avLst>
              <a:gd name="adj" fmla="val 133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0101" y="278338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8951" y="2837259"/>
            <a:ext cx="103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651" y="2808684"/>
            <a:ext cx="2020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EXCRETION - Can body get rid of it?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651" y="2942034"/>
            <a:ext cx="20208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Kidneys filter it out --&gt; pee it out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53901" y="3164235"/>
            <a:ext cx="4627513" cy="380851"/>
          </a:xfrm>
          <a:prstGeom prst="roundRect">
            <a:avLst>
              <a:gd name="adj" fmla="val 133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0101" y="321498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23118" y="3268861"/>
            <a:ext cx="95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651" y="3240286"/>
            <a:ext cx="20760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- Does it HURT you?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651" y="3373636"/>
            <a:ext cx="20760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poisonous? Damages organs? Causes cancer?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033814" y="1437829"/>
            <a:ext cx="3856286" cy="831652"/>
          </a:xfrm>
          <a:prstGeom prst="roundRect">
            <a:avLst>
              <a:gd name="adj" fmla="val 9162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16264" y="1520279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Lipinski's "Rule of 5" (Quick Checklist)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16264" y="1672679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drug passes these, it's probably safe to take as a pill: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116264" y="1806029"/>
            <a:ext cx="584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heavy: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444359" y="1806029"/>
            <a:ext cx="3705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500 Da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16264" y="1901279"/>
            <a:ext cx="478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oily: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436322" y="1901279"/>
            <a:ext cx="3787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LogP &lt; 5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116264" y="1996529"/>
            <a:ext cx="5692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sticky: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355657" y="1996529"/>
            <a:ext cx="4610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donors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16264" y="2091779"/>
            <a:ext cx="6198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grabby: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187630" y="2091779"/>
            <a:ext cx="6324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 acceptors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33814" y="2320230"/>
            <a:ext cx="3856286" cy="698004"/>
          </a:xfrm>
          <a:prstGeom prst="roundRect">
            <a:avLst>
              <a:gd name="adj" fmla="val 1091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097214" y="2383631"/>
            <a:ext cx="3804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SO MUCH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97214" y="2523232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of drugs FAIL in human tests!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97214" y="2631132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fail because of ADMET, not binding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097214" y="2739033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drug that binds great but kills you = useless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097214" y="2846933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bad drugs EARLY = save billions of $$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033814" y="3068985"/>
            <a:ext cx="3856286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052864" y="3068985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135314" y="3132386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Filtered Out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35314" y="3271986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toxic? REMOVE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135314" y="3379887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Won't absorb? REMOVE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135314" y="3487787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 destroys instantly? REMOVE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135314" y="3595688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kept the SAFE ones!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ADMET Filtering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676126"/>
            <a:ext cx="4159300" cy="1333202"/>
          </a:xfrm>
          <a:prstGeom prst="roundRect">
            <a:avLst>
              <a:gd name="adj" fmla="val 571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1263" y="676126"/>
            <a:ext cx="0" cy="133320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6576" y="777627"/>
            <a:ext cx="39868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Applied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576" y="9934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8501" y="1002953"/>
            <a:ext cx="968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Lipinski's Rule of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576" y="11839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8501" y="1193453"/>
            <a:ext cx="1850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 filter (problematic structures)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576" y="13744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8501" y="1383953"/>
            <a:ext cx="1794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predictions (hERG, AMES)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576" y="15649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8501" y="1574453"/>
            <a:ext cx="1179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Solubility requirements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576" y="17554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8501" y="1764953"/>
            <a:ext cx="1516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 stability predictions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7450" y="2085529"/>
            <a:ext cx="4159300" cy="1066502"/>
          </a:xfrm>
          <a:prstGeom prst="roundRect">
            <a:avLst>
              <a:gd name="adj" fmla="val 71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41263" y="2085529"/>
            <a:ext cx="0" cy="1066502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576" y="2187029"/>
            <a:ext cx="39868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Removed By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576" y="2402830"/>
            <a:ext cx="1273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Lipinski violations: ~40%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576" y="2574280"/>
            <a:ext cx="10249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 alerts: ~15%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576" y="2745730"/>
            <a:ext cx="1027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flags: ~20%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576" y="2917180"/>
            <a:ext cx="10788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ADMET: ~23%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86425" y="1135559"/>
            <a:ext cx="2120801" cy="593527"/>
          </a:xfrm>
          <a:prstGeom prst="roundRect">
            <a:avLst>
              <a:gd name="adj" fmla="val 128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40096" y="1256109"/>
            <a:ext cx="18134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40096" y="1494234"/>
            <a:ext cx="1813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docking hits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36370" y="1906786"/>
            <a:ext cx="633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Lipinski 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0475" y="2227362"/>
            <a:ext cx="1612850" cy="593527"/>
          </a:xfrm>
          <a:prstGeom prst="roundRect">
            <a:avLst>
              <a:gd name="adj" fmla="val 128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99225" y="2347913"/>
            <a:ext cx="12953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99225" y="2586038"/>
            <a:ext cx="1295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drug-like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92304" y="2998589"/>
            <a:ext cx="927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PAINS + Tox 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50025" y="3319165"/>
            <a:ext cx="1193750" cy="555427"/>
          </a:xfrm>
          <a:prstGeom prst="roundRect">
            <a:avLst>
              <a:gd name="adj" fmla="val 13719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93535" y="3420666"/>
            <a:ext cx="9067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93535" y="3658791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candidates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7250" y="3950791"/>
            <a:ext cx="4159300" cy="606326"/>
          </a:xfrm>
          <a:prstGeom prst="roundRect">
            <a:avLst>
              <a:gd name="adj" fmla="val 125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55146" y="4077742"/>
            <a:ext cx="39835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98.4% Filtered Out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5146" y="4287292"/>
            <a:ext cx="3983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best proceed to MD/FEP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Force Field?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for How Atoms Push and Pull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63476"/>
            <a:ext cx="8636198" cy="710952"/>
          </a:xfrm>
          <a:prstGeom prst="roundRect">
            <a:avLst>
              <a:gd name="adj" fmla="val 1429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784027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VIDEO GAME...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0501" y="98717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Mario, there are RULES: gravity pulls Mario down, walls stop him, springs bounce him up.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0501" y="112052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"force field" is the RULES for how atoms behave - what pushes them, what pulls them, what stops them!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1979" y="1437829"/>
            <a:ext cx="1409402" cy="1117104"/>
          </a:xfrm>
          <a:prstGeom prst="roundRect">
            <a:avLst>
              <a:gd name="adj" fmla="val 68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9429" y="16917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7880" y="1761530"/>
            <a:ext cx="317450" cy="63401"/>
          </a:xfrm>
          <a:prstGeom prst="roundRect">
            <a:avLst>
              <a:gd name="adj" fmla="val 6009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40631" y="16917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1415" y="2098030"/>
            <a:ext cx="1230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BONDS = Springs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1415" y="2237631"/>
            <a:ext cx="1230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Atoms connected by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41415" y="2358182"/>
            <a:ext cx="1230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stretchy springs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862882" y="1437829"/>
            <a:ext cx="1409402" cy="1117104"/>
          </a:xfrm>
          <a:prstGeom prst="roundRect">
            <a:avLst>
              <a:gd name="adj" fmla="val 68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50132" y="166628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324103" y="1688455"/>
            <a:ext cx="105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30984" y="166628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727725" y="1688455"/>
            <a:ext cx="604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52318" y="2098030"/>
            <a:ext cx="1230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 = Magnets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52318" y="2237631"/>
            <a:ext cx="1230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and - attract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952318" y="2358182"/>
            <a:ext cx="1230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charges repel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73785" y="1437829"/>
            <a:ext cx="1409402" cy="1117104"/>
          </a:xfrm>
          <a:prstGeom prst="roundRect">
            <a:avLst>
              <a:gd name="adj" fmla="val 68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780086" y="1628180"/>
            <a:ext cx="330101" cy="330101"/>
          </a:xfrm>
          <a:prstGeom prst="roundRect">
            <a:avLst>
              <a:gd name="adj" fmla="val 277006"/>
            </a:avLst>
          </a:prstGeom>
          <a:noFill/>
          <a:ln w="38100">
            <a:solidFill>
              <a:srgbClr val="66666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46786" y="1628180"/>
            <a:ext cx="330101" cy="330101"/>
          </a:xfrm>
          <a:prstGeom prst="roundRect">
            <a:avLst>
              <a:gd name="adj" fmla="val 277006"/>
            </a:avLst>
          </a:prstGeom>
          <a:noFill/>
          <a:ln w="38100">
            <a:solidFill>
              <a:srgbClr val="66666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63222" y="2098030"/>
            <a:ext cx="1230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BUMPING = Balls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63222" y="2237631"/>
            <a:ext cx="1230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Atoms can't overlap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463222" y="2358182"/>
            <a:ext cx="1230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bounce off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53901" y="2618333"/>
            <a:ext cx="4627513" cy="323850"/>
          </a:xfrm>
          <a:prstGeom prst="roundRect">
            <a:avLst>
              <a:gd name="adj" fmla="val 23529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4781" y="2713583"/>
            <a:ext cx="45257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 = Physics rules for atoms | Like game physics but for molecules!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33814" y="1437829"/>
            <a:ext cx="3856286" cy="685502"/>
          </a:xfrm>
          <a:prstGeom prst="roundRect">
            <a:avLst>
              <a:gd name="adj" fmla="val 1111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052864" y="1437829"/>
            <a:ext cx="0" cy="68550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48114" y="1514029"/>
            <a:ext cx="373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Rules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48114" y="1685479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physics (quantum) is TOO slow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148114" y="1806029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fields are "good enough" shortcuts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148114" y="1926580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enough to simulate millions of steps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33814" y="2174081"/>
            <a:ext cx="3856286" cy="685502"/>
          </a:xfrm>
          <a:prstGeom prst="roundRect">
            <a:avLst>
              <a:gd name="adj" fmla="val 1111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052864" y="2174081"/>
            <a:ext cx="0" cy="68550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48114" y="2250281"/>
            <a:ext cx="373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Main Rules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48114" y="2421731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Bonds stretch like springs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48114" y="2542282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Charges attract/repel like magnets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48114" y="2662833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Atoms bounce off each other like balls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033814" y="2910334"/>
            <a:ext cx="3856286" cy="685502"/>
          </a:xfrm>
          <a:prstGeom prst="roundRect">
            <a:avLst>
              <a:gd name="adj" fmla="val 1111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110014" y="2986534"/>
            <a:ext cx="37779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Fields I Used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10014" y="3157984"/>
            <a:ext cx="37779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ff14SB - rules for proteins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110014" y="3278535"/>
            <a:ext cx="37779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GAFF2 - rules for drug molecules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110014" y="3399086"/>
            <a:ext cx="37779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OpenFF 2.1 - newer, better rules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033814" y="3646587"/>
            <a:ext cx="3856286" cy="564952"/>
          </a:xfrm>
          <a:prstGeom prst="roundRect">
            <a:avLst>
              <a:gd name="adj" fmla="val 1348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052864" y="3646587"/>
            <a:ext cx="0" cy="5649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148114" y="3722787"/>
            <a:ext cx="373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Problem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48114" y="3894237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changes (like R702W) are HARD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148114" y="4014788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we need FEP!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Molecular Dynamics (MD)?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Molecules Wiggle Over 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63476"/>
            <a:ext cx="8636198" cy="710952"/>
          </a:xfrm>
          <a:prstGeom prst="roundRect">
            <a:avLst>
              <a:gd name="adj" fmla="val 1429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784027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STOP-MOTION MOVIE...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0501" y="98717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take a photo, move the toy a tiny bit, take another photo... do this 1000 times and you have a movie!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0501" y="112052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is the same: calculate where atoms move, save it, repeat millions of times = movie of molecules wiggling!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3901" y="1501229"/>
            <a:ext cx="1054001" cy="736550"/>
          </a:xfrm>
          <a:prstGeom prst="roundRect">
            <a:avLst>
              <a:gd name="adj" fmla="val 6897"/>
            </a:avLst>
          </a:prstGeom>
          <a:solidFill>
            <a:srgbClr val="87CEEB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5151" y="1666280"/>
            <a:ext cx="571500" cy="406301"/>
          </a:xfrm>
          <a:prstGeom prst="roundRect">
            <a:avLst>
              <a:gd name="adj" fmla="val 4688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3859" y="2263080"/>
            <a:ext cx="2999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 ns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384102" y="1615529"/>
            <a:ext cx="10580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64035" y="1501229"/>
            <a:ext cx="1054001" cy="736550"/>
          </a:xfrm>
          <a:prstGeom prst="roundRect">
            <a:avLst>
              <a:gd name="adj" fmla="val 6897"/>
            </a:avLst>
          </a:prstGeom>
          <a:solidFill>
            <a:srgbClr val="87CEEB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05285" y="1666280"/>
            <a:ext cx="571500" cy="406301"/>
          </a:xfrm>
          <a:prstGeom prst="roundRect">
            <a:avLst>
              <a:gd name="adj" fmla="val 5626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19288" y="2263080"/>
            <a:ext cx="3503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10 ns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694236" y="1615529"/>
            <a:ext cx="10580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74169" y="1501229"/>
            <a:ext cx="1054001" cy="736550"/>
          </a:xfrm>
          <a:prstGeom prst="roundRect">
            <a:avLst>
              <a:gd name="adj" fmla="val 6897"/>
            </a:avLst>
          </a:prstGeom>
          <a:solidFill>
            <a:srgbClr val="87CEEB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115419" y="1666280"/>
            <a:ext cx="571500" cy="406301"/>
          </a:xfrm>
          <a:prstGeom prst="roundRect">
            <a:avLst>
              <a:gd name="adj" fmla="val 6251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29421" y="2263080"/>
            <a:ext cx="3503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20 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004370" y="1615529"/>
            <a:ext cx="10580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84303" y="1501229"/>
            <a:ext cx="1054001" cy="736550"/>
          </a:xfrm>
          <a:prstGeom prst="roundRect">
            <a:avLst>
              <a:gd name="adj" fmla="val 6897"/>
            </a:avLst>
          </a:prstGeom>
          <a:solidFill>
            <a:srgbClr val="87CEEB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25553" y="1666280"/>
            <a:ext cx="571500" cy="406301"/>
          </a:xfrm>
          <a:prstGeom prst="roundRect">
            <a:avLst>
              <a:gd name="adj" fmla="val 4688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39555" y="2263080"/>
            <a:ext cx="3503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30 ns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53901" y="2485281"/>
            <a:ext cx="2441525" cy="514350"/>
          </a:xfrm>
          <a:prstGeom prst="roundRect">
            <a:avLst>
              <a:gd name="adj" fmla="val 987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07210" y="2561481"/>
            <a:ext cx="23349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 = PHOTO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7210" y="2732931"/>
            <a:ext cx="2334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in time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07210" y="2828181"/>
            <a:ext cx="2334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movement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796927" y="2485281"/>
            <a:ext cx="2441525" cy="514350"/>
          </a:xfrm>
          <a:prstGeom prst="roundRect">
            <a:avLst>
              <a:gd name="adj" fmla="val 987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850236" y="2561481"/>
            <a:ext cx="23349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= MOVIE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50236" y="2732931"/>
            <a:ext cx="2334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wiggles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850236" y="2828181"/>
            <a:ext cx="2334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can adjust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53901" y="3063032"/>
            <a:ext cx="4984403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72951" y="3063032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5402" y="3126432"/>
            <a:ext cx="4915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(Simple!)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5402" y="3266033"/>
            <a:ext cx="4915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Put protein + drug in a box of water (like a fish tank)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55402" y="3373934"/>
            <a:ext cx="4915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Ask: which way does each atom WANT to move? (use force field rules)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55402" y="3481834"/>
            <a:ext cx="4915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Move every atom a TINY bit (0.000000000000002 seconds!)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55402" y="3589734"/>
            <a:ext cx="4915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Repeat 10 MILLION times --&gt; watch protein wiggle for 20 nanoseconds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90704" y="1437829"/>
            <a:ext cx="3499396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409754" y="1437829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92204" y="1501229"/>
            <a:ext cx="3401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Wiggling Matters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92204" y="1640830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LIE! Proteins never sit still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492204" y="1748730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body temperature, everything jiggles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92204" y="1856631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drug STAY in the pocket?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92204" y="1964531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does it fall out when wiggling?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390704" y="2186583"/>
            <a:ext cx="3499396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409754" y="2186583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92204" y="2249984"/>
            <a:ext cx="3401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Scales (Mind-Blowing!)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92204" y="2389584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step = 2 femtoseconds (super tiny!)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492204" y="2497485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nanosecond = 500,000 steps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492204" y="2605385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sims: 20-30 ns each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492204" y="2713286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10-15 MILLION calculations!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390704" y="2935337"/>
            <a:ext cx="3499396" cy="698004"/>
          </a:xfrm>
          <a:prstGeom prst="roundRect">
            <a:avLst>
              <a:gd name="adj" fmla="val 1091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454104" y="2998738"/>
            <a:ext cx="34400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MD Simulations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454104" y="3138339"/>
            <a:ext cx="34400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 total simulation time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454104" y="3246239"/>
            <a:ext cx="34400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systems: WT, R702W x 2 drugs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454104" y="3354139"/>
            <a:ext cx="34400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OpenMM on GPU cluster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454104" y="3462040"/>
            <a:ext cx="34400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Took several days to run!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MD Simulations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352252"/>
          </a:xfrm>
          <a:prstGeom prst="roundRect">
            <a:avLst>
              <a:gd name="adj" fmla="val 56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971550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and Force Fields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50" y="1244501"/>
            <a:ext cx="439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44788" y="1244501"/>
            <a:ext cx="7628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 8.0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438126"/>
            <a:ext cx="640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FF: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9561" y="1438126"/>
            <a:ext cx="921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ff14SB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50" y="1631752"/>
            <a:ext cx="619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Ligand FF: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76377" y="1631752"/>
            <a:ext cx="4245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GAFF2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1825377"/>
            <a:ext cx="7653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model: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9778" y="1825377"/>
            <a:ext cx="3599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TIP3P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2298353"/>
            <a:ext cx="4127599" cy="1352252"/>
          </a:xfrm>
          <a:prstGeom prst="roundRect">
            <a:avLst>
              <a:gd name="adj" fmla="val 56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9850" y="2450753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Parameters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50" y="2723704"/>
            <a:ext cx="763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53768" y="2723704"/>
            <a:ext cx="345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50" y="2917329"/>
            <a:ext cx="554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15333" y="2917329"/>
            <a:ext cx="6908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bar (NPT)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50" y="3110954"/>
            <a:ext cx="5997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step: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73723" y="3110954"/>
            <a:ext cx="223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9850" y="3304580"/>
            <a:ext cx="8060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trajectory: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67907" y="3304580"/>
            <a:ext cx="3312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98950" y="819150"/>
            <a:ext cx="4127599" cy="1206401"/>
          </a:xfrm>
          <a:prstGeom prst="roundRect">
            <a:avLst>
              <a:gd name="adj" fmla="val 631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22763" y="819150"/>
            <a:ext cx="0" cy="1206401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8975" y="971550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Breakdown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8975" y="1292126"/>
            <a:ext cx="971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Wild-type NOD2: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95058" y="1244501"/>
            <a:ext cx="18146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x 20ns = 280 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98975" y="1606451"/>
            <a:ext cx="8997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Mutant: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95058" y="1558826"/>
            <a:ext cx="18146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x 20ns = 240 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98950" y="2152501"/>
            <a:ext cx="4127599" cy="1336477"/>
          </a:xfrm>
          <a:prstGeom prst="roundRect">
            <a:avLst>
              <a:gd name="adj" fmla="val 570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51984" y="2343001"/>
            <a:ext cx="3821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Simulation Time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51984" y="2615952"/>
            <a:ext cx="38215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4851984" y="3146078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molecular dynamics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98950" y="3615928"/>
            <a:ext cx="4127599" cy="981075"/>
          </a:xfrm>
          <a:prstGeom prst="roundRect">
            <a:avLst>
              <a:gd name="adj" fmla="val 77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51350" y="3768328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51350" y="401597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Ligands remained stably bound in pocket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51350" y="4158853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unbinding events observed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51350" y="430172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structure remained intact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and Mutation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399877"/>
          </a:xfrm>
          <a:prstGeom prst="roundRect">
            <a:avLst>
              <a:gd name="adj" fmla="val 544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1263" y="819150"/>
            <a:ext cx="0" cy="1399877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7475" y="971550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Site Confirmed by 3 Tools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7475" y="1244501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4226" y="1254026"/>
            <a:ext cx="17275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Chai-1: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structure prediction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7475" y="1457176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4226" y="1466701"/>
            <a:ext cx="19915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DiffDock: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Diffusion-based docking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7475" y="1669852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4226" y="1679377"/>
            <a:ext cx="20153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FlowDock: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Flow-matching docking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7475" y="1933277"/>
            <a:ext cx="3850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independent methods agree on binding location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7450" y="2345978"/>
            <a:ext cx="4127599" cy="1377702"/>
          </a:xfrm>
          <a:prstGeom prst="roundRect">
            <a:avLst>
              <a:gd name="adj" fmla="val 553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9850" y="2498378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Mutation Details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50" y="277132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Wild-type: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Arginine (R) - POSITIVE charge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850" y="2964954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Mutant: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Tryptophan (W) - NEUTRAL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50" y="315857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Change: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Loss of positive charge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850" y="3377654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affects electrostatics at a distance!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950" y="819150"/>
            <a:ext cx="4127599" cy="1660178"/>
          </a:xfrm>
          <a:prstGeom prst="roundRect">
            <a:avLst>
              <a:gd name="adj" fmla="val 459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89450" y="1009650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Distance from Binding Site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89450" y="1282601"/>
            <a:ext cx="38215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79.4 Angstroms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89450" y="1657201"/>
            <a:ext cx="382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mutation is FAR from where drugs bind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89450" y="1850827"/>
            <a:ext cx="382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it still affects binding affinity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89450" y="2095202"/>
            <a:ext cx="382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ALLOSTERIC communication!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98950" y="2606278"/>
            <a:ext cx="4127599" cy="981075"/>
          </a:xfrm>
          <a:prstGeom prst="roundRect">
            <a:avLst>
              <a:gd name="adj" fmla="val 77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51350" y="2758678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Allosteric?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1350" y="300632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at one site affect another site at a DISTANCE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1350" y="3149203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pressing a button on one end of a seesaw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1350" y="329207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R702W mutation disrupts long-range communication in NOD2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Mutations Matter: R702W. WHY FEP?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339626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Charge That Disappears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3901" y="625376"/>
            <a:ext cx="8636198" cy="600075"/>
          </a:xfrm>
          <a:prstGeom prst="roundRect">
            <a:avLst>
              <a:gd name="adj" fmla="val 1693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4694" y="720626"/>
            <a:ext cx="8614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MAGNETS in a protein...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4694" y="901601"/>
            <a:ext cx="8614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Proteins have + and - spots like magnets. They pull on each other to hold the protein's shape!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64694" y="1015901"/>
            <a:ext cx="8614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mutation = one + magnet disappears! Now the whole protein shape changes slightly, even FAR away!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50565" y="1288852"/>
            <a:ext cx="1295400" cy="926753"/>
          </a:xfrm>
          <a:prstGeom prst="roundRect">
            <a:avLst>
              <a:gd name="adj" fmla="val 822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15335" y="1365052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Arginine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15335" y="1542752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 (Normal)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58516" y="16951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45137" y="1729978"/>
            <a:ext cx="105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15335" y="1999804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charge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72916" y="1609279"/>
            <a:ext cx="3972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2916" y="1780729"/>
            <a:ext cx="3972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89349" y="1288852"/>
            <a:ext cx="1295400" cy="926753"/>
          </a:xfrm>
          <a:prstGeom prst="roundRect">
            <a:avLst>
              <a:gd name="adj" fmla="val 8222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54119" y="1365052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Tryptophan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54119" y="1542752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W702 (Mutant)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97300" y="16951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6666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86500" y="1729978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54119" y="1999804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charge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3901" y="2266355"/>
            <a:ext cx="4627513" cy="523577"/>
          </a:xfrm>
          <a:prstGeom prst="roundRect">
            <a:avLst>
              <a:gd name="adj" fmla="val 14554"/>
            </a:avLst>
          </a:prstGeom>
          <a:solidFill>
            <a:srgbClr val="F4F6F6"/>
          </a:solidFill>
          <a:ln w="19050">
            <a:solidFill>
              <a:srgbClr val="E76F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1725" y="2348805"/>
            <a:ext cx="455186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79.4 Angstroms away!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91725" y="2612231"/>
            <a:ext cx="45518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from mutation to where drug binds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53901" y="2840682"/>
            <a:ext cx="4627513" cy="475952"/>
          </a:xfrm>
          <a:prstGeom prst="roundRect">
            <a:avLst>
              <a:gd name="adj" fmla="val 1601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2294" y="2904083"/>
            <a:ext cx="4590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"ALLOSTERIC" Effect = Action at a Distance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2294" y="3062734"/>
            <a:ext cx="4590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is FAR from drug pocket, but STILL affects how drug binds!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72294" y="3157984"/>
            <a:ext cx="4590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pulling a string on one end of a sweater - the whole thing shifts!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033814" y="1288852"/>
            <a:ext cx="3856286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052864" y="1288852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22664" y="1339602"/>
            <a:ext cx="37910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Charge Matters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22664" y="1479203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Proteins are held together by charges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122664" y="1587103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attracts - (like magnets!)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22664" y="1695004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 + charge = network disrupted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122664" y="1802904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protein shape shifts slightly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033814" y="1999655"/>
            <a:ext cx="3856286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052864" y="1999655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22664" y="2050405"/>
            <a:ext cx="37910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Hard to Calculate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22664" y="2190006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methods (MM-GBSA) miss this!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122664" y="2297906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don't "feel" the distant effects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22664" y="2405807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captures the whole protein response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22664" y="2513707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why FEP is worth the extra time!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033814" y="2710458"/>
            <a:ext cx="3856286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052864" y="2710458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122664" y="2761208"/>
            <a:ext cx="37910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Impact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22664" y="2900809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works great in normal NOD2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122664" y="3008709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Might NOT work in Crohn's patients!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122664" y="3116610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have the R702W mutation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122664" y="3224510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test BOTH versions!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033814" y="3421261"/>
            <a:ext cx="3856286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052864" y="3421261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122664" y="3472011"/>
            <a:ext cx="37910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Did This Project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22664" y="3611612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studies ignore the mutation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122664" y="3719512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tested drugs in BOTH WT and R702W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122664" y="3827413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Febuxostat fails in mutant!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122664" y="3935313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key finding!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Free Energy?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Does the Drug WANT to Stick?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63476"/>
            <a:ext cx="8636198" cy="710952"/>
          </a:xfrm>
          <a:prstGeom prst="roundRect">
            <a:avLst>
              <a:gd name="adj" fmla="val 1429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784027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BALL on a HILL...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0501" y="98717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ball at the top of a hill - it ROLLS DOWN by itself! It WANTS to go down. That's "negative" energy - it happens naturally.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0501" y="112052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 ball UP a hill? That's HARD. You need to add energy. That's "positive" energy - it doesn't want to happen.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3901" y="1437829"/>
            <a:ext cx="4627513" cy="1098203"/>
          </a:xfrm>
          <a:prstGeom prst="roundRect">
            <a:avLst>
              <a:gd name="adj" fmla="val 69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1156" y="1539329"/>
            <a:ext cx="45130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Rolling = Drug Binding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67284" y="129182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107916" y="2020801"/>
            <a:ext cx="721738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16968" y="2015579"/>
            <a:ext cx="5137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Rolls DOWN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36749" y="2250430"/>
            <a:ext cx="6775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&lt; 0 (GOOD!)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579465" y="129182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320246" y="2020801"/>
            <a:ext cx="721738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05646" y="2015579"/>
            <a:ext cx="3578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UP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405783" y="2250430"/>
            <a:ext cx="5616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&gt; 0 (BAD)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53901" y="2599432"/>
            <a:ext cx="4627513" cy="1949351"/>
          </a:xfrm>
          <a:prstGeom prst="roundRect">
            <a:avLst>
              <a:gd name="adj" fmla="val 390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0101" y="2675632"/>
            <a:ext cx="4564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Drug Binding "Stickiness" Scale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0101" y="2986683"/>
            <a:ext cx="518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9552" y="3015258"/>
            <a:ext cx="1143000" cy="7620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184053" y="2996208"/>
            <a:ext cx="13181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sticky! (amazing drug)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0101" y="3386733"/>
            <a:ext cx="518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9552" y="3415308"/>
            <a:ext cx="762000" cy="7620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803053" y="3396258"/>
            <a:ext cx="1122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Pretty sticky (good drug)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0101" y="3786783"/>
            <a:ext cx="518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9552" y="3815358"/>
            <a:ext cx="381000" cy="7620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422053" y="3796308"/>
            <a:ext cx="9208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Barely sticks (weak)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0101" y="4186833"/>
            <a:ext cx="518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9552" y="4215408"/>
            <a:ext cx="126950" cy="76200"/>
          </a:xfrm>
          <a:prstGeom prst="roundRect">
            <a:avLst>
              <a:gd name="adj" fmla="val 33333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168003" y="4196358"/>
            <a:ext cx="9364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off (no binding)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33814" y="1437829"/>
            <a:ext cx="3856286" cy="590104"/>
          </a:xfrm>
          <a:prstGeom prst="roundRect">
            <a:avLst>
              <a:gd name="adj" fmla="val 1291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052864" y="1437829"/>
            <a:ext cx="0" cy="5901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35314" y="1501229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"Delta G" = Free Energy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35314" y="1640830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DG:</a:t>
            </a: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Drug WANTS to stick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135314" y="1748730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ball rolling downhill - happens naturally!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135314" y="1856631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 = sticks tighter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33814" y="2078682"/>
            <a:ext cx="3856286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052864" y="2078682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35314" y="2142083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"Free"?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35314" y="2281684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energy "free" to do work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35314" y="2389584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two things: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35314" y="2497485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strength (enthalpy)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135314" y="2605385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Wiggling lost (entropy)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033814" y="2827437"/>
            <a:ext cx="3856286" cy="393502"/>
          </a:xfrm>
          <a:prstGeom prst="roundRect">
            <a:avLst>
              <a:gd name="adj" fmla="val 1936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059920" y="2890838"/>
            <a:ext cx="38040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DH - T*DS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59920" y="3062288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(Bond strength) - (Temperature x Wiggling freedom)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033814" y="3271689"/>
            <a:ext cx="3856286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052864" y="3271689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135314" y="3335089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35314" y="3474690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tells us HOW TIGHTLY drug binds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135314" y="3582591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DG = drug stays stuck longer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135314" y="3690491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DG = smaller dose needed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135314" y="3798391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DG = better drug!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96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Kd: The Affinity Scale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46032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Binding Numbers Actually Mean?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7450" y="892076"/>
            <a:ext cx="8509099" cy="1533227"/>
          </a:xfrm>
          <a:prstGeom prst="roundRect">
            <a:avLst>
              <a:gd name="adj" fmla="val 497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9850" y="1044476"/>
            <a:ext cx="835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binding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6229" y="1044476"/>
            <a:ext cx="1007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binding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314301"/>
            <a:ext cx="2051149" cy="3810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21000" y="1314301"/>
            <a:ext cx="2051149" cy="38100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149" y="1314301"/>
            <a:ext cx="2051149" cy="3810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23298" y="1314301"/>
            <a:ext cx="2051149" cy="3810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41340" y="1212800"/>
            <a:ext cx="2499271" cy="622250"/>
          </a:xfrm>
          <a:prstGeom prst="roundRect">
            <a:avLst>
              <a:gd name="adj" fmla="val 8164"/>
            </a:avLst>
          </a:prstGeom>
          <a:noFill/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26471" y="1003250"/>
            <a:ext cx="1128861" cy="367903"/>
          </a:xfrm>
          <a:prstGeom prst="roundRect">
            <a:avLst>
              <a:gd name="adj" fmla="val 10356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02671" y="1130052"/>
            <a:ext cx="9959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Approved Drugs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9691" y="182225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9691" y="2019002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Barely sticks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9691" y="2158603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useful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55824" y="182225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55824" y="2019002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binder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855824" y="2158603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point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51957" y="182225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1957" y="2019002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drug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51957" y="2158603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target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48090" y="182225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48090" y="2019002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Extremely tight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48090" y="2158603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Suspicious!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7450" y="2552254"/>
            <a:ext cx="8509099" cy="406301"/>
          </a:xfrm>
          <a:prstGeom prst="roundRect">
            <a:avLst>
              <a:gd name="adj" fmla="val 1875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1849" y="2679204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= concentration where HALF the protein has drug bound | Lower Kd = tighter binding = better drug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7450" y="3085505"/>
            <a:ext cx="2734717" cy="961876"/>
          </a:xfrm>
          <a:prstGeom prst="roundRect">
            <a:avLst>
              <a:gd name="adj" fmla="val 79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36500" y="3085505"/>
            <a:ext cx="0" cy="96187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2501" y="3212455"/>
            <a:ext cx="24915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2501" y="340608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= exp(DG / RT)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501" y="357753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-10 kcal/mol --&gt; Kd ~ 25 nM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501" y="374898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-15 kcal/mol --&gt; Kd ~ 5 pM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4567" y="3085505"/>
            <a:ext cx="2734717" cy="961876"/>
          </a:xfrm>
          <a:prstGeom prst="roundRect">
            <a:avLst>
              <a:gd name="adj" fmla="val 79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223617" y="3085505"/>
            <a:ext cx="0" cy="96187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69618" y="3212455"/>
            <a:ext cx="24915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69618" y="340608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Kd = drug stays bound longer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69618" y="357753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Kd = lower dose needed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69618" y="374898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Kd = fewer side effects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91684" y="3085505"/>
            <a:ext cx="2734717" cy="961876"/>
          </a:xfrm>
          <a:prstGeom prst="roundRect">
            <a:avLst>
              <a:gd name="adj" fmla="val 79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110734" y="3085505"/>
            <a:ext cx="0" cy="961876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56734" y="3212455"/>
            <a:ext cx="24915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56734" y="340608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below 100 pM is RARE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56734" y="357753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indicate calculation error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56734" y="374898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experimental validation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17450" y="4174331"/>
            <a:ext cx="8509099" cy="345877"/>
          </a:xfrm>
          <a:prstGeom prst="roundRect">
            <a:avLst>
              <a:gd name="adj" fmla="val 2203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35890" y="4275832"/>
            <a:ext cx="8472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Results: Febuxostat Kd ~ 25 nM (good) | Bufadienolide Kd ~ 5 pM (suspiciously tight - needs validation!)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7877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 Numbers Mean?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93502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Translating DG to Drug Quality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739378"/>
            <a:ext cx="4795242" cy="269677"/>
          </a:xfrm>
          <a:prstGeom prst="roundRect">
            <a:avLst>
              <a:gd name="adj" fmla="val 1883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0851" y="802779"/>
            <a:ext cx="46321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AFFINITY SCALE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3901" y="1009055"/>
            <a:ext cx="4795242" cy="403294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101" y="1085255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9151" y="1085255"/>
            <a:ext cx="0" cy="641152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8951" y="1262955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 kcal/mol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0052" y="1348680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100 uM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41153" y="1348680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binder - not useful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0101" y="1764506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49151" y="1764506"/>
            <a:ext cx="0" cy="641152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8951" y="1942207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 kcal/mol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0052" y="2027932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1 uM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41153" y="2027932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 lead compound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0101" y="2443758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49151" y="2443758"/>
            <a:ext cx="0" cy="6411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8951" y="2621459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 kcal/mol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0052" y="2707184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25 nM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41153" y="2707184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drug candidate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0101" y="3123009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49151" y="3123009"/>
            <a:ext cx="0" cy="6411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8951" y="3300710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 kcal/mol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0052" y="3386435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1 nM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41153" y="3386435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drug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0101" y="3802261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49151" y="3802261"/>
            <a:ext cx="0" cy="64115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8951" y="3979962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 kcal/mol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0052" y="4065687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5 pM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41153" y="4065687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SUSPICIOUSLY tight!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1543" y="739378"/>
            <a:ext cx="3688556" cy="641300"/>
          </a:xfrm>
          <a:prstGeom prst="roundRect">
            <a:avLst>
              <a:gd name="adj" fmla="val 1188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42381" y="815578"/>
            <a:ext cx="3606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Formula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42381" y="987028"/>
            <a:ext cx="3606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Kd = exp(DG / RT)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42381" y="1171129"/>
            <a:ext cx="3606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0.00199 kcal/mol/K, T = 300K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01543" y="1444079"/>
            <a:ext cx="3688556" cy="729853"/>
          </a:xfrm>
          <a:prstGeom prst="roundRect">
            <a:avLst>
              <a:gd name="adj" fmla="val 1044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220593" y="1444079"/>
            <a:ext cx="0" cy="72985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15843" y="1520279"/>
            <a:ext cx="3568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Kd?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15843" y="1678930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Dissociation constant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15843" y="1818531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where 50% is bound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15843" y="1958132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Kd = TIGHTER binding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01543" y="2237333"/>
            <a:ext cx="3688556" cy="653951"/>
          </a:xfrm>
          <a:prstGeom prst="roundRect">
            <a:avLst>
              <a:gd name="adj" fmla="val 1165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5220593" y="2237333"/>
            <a:ext cx="0" cy="653951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15843" y="2313533"/>
            <a:ext cx="3568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Approved Drugs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15843" y="2472184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drugs: -8 to -12 kcal/mol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15843" y="2586484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range: 1 nM to 1 uM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315843" y="2700784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tighter is unusual!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01543" y="2954685"/>
            <a:ext cx="3688556" cy="729853"/>
          </a:xfrm>
          <a:prstGeom prst="roundRect">
            <a:avLst>
              <a:gd name="adj" fmla="val 1044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220593" y="2954685"/>
            <a:ext cx="0" cy="729853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15843" y="3030885"/>
            <a:ext cx="3568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Sign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15843" y="3189536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-15 kcal/mol is EXTREMELY tight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15843" y="3329136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indicate calculation issues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15843" y="3468737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experimental validation!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FEP? (Free Energy Perturbation)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339626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Magic Ghost Trick for Measuring Binding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5376"/>
            <a:ext cx="8686800" cy="600075"/>
          </a:xfrm>
          <a:prstGeom prst="roundRect">
            <a:avLst>
              <a:gd name="adj" fmla="val 1693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8887" y="720626"/>
            <a:ext cx="86662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you could turn something into a GHOST...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8887" y="901601"/>
            <a:ext cx="86662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directly measure how tightly your hand grips a ball. BUT what if you could slowly make the ball turn into a ghost?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8887" y="1015901"/>
            <a:ext cx="86662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You'd feel the "pull" getting weaker and weaker. Add up all those tiny changes = total grip strength! That's FEP!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1276201"/>
            <a:ext cx="4669036" cy="1142554"/>
          </a:xfrm>
          <a:prstGeom prst="roundRect">
            <a:avLst>
              <a:gd name="adj" fmla="val 666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9634" y="1352401"/>
            <a:ext cx="4606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Slowly Making the Drug Disappear (like a ghost!)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27893" y="1517452"/>
            <a:ext cx="634901" cy="482501"/>
          </a:xfrm>
          <a:prstGeom prst="roundRect">
            <a:avLst>
              <a:gd name="adj" fmla="val 15793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4343" y="164440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46993" y="1657052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3992" y="2025253"/>
            <a:ext cx="2066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7729" y="2145804"/>
            <a:ext cx="4233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SOLID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50379" y="2256830"/>
            <a:ext cx="3975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there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608981" y="1844278"/>
            <a:ext cx="194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5668" y="1517452"/>
            <a:ext cx="634901" cy="482501"/>
          </a:xfrm>
          <a:prstGeom prst="roundRect">
            <a:avLst>
              <a:gd name="adj" fmla="val 15793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52117" y="164440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45718" y="1657052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5A89A"/>
          </a:solidFill>
          <a:ln w="9525">
            <a:solidFill>
              <a:srgbClr val="E76F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22327" y="2025253"/>
            <a:ext cx="287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328118" y="2145804"/>
            <a:ext cx="4793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FADING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389436" y="2256830"/>
            <a:ext cx="354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there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326755" y="1844278"/>
            <a:ext cx="194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63442" y="1517452"/>
            <a:ext cx="634901" cy="482501"/>
          </a:xfrm>
          <a:prstGeom prst="roundRect">
            <a:avLst>
              <a:gd name="adj" fmla="val 15793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69891" y="164440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363492" y="1657052"/>
            <a:ext cx="171450" cy="171450"/>
          </a:xfrm>
          <a:prstGeom prst="roundRect">
            <a:avLst>
              <a:gd name="adj" fmla="val 22222"/>
            </a:avLst>
          </a:prstGeom>
          <a:noFill/>
          <a:ln w="9525">
            <a:solidFill>
              <a:srgbClr val="E76F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196953" y="2025253"/>
            <a:ext cx="1712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052143" y="2145804"/>
            <a:ext cx="4664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GHOST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128343" y="2256830"/>
            <a:ext cx="3112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there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228600" y="2469505"/>
            <a:ext cx="4669036" cy="279202"/>
          </a:xfrm>
          <a:prstGeom prst="roundRect">
            <a:avLst>
              <a:gd name="adj" fmla="val 27292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66009" y="2551956"/>
            <a:ext cx="45942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weighing something as it slowly disappears - measure at each step!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28600" y="2799457"/>
            <a:ext cx="4669036" cy="241102"/>
          </a:xfrm>
          <a:prstGeom prst="roundRect">
            <a:avLst>
              <a:gd name="adj" fmla="val 3160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46578" y="2862858"/>
            <a:ext cx="46330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up all the tiny energy changes = TOTAL binding energy (DG)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4586" y="1276201"/>
            <a:ext cx="3890814" cy="564803"/>
          </a:xfrm>
          <a:prstGeom prst="roundRect">
            <a:avLst>
              <a:gd name="adj" fmla="val 1349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043636" y="1276201"/>
            <a:ext cx="0" cy="5648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13437" y="1326952"/>
            <a:ext cx="38262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FEP Solves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13437" y="1466552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directly measure: "How sticky is this drug?"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13437" y="1574453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need impossible experiment!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13437" y="1682353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computer magic - turn drug into ghost!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24586" y="1879104"/>
            <a:ext cx="3890814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043636" y="1879104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113437" y="1929854"/>
            <a:ext cx="38262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"Alchemical"?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13437" y="2069455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real life, drugs don't disappear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113437" y="2177355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in computer simulation, we CAN do this!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113437" y="2285256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doesn't care HOW we get there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113437" y="2393156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cares about START and END states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24586" y="2589907"/>
            <a:ext cx="3890814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043636" y="2589907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113437" y="2640657"/>
            <a:ext cx="38262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"Ghost-ness"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113437" y="2780258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0: Drug fully solid (there)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113437" y="2888159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0.5: Drug half ghost (fading)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113437" y="2996059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1: Drug fully ghost (gone)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113437" y="3103959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steps = smooth transformation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024586" y="3300710"/>
            <a:ext cx="3890814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043636" y="3300710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113437" y="3351461"/>
            <a:ext cx="38262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FEP is GOLD STANDARD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13437" y="3491061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accurate method known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113437" y="3598962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Pfizer, Merck, Novartis all use it!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113437" y="3706862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charge changes properly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113437" y="3814763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entropy (wiggling) correctly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7877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Windows: The FEP Slider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93502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Slowly Making the Drug Disappear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450" y="739378"/>
            <a:ext cx="8509099" cy="926753"/>
          </a:xfrm>
          <a:prstGeom prst="roundRect">
            <a:avLst>
              <a:gd name="adj" fmla="val 82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401" y="866329"/>
            <a:ext cx="12203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FULLY PRESENT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06469" y="866329"/>
            <a:ext cx="1012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FULLY GONE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4401" y="1050429"/>
            <a:ext cx="2751683" cy="20315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96084" y="1050429"/>
            <a:ext cx="2751683" cy="20315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47767" y="1050429"/>
            <a:ext cx="2751683" cy="20315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802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4194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60587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86979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13372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39764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66157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92550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18942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45335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71727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98120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24513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50905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77298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903690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30083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756475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82868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609261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44401" y="1405830"/>
            <a:ext cx="6773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0.0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39964" y="1405830"/>
            <a:ext cx="6773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0.5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35528" y="1405830"/>
            <a:ext cx="6773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1.0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30450" y="1793081"/>
            <a:ext cx="1676400" cy="958602"/>
          </a:xfrm>
          <a:prstGeom prst="roundRect">
            <a:avLst>
              <a:gd name="adj" fmla="val 794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616250" y="190738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991410" y="2301032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1410" y="2459682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SOLID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991410" y="2580233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interacting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733800" y="1793081"/>
            <a:ext cx="1676400" cy="958602"/>
          </a:xfrm>
          <a:prstGeom prst="roundRect">
            <a:avLst>
              <a:gd name="adj" fmla="val 7949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400550" y="188833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E0B2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794760" y="2301032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0.5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94760" y="2459682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HALF GHOST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794760" y="2580233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interacting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537150" y="1793081"/>
            <a:ext cx="1676400" cy="958602"/>
          </a:xfrm>
          <a:prstGeom prst="roundRect">
            <a:avLst>
              <a:gd name="adj" fmla="val 7949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03900" y="1888331"/>
            <a:ext cx="342900" cy="342900"/>
          </a:xfrm>
          <a:prstGeom prst="roundRect">
            <a:avLst>
              <a:gd name="adj" fmla="val 22222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598110" y="2301032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98110" y="2459682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INVISIBLE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598110" y="2580233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interaction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17450" y="2827883"/>
            <a:ext cx="2768650" cy="742652"/>
          </a:xfrm>
          <a:prstGeom prst="roundRect">
            <a:avLst>
              <a:gd name="adj" fmla="val 1026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336500" y="2827883"/>
            <a:ext cx="0" cy="7426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31750" y="2904083"/>
            <a:ext cx="2629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 Many Windows?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31750" y="3075533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jump from 0 to 1 directly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31750" y="3215134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smooth transition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31750" y="3354735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windows = better accuracy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187601" y="2827883"/>
            <a:ext cx="2768650" cy="742652"/>
          </a:xfrm>
          <a:prstGeom prst="roundRect">
            <a:avLst>
              <a:gd name="adj" fmla="val 1026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3206651" y="2827883"/>
            <a:ext cx="0" cy="7426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301901" y="2904083"/>
            <a:ext cx="2629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Window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301901" y="3075533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simulation for 1 ns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301901" y="3215134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energy samples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301901" y="3354735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 combines all data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057751" y="2827883"/>
            <a:ext cx="2768650" cy="742652"/>
          </a:xfrm>
          <a:prstGeom prst="roundRect">
            <a:avLst>
              <a:gd name="adj" fmla="val 1026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6076801" y="2827883"/>
            <a:ext cx="0" cy="7426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172051" y="2904083"/>
            <a:ext cx="2629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Soft-Core Potentials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172051" y="3075533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atoms overlapping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172051" y="3215134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energy landscape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172051" y="3354735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for convergence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17450" y="3646736"/>
            <a:ext cx="8509099" cy="285750"/>
          </a:xfrm>
          <a:prstGeom prst="roundRect">
            <a:avLst>
              <a:gd name="adj" fmla="val 2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10083" y="3722936"/>
            <a:ext cx="85238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Setup: 20-30 lambda windows per leg | 1 ns per window | 120 total FEP windows for 2 compounds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96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Thermodynamic Cycle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46032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FEP Calculates Binding Energy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7450" y="866626"/>
            <a:ext cx="4701778" cy="2686050"/>
          </a:xfrm>
          <a:prstGeom prst="roundRect">
            <a:avLst>
              <a:gd name="adj" fmla="val 283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268313"/>
            <a:ext cx="1777901" cy="539651"/>
          </a:xfrm>
          <a:prstGeom prst="roundRect">
            <a:avLst>
              <a:gd name="adj" fmla="val 1412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661" y="1395264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+ Drug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9661" y="1547664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(BOUND)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6339" y="1361926"/>
            <a:ext cx="5956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----&gt;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050828" y="1268313"/>
            <a:ext cx="1777901" cy="539651"/>
          </a:xfrm>
          <a:prstGeom prst="roundRect">
            <a:avLst>
              <a:gd name="adj" fmla="val 1412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62538" y="1395264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+ Ghost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62538" y="1547664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(drug disappears)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7034" y="1526828"/>
            <a:ext cx="605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6401" y="1844129"/>
            <a:ext cx="673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DG_complex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79500" y="2028081"/>
            <a:ext cx="1165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01963" y="1526828"/>
            <a:ext cx="605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33031" y="1844129"/>
            <a:ext cx="609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DG_solvent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74430" y="2028081"/>
            <a:ext cx="1165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7950" y="2611338"/>
            <a:ext cx="1777901" cy="539651"/>
          </a:xfrm>
          <a:prstGeom prst="roundRect">
            <a:avLst>
              <a:gd name="adj" fmla="val 1412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9661" y="2738289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in Water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661" y="2890689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6339" y="2704951"/>
            <a:ext cx="5956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----&gt;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050828" y="2611338"/>
            <a:ext cx="1777901" cy="539651"/>
          </a:xfrm>
          <a:prstGeom prst="roundRect">
            <a:avLst>
              <a:gd name="adj" fmla="val 1412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162538" y="2738289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Water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62538" y="2890689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(drug disappears)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7450" y="3654177"/>
            <a:ext cx="4701778" cy="669875"/>
          </a:xfrm>
          <a:prstGeom prst="roundRect">
            <a:avLst>
              <a:gd name="adj" fmla="val 1137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5881" y="3806577"/>
            <a:ext cx="44849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DG_bind = DG_solvent - DG_complex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5881" y="4038302"/>
            <a:ext cx="4484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tells us binding strength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09729" y="866626"/>
            <a:ext cx="3616821" cy="1031230"/>
          </a:xfrm>
          <a:prstGeom prst="roundRect">
            <a:avLst>
              <a:gd name="adj" fmla="val 738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228779" y="866626"/>
            <a:ext cx="0" cy="103123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49329" y="968127"/>
            <a:ext cx="3443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Cycle?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329" y="1161752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directly measure binding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329" y="1320403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CAN measure disappearing!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329" y="1479054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Thermodynamics: path doesn't matter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49329" y="1637705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start and end states matter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09729" y="1974056"/>
            <a:ext cx="3616821" cy="713929"/>
          </a:xfrm>
          <a:prstGeom prst="roundRect">
            <a:avLst>
              <a:gd name="adj" fmla="val 106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228779" y="1974056"/>
            <a:ext cx="0" cy="7139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49329" y="2075557"/>
            <a:ext cx="3443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Legs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329" y="2269182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leg: Drug disappears while bound to protein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9329" y="2427833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SOLVENT leg: Drug disappears in water (reference)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09729" y="2764185"/>
            <a:ext cx="3616821" cy="923479"/>
          </a:xfrm>
          <a:prstGeom prst="roundRect">
            <a:avLst>
              <a:gd name="adj" fmla="val 825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36679" y="2891135"/>
            <a:ext cx="34301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36679" y="3084761"/>
            <a:ext cx="3430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DG_complex &lt; DG_solvent: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36679" y="3243411"/>
            <a:ext cx="3430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prefers protein over water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36679" y="3402062"/>
            <a:ext cx="3430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FAVORABLE binding!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09729" y="3763863"/>
            <a:ext cx="3616821" cy="872579"/>
          </a:xfrm>
          <a:prstGeom prst="roundRect">
            <a:avLst>
              <a:gd name="adj" fmla="val 873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228779" y="3763863"/>
            <a:ext cx="0" cy="87257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349329" y="3865364"/>
            <a:ext cx="3443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Setup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49329" y="4058989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compound: 2 legs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49329" y="4217640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leg: 20-30 windows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49329" y="4376291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~60 windows per compound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FEP is Better Than MM-GBSA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339626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Method vs The Gold Standard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3901" y="625376"/>
            <a:ext cx="4254698" cy="1247180"/>
          </a:xfrm>
          <a:prstGeom prst="roundRect">
            <a:avLst>
              <a:gd name="adj" fmla="val 6110"/>
            </a:avLst>
          </a:prstGeom>
          <a:solidFill>
            <a:srgbClr val="F0F8FF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4316" y="745927"/>
            <a:ext cx="40938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🏠⚖️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4452" y="1139577"/>
            <a:ext cx="40938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weighing a house...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452" y="1333202"/>
            <a:ext cx="4093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</a:t>
            </a: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Guessing the weight by looking at it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74452" y="1472803"/>
            <a:ext cx="4093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 house looks heavy, maybe 50 tons?"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4452" y="1612404"/>
            <a:ext cx="4093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but often WRONG!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5550" y="625376"/>
            <a:ext cx="4254698" cy="1247180"/>
          </a:xfrm>
          <a:prstGeom prst="roundRect">
            <a:avLst>
              <a:gd name="adj" fmla="val 6110"/>
            </a:avLst>
          </a:prstGeom>
          <a:solidFill>
            <a:srgbClr val="F0F8FF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15964" y="745927"/>
            <a:ext cx="40938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6100" y="1139577"/>
            <a:ext cx="40938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measuring it piece by piece...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6100" y="1333202"/>
            <a:ext cx="4093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</a:t>
            </a: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Weighing every brick, one at a time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6100" y="1472803"/>
            <a:ext cx="4093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"Brick 1 = 5 lbs, brick 2 = 5 lbs..." add them up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6100" y="1612404"/>
            <a:ext cx="4093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but ACCURATE!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3901" y="1935956"/>
            <a:ext cx="4254698" cy="1082129"/>
          </a:xfrm>
          <a:prstGeom prst="roundRect">
            <a:avLst>
              <a:gd name="adj" fmla="val 7042"/>
            </a:avLst>
          </a:prstGeom>
          <a:solidFill>
            <a:srgbClr val="FFE8E5"/>
          </a:solidFill>
          <a:ln w="19050">
            <a:solidFill>
              <a:srgbClr val="E76F5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9151" y="2031206"/>
            <a:ext cx="41454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(The Quick Guess)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9151" y="2224832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Fast - takes minutes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9151" y="2364432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Cheap - runs on any computer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9151" y="2504033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IGNORES how molecules wiggle (entropy)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49151" y="2643634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BAD at charge changes (like R702W!)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9151" y="2783235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Often gives WRONG ranking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35550" y="1935956"/>
            <a:ext cx="4254698" cy="1082129"/>
          </a:xfrm>
          <a:prstGeom prst="roundRect">
            <a:avLst>
              <a:gd name="adj" fmla="val 7042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0800" y="2031206"/>
            <a:ext cx="41454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(The Careful Measurement)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30800" y="2224832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Slow - takes days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30800" y="2364432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Expensive - needs supercomputer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30800" y="2504033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INCLUDES all the wiggling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30800" y="2643634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HANDLES charge changes properly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30800" y="2783235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Industry gold standard (Pfizer uses this!)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53901" y="3081486"/>
            <a:ext cx="2794099" cy="666452"/>
          </a:xfrm>
          <a:prstGeom prst="roundRect">
            <a:avLst>
              <a:gd name="adj" fmla="val 76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72951" y="3081486"/>
            <a:ext cx="0" cy="6664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8201" y="3157686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R702W breaks MM-GBSA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8201" y="3310086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mutation REMOVES a positive charge (+)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8201" y="3430637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 are like magnets - they pull things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8201" y="3551188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can't calculate this correctly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174950" y="3081486"/>
            <a:ext cx="2794099" cy="666452"/>
          </a:xfrm>
          <a:prstGeom prst="roundRect">
            <a:avLst>
              <a:gd name="adj" fmla="val 76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194000" y="3081486"/>
            <a:ext cx="0" cy="6664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89250" y="3157686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entropy matters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89250" y="3310086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Molecules love to wiggle and move freely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89250" y="3430637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drug binds, it STOPS the wiggling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289250" y="3551188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"costs" energy - MM-GBSA ignores this!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096000" y="3081486"/>
            <a:ext cx="2794099" cy="666452"/>
          </a:xfrm>
          <a:prstGeom prst="roundRect">
            <a:avLst>
              <a:gd name="adj" fmla="val 76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6115050" y="3081486"/>
            <a:ext cx="0" cy="6664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10300" y="3157686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10300" y="3310086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simple cases: MM-GBSA is fine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210300" y="3430637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charge mutations: MUST use FEP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210300" y="3551188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would give WRONG answer here!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53901" y="3811339"/>
            <a:ext cx="8636198" cy="266700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45263" y="3887539"/>
            <a:ext cx="86534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said mutation HELPS drug binding | FEP shows mutation HURTS it | OPPOSITE ANSWERS!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FEP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352252"/>
          </a:xfrm>
          <a:prstGeom prst="roundRect">
            <a:avLst>
              <a:gd name="adj" fmla="val 56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971550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Stack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50" y="1244501"/>
            <a:ext cx="439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44788" y="1244501"/>
            <a:ext cx="7628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 8.2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438126"/>
            <a:ext cx="705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Alchemistry: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60254" y="1438126"/>
            <a:ext cx="8490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50" y="1631752"/>
            <a:ext cx="640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71961" y="1631752"/>
            <a:ext cx="12451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OpenFF 2.1.0 (Sage)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1825377"/>
            <a:ext cx="5182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21521" y="1825377"/>
            <a:ext cx="11945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pymbar 4.0 (MBAR)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2298353"/>
            <a:ext cx="4127599" cy="1352252"/>
          </a:xfrm>
          <a:prstGeom prst="roundRect">
            <a:avLst>
              <a:gd name="adj" fmla="val 56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9850" y="2450753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Parameters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50" y="2723704"/>
            <a:ext cx="10366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windows: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16213" y="2723704"/>
            <a:ext cx="7919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per leg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50" y="2917329"/>
            <a:ext cx="10438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Sampling/window: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38451" y="2917329"/>
            <a:ext cx="2592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50" y="3110954"/>
            <a:ext cx="763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53768" y="3110954"/>
            <a:ext cx="345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9850" y="3304580"/>
            <a:ext cx="5615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Soft-core: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53110" y="3304580"/>
            <a:ext cx="8563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(for VDW)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98950" y="819150"/>
            <a:ext cx="4127599" cy="1377702"/>
          </a:xfrm>
          <a:prstGeom prst="roundRect">
            <a:avLst>
              <a:gd name="adj" fmla="val 553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22763" y="819150"/>
            <a:ext cx="0" cy="137770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8975" y="971550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Protocol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8975" y="1244501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95726" y="1254026"/>
            <a:ext cx="16413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leg: Drug in protein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8975" y="1457176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95726" y="1466701"/>
            <a:ext cx="1727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Solvent leg: Drug in water box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8975" y="1669852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95726" y="1679377"/>
            <a:ext cx="16677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for both WT and R702W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8975" y="1882527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95726" y="1892052"/>
            <a:ext cx="18787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 for free energy estimation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98950" y="2323802"/>
            <a:ext cx="4127599" cy="1095375"/>
          </a:xfrm>
          <a:prstGeom prst="roundRect">
            <a:avLst>
              <a:gd name="adj" fmla="val 695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51350" y="2476202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Tested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51350" y="27238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Febuxostat: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FDA-approved (gout drug)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51350" y="29048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Bufadienolide: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Natural product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51350" y="30858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tested on WT and R702W mutant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98950" y="3546128"/>
            <a:ext cx="4127599" cy="1336477"/>
          </a:xfrm>
          <a:prstGeom prst="roundRect">
            <a:avLst>
              <a:gd name="adj" fmla="val 570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51984" y="3736628"/>
            <a:ext cx="3821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FEP Windows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851984" y="4009579"/>
            <a:ext cx="38215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4851984" y="4539704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windows per compound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90525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Results: Visual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90500" y="466725"/>
            <a:ext cx="4710559" cy="1625203"/>
          </a:xfrm>
          <a:prstGeom prst="roundRect">
            <a:avLst>
              <a:gd name="adj" fmla="val 312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1118" y="542925"/>
            <a:ext cx="4649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Energy (DG, kcal/mol)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6700" y="1866602"/>
            <a:ext cx="4558159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6225" y="714375"/>
            <a:ext cx="0" cy="1161752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 rot="16200000">
            <a:off x="247650" y="1247626"/>
            <a:ext cx="8663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 = stronger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886992" y="1038225"/>
            <a:ext cx="253901" cy="634901"/>
          </a:xfrm>
          <a:prstGeom prst="roundRect">
            <a:avLst>
              <a:gd name="adj" fmla="val 1000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27027" y="1063526"/>
            <a:ext cx="1771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-10.4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191643" y="1177975"/>
            <a:ext cx="253901" cy="495151"/>
          </a:xfrm>
          <a:prstGeom prst="roundRect">
            <a:avLst>
              <a:gd name="adj" fmla="val 1000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52811" y="1203275"/>
            <a:ext cx="1340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929110" y="1698427"/>
            <a:ext cx="483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50480" y="758875"/>
            <a:ext cx="253901" cy="914251"/>
          </a:xfrm>
          <a:prstGeom prst="roundRect">
            <a:avLst>
              <a:gd name="adj" fmla="val 1000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90515" y="784175"/>
            <a:ext cx="1771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-15.2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955131" y="758875"/>
            <a:ext cx="253901" cy="914251"/>
          </a:xfrm>
          <a:prstGeom prst="roundRect">
            <a:avLst>
              <a:gd name="adj" fmla="val 1000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95166" y="784175"/>
            <a:ext cx="1771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-15.7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636044" y="1698427"/>
            <a:ext cx="5993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19139" y="1914227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58739" y="1922115"/>
            <a:ext cx="3455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Wild-Type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524423" y="1914227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64023" y="1922115"/>
            <a:ext cx="5184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Mutant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90500" y="2155329"/>
            <a:ext cx="4710559" cy="415826"/>
          </a:xfrm>
          <a:prstGeom prst="roundRect">
            <a:avLst>
              <a:gd name="adj" fmla="val 1221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21118" y="2206079"/>
            <a:ext cx="4649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Bufadienolide DDG = 0!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1118" y="2339429"/>
            <a:ext cx="46493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EQUALLY in WT and mutant - mutation-resistant!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1118" y="2434679"/>
            <a:ext cx="46493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Febuxostat: 50x weaker in mutant | Convergence fix pending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028009" y="466725"/>
            <a:ext cx="3925491" cy="761405"/>
          </a:xfrm>
          <a:prstGeom prst="roundRect">
            <a:avLst>
              <a:gd name="adj" fmla="val 667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91410" y="530126"/>
            <a:ext cx="3874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 (FDA Drug)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91410" y="682526"/>
            <a:ext cx="3877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(WT):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309521" y="682526"/>
            <a:ext cx="5921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-10.36 +/- 0.18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91410" y="803077"/>
            <a:ext cx="4431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(MUT):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358932" y="803077"/>
            <a:ext cx="5417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-8.02 +/- 0.19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091410" y="923627"/>
            <a:ext cx="2266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DDG: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250287" y="923627"/>
            <a:ext cx="6526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+2.34 (8 sigma)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91410" y="1044178"/>
            <a:ext cx="4687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Significant?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158907" y="1044178"/>
            <a:ext cx="7458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- 50x weaker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028009" y="1278880"/>
            <a:ext cx="3925491" cy="761405"/>
          </a:xfrm>
          <a:prstGeom prst="roundRect">
            <a:avLst>
              <a:gd name="adj" fmla="val 667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91410" y="1342281"/>
            <a:ext cx="3874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(Natural)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91410" y="1494681"/>
            <a:ext cx="3877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(WT):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309521" y="1494681"/>
            <a:ext cx="5921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-15.22 +/- 0.26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91410" y="1615232"/>
            <a:ext cx="4431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(MUT):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309521" y="1615232"/>
            <a:ext cx="5921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-15.66 +/- 0.26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91410" y="1735782"/>
            <a:ext cx="2266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DDG: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198495" y="1735782"/>
            <a:ext cx="7054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-0.44 (1.8 sigma)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91410" y="1856333"/>
            <a:ext cx="4687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Significant?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154144" y="1856333"/>
            <a:ext cx="7506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- CI crosses 0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028009" y="2091035"/>
            <a:ext cx="3925491" cy="599629"/>
          </a:xfrm>
          <a:prstGeom prst="roundRect">
            <a:avLst>
              <a:gd name="adj" fmla="val 847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091410" y="2154436"/>
            <a:ext cx="3874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0 = MUTATION-RESISTANT!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91410" y="2294037"/>
            <a:ext cx="3874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binds EQUALLY to both versions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91410" y="2420987"/>
            <a:ext cx="3874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drug could work for ALL Crohn's patients!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091410" y="2528888"/>
            <a:ext cx="38746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improve lambda window sampling</a:t>
            </a:r>
            <a:endParaRPr lang="en-US" sz="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vs FEP: Critical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339626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Old Method Would Have Fooled Us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3901" y="625376"/>
            <a:ext cx="4222849" cy="269677"/>
          </a:xfrm>
          <a:prstGeom prst="roundRect">
            <a:avLst>
              <a:gd name="adj" fmla="val 1883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6341" y="688777"/>
            <a:ext cx="4177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Predicts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3901" y="958453"/>
            <a:ext cx="4222849" cy="584002"/>
          </a:xfrm>
          <a:prstGeom prst="roundRect">
            <a:avLst>
              <a:gd name="adj" fmla="val 869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5402" y="1079004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Febuxostat: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57002" y="1098054"/>
            <a:ext cx="123825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18915" y="1059954"/>
            <a:ext cx="0" cy="152400"/>
          </a:xfrm>
          <a:prstGeom prst="line">
            <a:avLst/>
          </a:prstGeom>
          <a:noFill/>
          <a:ln w="123825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57002" y="1174254"/>
            <a:ext cx="123825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31578" y="1110704"/>
            <a:ext cx="1568946" cy="5075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51274" y="1088529"/>
            <a:ext cx="7556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in mutant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68341" y="1063228"/>
            <a:ext cx="506909" cy="145852"/>
          </a:xfrm>
          <a:prstGeom prst="roundRect">
            <a:avLst>
              <a:gd name="adj" fmla="val 26122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31741" y="1088529"/>
            <a:ext cx="3877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WRONG!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55402" y="1307604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Bufadienolide: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257002" y="1326654"/>
            <a:ext cx="123825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18915" y="1288554"/>
            <a:ext cx="0" cy="152400"/>
          </a:xfrm>
          <a:prstGeom prst="line">
            <a:avLst/>
          </a:prstGeom>
          <a:noFill/>
          <a:ln w="123825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257002" y="1402854"/>
            <a:ext cx="123825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31578" y="1339304"/>
            <a:ext cx="1608088" cy="5075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090416" y="1317129"/>
            <a:ext cx="7204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better (-3.9)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72954" y="1291828"/>
            <a:ext cx="502295" cy="145852"/>
          </a:xfrm>
          <a:prstGeom prst="roundRect">
            <a:avLst>
              <a:gd name="adj" fmla="val 26122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36355" y="1317129"/>
            <a:ext cx="3830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9x OVER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67250" y="625376"/>
            <a:ext cx="4222849" cy="269677"/>
          </a:xfrm>
          <a:prstGeom prst="roundRect">
            <a:avLst>
              <a:gd name="adj" fmla="val 1883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89690" y="688777"/>
            <a:ext cx="4177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Shows (Truth)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7250" y="958453"/>
            <a:ext cx="4222849" cy="577453"/>
          </a:xfrm>
          <a:prstGeom prst="roundRect">
            <a:avLst>
              <a:gd name="adj" fmla="val 87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68751" y="1079004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70352" y="1088529"/>
            <a:ext cx="7405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WORSE in mutant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47086" y="1110704"/>
            <a:ext cx="1524446" cy="5075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8022282" y="1098054"/>
            <a:ext cx="123825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22282" y="1174254"/>
            <a:ext cx="123825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84195" y="1059954"/>
            <a:ext cx="0" cy="152400"/>
          </a:xfrm>
          <a:prstGeom prst="line">
            <a:avLst/>
          </a:prstGeom>
          <a:noFill/>
          <a:ln w="12382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2307" y="1063228"/>
            <a:ext cx="566291" cy="145852"/>
          </a:xfrm>
          <a:prstGeom prst="roundRect">
            <a:avLst>
              <a:gd name="adj" fmla="val 2612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85708" y="1088529"/>
            <a:ext cx="4482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68751" y="1304330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70352" y="1313855"/>
            <a:ext cx="7306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(-0.44)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437412" y="1336030"/>
            <a:ext cx="1708696" cy="50750"/>
          </a:xfrm>
          <a:prstGeom prst="rect">
            <a:avLst/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22307" y="1288554"/>
            <a:ext cx="566291" cy="145852"/>
          </a:xfrm>
          <a:prstGeom prst="roundRect">
            <a:avLst>
              <a:gd name="adj" fmla="val 2612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285708" y="1313855"/>
            <a:ext cx="4482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53901" y="1618655"/>
            <a:ext cx="8636198" cy="498277"/>
          </a:xfrm>
          <a:prstGeom prst="roundRect">
            <a:avLst>
              <a:gd name="adj" fmla="val 10195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55402" y="1720155"/>
            <a:ext cx="7210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27596" y="1740843"/>
            <a:ext cx="51291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 SIGN for Febuxostat!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7596" y="1899493"/>
            <a:ext cx="51291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predicted DDG = -2.7 (mutation HELPS) | FEP shows DDG = +2.34 (mutation HURTS) | WRONG recommendations!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53901" y="2193131"/>
            <a:ext cx="2811066" cy="615702"/>
          </a:xfrm>
          <a:prstGeom prst="roundRect">
            <a:avLst>
              <a:gd name="adj" fmla="val 825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272951" y="2193131"/>
            <a:ext cx="0" cy="61570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8201" y="2269331"/>
            <a:ext cx="26729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MM-GBSA Failed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8201" y="2408932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changes charge (+ to neutral)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68201" y="2516832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electrostatics handling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68201" y="2624733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entropy contributions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166467" y="2193131"/>
            <a:ext cx="2811066" cy="615702"/>
          </a:xfrm>
          <a:prstGeom prst="roundRect">
            <a:avLst>
              <a:gd name="adj" fmla="val 825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3185517" y="2193131"/>
            <a:ext cx="0" cy="61570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280767" y="2269331"/>
            <a:ext cx="26729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FEP Succeeded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80767" y="2408932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thermodynamic sampling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80767" y="2516832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charge change treatment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280767" y="2624733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standard in pharma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079034" y="2193131"/>
            <a:ext cx="2811066" cy="615702"/>
          </a:xfrm>
          <a:prstGeom prst="roundRect">
            <a:avLst>
              <a:gd name="adj" fmla="val 825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6098084" y="2193131"/>
            <a:ext cx="0" cy="61570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193334" y="2269331"/>
            <a:ext cx="26729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Learned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93334" y="2408932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methods can be WRONG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193334" y="2516832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charge mutations: use FEP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193334" y="2624733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skeptical of easy answers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DDG?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Mutations Affect Drug Binding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015901"/>
            <a:ext cx="4606677" cy="838200"/>
          </a:xfrm>
          <a:prstGeom prst="roundRect">
            <a:avLst>
              <a:gd name="adj" fmla="val 909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2144" y="1206401"/>
            <a:ext cx="43101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DDG = DG(mutant) - DG(wild-type)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144" y="1520726"/>
            <a:ext cx="4310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in binding between mutant and normal protein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3901" y="1981051"/>
            <a:ext cx="4606677" cy="1406277"/>
          </a:xfrm>
          <a:prstGeom prst="roundRect">
            <a:avLst>
              <a:gd name="adj" fmla="val 54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2144" y="2171551"/>
            <a:ext cx="43101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Comparing Two Protein Versions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7123" y="2450902"/>
            <a:ext cx="888802" cy="345877"/>
          </a:xfrm>
          <a:prstGeom prst="roundRect">
            <a:avLst>
              <a:gd name="adj" fmla="val 1468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2545" y="2552402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(WT)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8235" y="2911078"/>
            <a:ext cx="906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protein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88830" y="2863453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50865" y="2450902"/>
            <a:ext cx="966341" cy="345877"/>
          </a:xfrm>
          <a:prstGeom prst="roundRect">
            <a:avLst>
              <a:gd name="adj" fmla="val 1468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35512" y="2552402"/>
            <a:ext cx="597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(MUT)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41202" y="2911078"/>
            <a:ext cx="985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2264" y="3158728"/>
            <a:ext cx="1269950" cy="381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3901" y="3514279"/>
            <a:ext cx="4606677" cy="895350"/>
          </a:xfrm>
          <a:prstGeom prst="roundRect">
            <a:avLst>
              <a:gd name="adj" fmla="val 8511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1575" y="3723829"/>
            <a:ext cx="427132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DDG tells us: Does the mutation HELP or HURT drug binding?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51078" y="1015901"/>
            <a:ext cx="3839021" cy="1168301"/>
          </a:xfrm>
          <a:prstGeom prst="roundRect">
            <a:avLst>
              <a:gd name="adj" fmla="val 65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78028" y="1142851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POSITIVE (+)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78028" y="1361926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DG(mut) &gt; DG(wt)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78028" y="1542901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makes binding WEAKER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78028" y="1714351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works WORSE in mutant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78028" y="1885801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DDG = +2 means 50x weaker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51078" y="2285702"/>
            <a:ext cx="3839021" cy="1168301"/>
          </a:xfrm>
          <a:prstGeom prst="roundRect">
            <a:avLst>
              <a:gd name="adj" fmla="val 65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78028" y="2412653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NEGATIVE (-)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78028" y="2631728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DG(mut) &lt; DG(wt)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78028" y="2812703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makes binding STRONGER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78028" y="2984153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works BETTER in mutant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78028" y="3155603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DDG = -2 means 50x tighter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51078" y="3555504"/>
            <a:ext cx="3839021" cy="1168301"/>
          </a:xfrm>
          <a:prstGeom prst="roundRect">
            <a:avLst>
              <a:gd name="adj" fmla="val 65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78028" y="3682454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NEAR ZERO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78028" y="3901529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DG(mut) approx DG(wt)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78028" y="408250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doesn't affect binding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8028" y="425395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works for EVERYONE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78028" y="442540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R702W patients!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 Explained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Can We Trust the Result?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450" y="688777"/>
            <a:ext cx="4537472" cy="3006179"/>
          </a:xfrm>
          <a:prstGeom prst="roundRect">
            <a:avLst>
              <a:gd name="adj" fmla="val 25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7524" y="841177"/>
            <a:ext cx="431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Bars and the Zero 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9861" y="1085552"/>
            <a:ext cx="6219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79761" y="1269653"/>
            <a:ext cx="0" cy="126995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9286" y="1904554"/>
            <a:ext cx="1269950" cy="253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5385" y="194577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798811" y="1460153"/>
            <a:ext cx="50750" cy="444401"/>
          </a:xfrm>
          <a:prstGeom prst="roundRect">
            <a:avLst>
              <a:gd name="adj" fmla="val 5004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60711" y="162520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47635" y="2590354"/>
            <a:ext cx="5342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+2.34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464446" y="2736354"/>
            <a:ext cx="7005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[+1.82, +2.86]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373386" y="2933105"/>
            <a:ext cx="882700" cy="285750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42283" y="3009305"/>
            <a:ext cx="744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79688" y="1085552"/>
            <a:ext cx="7708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22662" y="1269653"/>
            <a:ext cx="0" cy="126995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32187" y="1904554"/>
            <a:ext cx="1269950" cy="253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478286" y="194577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41712" y="1714054"/>
            <a:ext cx="50750" cy="571500"/>
          </a:xfrm>
          <a:prstGeom prst="roundRect">
            <a:avLst>
              <a:gd name="adj" fmla="val 50049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03612" y="196810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101922" y="2590354"/>
            <a:ext cx="511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-0.44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018733" y="2736354"/>
            <a:ext cx="6778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[-1.16, +0.28]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779812" y="2933105"/>
            <a:ext cx="1155650" cy="285750"/>
          </a:xfrm>
          <a:prstGeom prst="roundRect">
            <a:avLst>
              <a:gd name="adj" fmla="val 1777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45979" y="3009305"/>
            <a:ext cx="1023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SIGNIFICANT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9850" y="3358455"/>
            <a:ext cx="8086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HELPS (+)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266801" y="3358455"/>
            <a:ext cx="6609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= No Effect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918942" y="3358455"/>
            <a:ext cx="7992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HURTS (-)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17450" y="3796457"/>
            <a:ext cx="4537472" cy="1158776"/>
          </a:xfrm>
          <a:prstGeom prst="roundRect">
            <a:avLst>
              <a:gd name="adj" fmla="val 657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44401" y="3923407"/>
            <a:ext cx="43692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4401" y="4142482"/>
            <a:ext cx="4369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95% Confidence Interval INCLUDES ZERO: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4401" y="4313932"/>
            <a:ext cx="4369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 We CANNOT be sure the effect is real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4401" y="4485382"/>
            <a:ext cx="4369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 It might just be noise/error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4401" y="4656832"/>
            <a:ext cx="4369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 Result is NOT statistically significant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45422" y="688777"/>
            <a:ext cx="3781127" cy="853827"/>
          </a:xfrm>
          <a:prstGeom prst="roundRect">
            <a:avLst>
              <a:gd name="adj" fmla="val 892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064472" y="688777"/>
            <a:ext cx="0" cy="853827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85023" y="790277"/>
            <a:ext cx="3610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95% CI?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85023" y="983903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"True value is somewhere in this range"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85023" y="1136303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confident it's within the interval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85023" y="1288703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for measurement uncertainty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45422" y="1618804"/>
            <a:ext cx="3781127" cy="1006227"/>
          </a:xfrm>
          <a:prstGeom prst="roundRect">
            <a:avLst>
              <a:gd name="adj" fmla="val 75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064472" y="1618804"/>
            <a:ext cx="0" cy="1006227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85023" y="1720304"/>
            <a:ext cx="3610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 Result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85023" y="1913930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+2.34 +/- 0.26 kcal/mol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85023" y="2066330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= [+1.82, +2.86]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85023" y="2218730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CI is positive (above zero)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185023" y="2371130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sigma = extremely significant!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45422" y="2701230"/>
            <a:ext cx="3781127" cy="1006227"/>
          </a:xfrm>
          <a:prstGeom prst="roundRect">
            <a:avLst>
              <a:gd name="adj" fmla="val 75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064472" y="2701230"/>
            <a:ext cx="0" cy="1006227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185023" y="2802731"/>
            <a:ext cx="3610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Result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85023" y="2996357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-0.44 +/- 0.37 kcal/mol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85023" y="3148757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= [-1.16, +0.28]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85023" y="3301157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CROSSES zero!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85023" y="3453557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 sigma = NOT significant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45422" y="3783657"/>
            <a:ext cx="3781127" cy="739527"/>
          </a:xfrm>
          <a:prstGeom prst="roundRect">
            <a:avLst>
              <a:gd name="adj" fmla="val 1030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146923" y="3885158"/>
            <a:ext cx="3649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Honest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146923" y="4078784"/>
            <a:ext cx="3649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cannot claim Bufadienolide is mutation-resistant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46923" y="4193084"/>
            <a:ext cx="3649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TREND is encouraging but needs validation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46923" y="4307384"/>
            <a:ext cx="3649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we need experiments!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Contributions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022152"/>
          </a:xfrm>
          <a:prstGeom prst="roundRect">
            <a:avLst>
              <a:gd name="adj" fmla="val 74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1263" y="819150"/>
            <a:ext cx="0" cy="102215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7475" y="1200001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Bufadienolide-NOD2 Report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7475" y="1403152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prior literature on this interaction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7475" y="1546027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novel discovery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7450" y="1942802"/>
            <a:ext cx="4127599" cy="1022152"/>
          </a:xfrm>
          <a:prstGeom prst="roundRect">
            <a:avLst>
              <a:gd name="adj" fmla="val 74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41263" y="1942802"/>
            <a:ext cx="0" cy="102215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7475" y="2323654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FEP Study on NOD2 Ligands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7475" y="2526804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previous FEP calculations for NOD2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7475" y="2669679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PhD-level methodology for high school project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3066455"/>
            <a:ext cx="4127599" cy="793700"/>
          </a:xfrm>
          <a:prstGeom prst="roundRect">
            <a:avLst>
              <a:gd name="adj" fmla="val 960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41263" y="3066455"/>
            <a:ext cx="0" cy="793700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7475" y="3218855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Failure Demonstrated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7475" y="3422005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Showed MM-GBSA gives WRONG sign for DDG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7475" y="3564880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for allosteric charge-changing mutations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8950" y="819150"/>
            <a:ext cx="4127599" cy="936575"/>
          </a:xfrm>
          <a:prstGeom prst="roundRect">
            <a:avLst>
              <a:gd name="adj" fmla="val 813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22763" y="819150"/>
            <a:ext cx="0" cy="936575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8975" y="971550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Mutation-Resistant Candidate Identified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8975" y="1174700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shows trend toward resistance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8975" y="1317575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near zero = works for everyone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8975" y="1460450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(Pending experimental validation)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98950" y="1857226"/>
            <a:ext cx="4127599" cy="1079450"/>
          </a:xfrm>
          <a:prstGeom prst="roundRect">
            <a:avLst>
              <a:gd name="adj" fmla="val 705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1350" y="2009626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Dual Mechanism Potential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51350" y="221277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Bufadienolides are KNOWN NF-kB inhibitors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1350" y="23556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work through TWO pathways: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1350" y="24985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Stabilize NOD2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1350" y="26414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Directly inhibit downstream inflammation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98950" y="3038177"/>
            <a:ext cx="4127599" cy="1123950"/>
          </a:xfrm>
          <a:prstGeom prst="roundRect">
            <a:avLst>
              <a:gd name="adj" fmla="val 678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51984" y="3228677"/>
            <a:ext cx="3821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 Precision Medicine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51984" y="3514427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carry the R702W mutation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51984" y="3666827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is personally motivated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51984" y="3819227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that could help people like me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(Being Honest)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science acknowledges its weaknesses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7450" y="1054001"/>
            <a:ext cx="4127599" cy="933301"/>
          </a:xfrm>
          <a:prstGeom prst="roundRect">
            <a:avLst>
              <a:gd name="adj" fmla="val 81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41263" y="1054001"/>
            <a:ext cx="0" cy="93330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2026" y="1180951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FEP Convergence Issues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2026" y="138410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 analysis reported weight warnings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2026" y="155555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lambda windows may be undersampled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2026" y="172700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values less reliable than relative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7450" y="2088803"/>
            <a:ext cx="4127599" cy="933301"/>
          </a:xfrm>
          <a:prstGeom prst="roundRect">
            <a:avLst>
              <a:gd name="adj" fmla="val 81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41263" y="2088803"/>
            <a:ext cx="0" cy="93330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2026" y="2215753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Bufadienolide DDG Not Significant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2026" y="241890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includes zero [-1.16, +0.28]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2026" y="259035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CLAIM mutation-resistance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2026" y="276180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TREND, not a proof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7450" y="3123605"/>
            <a:ext cx="4127599" cy="933301"/>
          </a:xfrm>
          <a:prstGeom prst="roundRect">
            <a:avLst>
              <a:gd name="adj" fmla="val 81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41263" y="3123605"/>
            <a:ext cx="0" cy="93330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2026" y="3250555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 Experimental Validation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2026" y="3453705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results are computational predictions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2026" y="3625155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ITC, SPR, or cell assays performed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2026" y="3796605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must be verified in lab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8950" y="1054001"/>
            <a:ext cx="4127599" cy="1104751"/>
          </a:xfrm>
          <a:prstGeom prst="roundRect">
            <a:avLst>
              <a:gd name="adj" fmla="val 68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22763" y="1054001"/>
            <a:ext cx="0" cy="110475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73526" y="1180951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Suspiciously Tight Binding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73526" y="138410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DG = -15.22 kcal/mol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73526" y="155555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to Kd ~ 5 picomolar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73526" y="172700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EXTREMELY tight - needs verification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73526" y="189845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FEP artifact or force field issue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98950" y="2260253"/>
            <a:ext cx="4127599" cy="1104751"/>
          </a:xfrm>
          <a:prstGeom prst="roundRect">
            <a:avLst>
              <a:gd name="adj" fmla="val 68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22763" y="2260253"/>
            <a:ext cx="0" cy="110475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73526" y="2387203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Pseudo-Label ML Training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73526" y="259035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trained on docking scores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73526" y="276180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 experimental binding data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73526" y="293325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learns to replicate docking, not biology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73526" y="310470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AUC may be partly circular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98950" y="4016425"/>
            <a:ext cx="4127599" cy="936575"/>
          </a:xfrm>
          <a:prstGeom prst="roundRect">
            <a:avLst>
              <a:gd name="adj" fmla="val 813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51350" y="4168825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List Limitations?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51350" y="4371975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respect honesty over hiding flaws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51350" y="45148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understanding of the science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51350" y="4657725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clear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241375"/>
          </a:xfrm>
          <a:prstGeom prst="roundRect">
            <a:avLst>
              <a:gd name="adj" fmla="val 613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3118" y="1028700"/>
            <a:ext cx="23752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Binding Validation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50" y="132710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Plasmon Resonance (SPR) 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50" y="1546175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Isothermal Titration Calorimetry (ITC)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7652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REAL binding affinity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7450" y="2187476"/>
            <a:ext cx="4127599" cy="1241375"/>
          </a:xfrm>
          <a:prstGeom prst="roundRect">
            <a:avLst>
              <a:gd name="adj" fmla="val 613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3118" y="2397026"/>
            <a:ext cx="11521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 Assays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850" y="269542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NF-kB reporter assay in NOD2 cells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2914501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if compounds reduce inflammation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50" y="313357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WT vs R702W cells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3555802"/>
            <a:ext cx="4127599" cy="1241375"/>
          </a:xfrm>
          <a:prstGeom prst="roundRect">
            <a:avLst>
              <a:gd name="adj" fmla="val 613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93118" y="3765352"/>
            <a:ext cx="13216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Screening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50" y="40637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related bufadienolides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850" y="42828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Structure-Activity Relationships (SAR)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50" y="45019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even better candidates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8950" y="819150"/>
            <a:ext cx="4127599" cy="1133326"/>
          </a:xfrm>
          <a:prstGeom prst="roundRect">
            <a:avLst>
              <a:gd name="adj" fmla="val 672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51350" y="971550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Priority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51350" y="121920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Obtain bufadienolide samples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51350" y="1412825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SPR binding assay (WT and MUT)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51350" y="1606451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Confirm or refute computational predictions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98950" y="2079427"/>
            <a:ext cx="4127599" cy="1123950"/>
          </a:xfrm>
          <a:prstGeom prst="roundRect">
            <a:avLst>
              <a:gd name="adj" fmla="val 678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51350" y="2231827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Fast-Track Opportunity: Febuxostat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51350" y="247947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FDA-approved for gout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51350" y="26223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profile established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1350" y="27652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repurposed quickly for trial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1350" y="29081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though weaker in R702W, still worth testing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8950" y="3330327"/>
            <a:ext cx="4127599" cy="1241375"/>
          </a:xfrm>
          <a:prstGeom prst="roundRect">
            <a:avLst>
              <a:gd name="adj" fmla="val 613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74618" y="3539877"/>
            <a:ext cx="9386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Term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51350" y="383827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models of Crohn's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51350" y="40573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studies for bufadienolide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51350" y="42764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trial pathway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3901" y="781050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6301" y="882551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8501" y="892076"/>
            <a:ext cx="23033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complete </a:t>
            </a: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discovery pipeline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3901" y="1222177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6301" y="1323677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8501" y="1333202"/>
            <a:ext cx="3146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Screened </a:t>
            </a: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compounds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down to </a:t>
            </a: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validated hits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3901" y="1663303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6301" y="1764804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8501" y="1774329"/>
            <a:ext cx="2675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PhD-level methods: </a:t>
            </a: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(120 windows)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3901" y="2104430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6301" y="2205930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8501" y="2215455"/>
            <a:ext cx="16051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simulation: </a:t>
            </a: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 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3901" y="2545556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6301" y="2647057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8501" y="2656582"/>
            <a:ext cx="2541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AUC: </a:t>
            </a: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0.85-0.93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(scaffold-split CV)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3901" y="2986683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6301" y="3088184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8501" y="3097709"/>
            <a:ext cx="3140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</a:t>
            </a: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failure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this mutation 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3901" y="4127599"/>
            <a:ext cx="5067449" cy="863501"/>
          </a:xfrm>
          <a:prstGeom prst="roundRect">
            <a:avLst>
              <a:gd name="adj" fmla="val 8825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7536" y="4318099"/>
            <a:ext cx="4780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97536" y="4648200"/>
            <a:ext cx="47801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11850" y="781050"/>
            <a:ext cx="3378250" cy="933004"/>
          </a:xfrm>
          <a:prstGeom prst="roundRect">
            <a:avLst>
              <a:gd name="adj" fmla="val 816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535662" y="781050"/>
            <a:ext cx="0" cy="933004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86425" y="908000"/>
            <a:ext cx="31382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86425" y="1111151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FDA-approved, works in WT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86425" y="1269802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50x WEAKER in R702W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86425" y="1428452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+2.34 (significant)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11850" y="1815554"/>
            <a:ext cx="3378250" cy="933004"/>
          </a:xfrm>
          <a:prstGeom prst="roundRect">
            <a:avLst>
              <a:gd name="adj" fmla="val 816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535662" y="1815554"/>
            <a:ext cx="0" cy="933004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86425" y="1942505"/>
            <a:ext cx="31382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86425" y="2145655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Mutation-resistant TREND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86425" y="2304306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-0.44 (not significant)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86425" y="2462957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experimental validation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1850" y="2850059"/>
            <a:ext cx="3378250" cy="933004"/>
          </a:xfrm>
          <a:prstGeom prst="roundRect">
            <a:avLst>
              <a:gd name="adj" fmla="val 81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38800" y="2977009"/>
            <a:ext cx="31868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Contribution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38800" y="3180159"/>
            <a:ext cx="3186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bufadienolide-NOD2 report ever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38800" y="3338810"/>
            <a:ext cx="3186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FEP study on NOD2 ligands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38800" y="3497461"/>
            <a:ext cx="3186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 precision medicine approach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Learn More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701576"/>
            <a:ext cx="4159300" cy="929729"/>
          </a:xfrm>
          <a:prstGeom prst="roundRect">
            <a:avLst>
              <a:gd name="adj" fmla="val 819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6500" y="701576"/>
            <a:ext cx="0" cy="9297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051" y="803077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Energy Perturbation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051" y="996702"/>
            <a:ext cx="3996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"Relative Binding Free Energy Calculations in Drug Discovery: Recent Advances and Practical Considerations"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051" y="1250603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Cournia, Allen, Sherman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051" y="1390204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Chem. Inf. Model. (2017)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7450" y="1707505"/>
            <a:ext cx="4159300" cy="815429"/>
          </a:xfrm>
          <a:prstGeom prst="roundRect">
            <a:avLst>
              <a:gd name="adj" fmla="val 93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6500" y="1707505"/>
            <a:ext cx="0" cy="8154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051" y="1809006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 Analysis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051" y="2002631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"Statistically Optimal Analysis of Samples from Multiple Equilibrium States"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051" y="2142232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Shirts &amp; Chodera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051" y="2281833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Chem. Phys. (2008)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7450" y="2599134"/>
            <a:ext cx="4159300" cy="815429"/>
          </a:xfrm>
          <a:prstGeom prst="roundRect">
            <a:avLst>
              <a:gd name="adj" fmla="val 93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36500" y="2599134"/>
            <a:ext cx="0" cy="8154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051" y="2700635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Docking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051" y="2894261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"GNINA 1.0: molecular docking with deep learning"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051" y="3033861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McNutt et al.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051" y="3173462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Cheminformatics (2021)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7450" y="3490764"/>
            <a:ext cx="4159300" cy="929729"/>
          </a:xfrm>
          <a:prstGeom prst="roundRect">
            <a:avLst>
              <a:gd name="adj" fmla="val 819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36500" y="3490764"/>
            <a:ext cx="0" cy="9297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051" y="3592264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051" y="3785890"/>
            <a:ext cx="3996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"OpenMM 7: Rapid development of high performance algorithms for molecular dynamics"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051" y="4039791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Eastman et al.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051" y="4179391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PLOS Comp. Biol. (2017)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7250" y="701576"/>
            <a:ext cx="4159300" cy="815429"/>
          </a:xfrm>
          <a:prstGeom prst="roundRect">
            <a:avLst>
              <a:gd name="adj" fmla="val 93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86300" y="701576"/>
            <a:ext cx="0" cy="8154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6851" y="803077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6851" y="996702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"ff14SB: Improving the Accuracy of Protein Side Chain and Backbone Parameters"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6851" y="1136303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Maier et al.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06851" y="1275904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Chem. Theory Comput. (2015)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7250" y="1593205"/>
            <a:ext cx="4159300" cy="815429"/>
          </a:xfrm>
          <a:prstGeom prst="roundRect">
            <a:avLst>
              <a:gd name="adj" fmla="val 93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86300" y="1593205"/>
            <a:ext cx="0" cy="8154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6851" y="1694706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Structure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6851" y="1888331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UniProt: Q9HC29 (NOD2_HUMAN)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06851" y="2027932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AlphaFold predicted structure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6851" y="2167533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LRR domain used for docking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67250" y="2484834"/>
            <a:ext cx="4159300" cy="1005929"/>
          </a:xfrm>
          <a:prstGeom prst="roundRect">
            <a:avLst>
              <a:gd name="adj" fmla="val 7575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94200" y="2611785"/>
            <a:ext cx="3983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 Online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94200" y="2805410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Force Field: openforcefield.org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94200" y="2945011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 tutorials: openmm.org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94200" y="3084612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tutorials: alchemistry.org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94200" y="3224213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GNINA: github.com/gnina/gnina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67250" y="3566964"/>
            <a:ext cx="4159300" cy="1145530"/>
          </a:xfrm>
          <a:prstGeom prst="roundRect">
            <a:avLst>
              <a:gd name="adj" fmla="val 665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94200" y="3693914"/>
            <a:ext cx="3983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Used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94200" y="3887539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 8.0/8.2 - MD and FEP simulations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94200" y="4027140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1.0 - GPU-accelerated docking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94200" y="4166741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- Machine learning classifier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94200" y="4306342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RDKit - Molecular fingerprints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94200" y="4445943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pymbar 4.0 - Free energy analysis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6152</Words>
  <Application>Microsoft Office PowerPoint</Application>
  <PresentationFormat>On-screen Show (16:9)</PresentationFormat>
  <Paragraphs>1217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NOD2 Crohn's Drug Discovery - Teaching Edition v2</dc:title>
  <dc:subject>FEP-Validated Drug Discovery for NOD2 R702W</dc:subject>
  <dc:creator>Tanmay Vasudeva</dc:creator>
  <cp:lastModifiedBy>Tanmay Vasudeva</cp:lastModifiedBy>
  <cp:revision>2</cp:revision>
  <dcterms:created xsi:type="dcterms:W3CDTF">2026-01-19T18:52:55Z</dcterms:created>
  <dcterms:modified xsi:type="dcterms:W3CDTF">2026-01-19T22:06:37Z</dcterms:modified>
</cp:coreProperties>
</file>