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2286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297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Guided Discovery and FEP Validation of NOD2 Binders for the R702W Crohn's Variant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297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Tanmay Vasudeva</a:t>
            </a:r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  •  R702W Patient  •  Texas Virtual Academy at Hallsville  •  East Texas Regional Science Fair 2026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6459200" y="1920240"/>
            <a:ext cx="10972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560320"/>
            <a:ext cx="142646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560320"/>
            <a:ext cx="1426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3383280"/>
            <a:ext cx="14264640" cy="3657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47472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1389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[Crohn's disease affects 3M+ Americans. NOD2 mutations increase risk 3-fold. R702W is carried by ~15% of patients. Current drugs fail for mutation carriers.]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7223760"/>
            <a:ext cx="14264640" cy="2743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731520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7772400"/>
            <a:ext cx="1389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[Personal quote: As an R702W carrier myself... Treatments designed for wild-type NOD2 fail to work for us.]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10149840"/>
            <a:ext cx="1426464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024128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10698480"/>
            <a:ext cx="1389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[Can computational methods identify compounds that bind NOD2 with preserved affinity in both wild-type and R702W variants?]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13533120"/>
            <a:ext cx="14264640" cy="19110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362456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STRUCTURE &amp; MUTATION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14173200"/>
            <a:ext cx="13898880" cy="18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[NOD2 PyMOL structure image goes here - showing domains and R702W location]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813280" y="2560320"/>
            <a:ext cx="1426464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4813280" y="2560320"/>
            <a:ext cx="1426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4813280" y="3383280"/>
            <a:ext cx="14264640" cy="29260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4996160" y="347472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PIPELINE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270480" y="4114800"/>
            <a:ext cx="13350240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15453360" y="4251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54533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93440" y="4206240"/>
            <a:ext cx="1207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Docking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93440" y="4754880"/>
            <a:ext cx="1207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→ 2,129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671280" y="5303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5270480" y="5623560"/>
            <a:ext cx="13350240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Shape 29"/>
          <p:cNvSpPr/>
          <p:nvPr/>
        </p:nvSpPr>
        <p:spPr>
          <a:xfrm>
            <a:off x="15453360" y="5760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5453360" y="5760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093440" y="5715000"/>
            <a:ext cx="1207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NOD2-Scout (ML)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093440" y="6263640"/>
            <a:ext cx="1207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2,129 → 148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671280" y="6812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5270480" y="7132320"/>
            <a:ext cx="13350240" cy="1188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7" name="Shape 35"/>
          <p:cNvSpPr/>
          <p:nvPr/>
        </p:nvSpPr>
        <p:spPr>
          <a:xfrm>
            <a:off x="15453360" y="72694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5453360" y="7269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093440" y="7223760"/>
            <a:ext cx="1207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 Filtering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6093440" y="7772400"/>
            <a:ext cx="1207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 → 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1671280" y="8321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5270480" y="8641080"/>
            <a:ext cx="13350240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Shape 41"/>
          <p:cNvSpPr/>
          <p:nvPr/>
        </p:nvSpPr>
        <p:spPr>
          <a:xfrm>
            <a:off x="15453360" y="8778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5453360" y="8778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6093440" y="8732520"/>
            <a:ext cx="1207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Simulations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6093440" y="9281160"/>
            <a:ext cx="1207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→ 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1671280" y="9829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5270480" y="10149840"/>
            <a:ext cx="13350240" cy="1188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9" name="Shape 47"/>
          <p:cNvSpPr/>
          <p:nvPr/>
        </p:nvSpPr>
        <p:spPr>
          <a:xfrm>
            <a:off x="15453360" y="102870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15453360" y="10287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6093440" y="10241280"/>
            <a:ext cx="1207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Validation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6093440" y="10789920"/>
            <a:ext cx="1207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→ 2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21671280" y="11338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5270480" y="11658600"/>
            <a:ext cx="13350240" cy="11887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55" name="Shape 53"/>
          <p:cNvSpPr/>
          <p:nvPr/>
        </p:nvSpPr>
        <p:spPr>
          <a:xfrm>
            <a:off x="15453360" y="117957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15453360" y="11795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6093440" y="11750040"/>
            <a:ext cx="1207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LEADS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6093440" y="12298680"/>
            <a:ext cx="1207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99.98% reduction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4996160" y="13441680"/>
            <a:ext cx="13898880" cy="19019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methodology details: GNINA CNN scoring, XGBoost classifier, 520ns total MD, pmx FEP workflow]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9352240" y="2560320"/>
            <a:ext cx="1426464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1" name="Text 59"/>
          <p:cNvSpPr/>
          <p:nvPr/>
        </p:nvSpPr>
        <p:spPr>
          <a:xfrm>
            <a:off x="29352240" y="2560320"/>
            <a:ext cx="1426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RESULTS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29352240" y="3383280"/>
            <a:ext cx="14264640" cy="3657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3" name="Text 61"/>
          <p:cNvSpPr/>
          <p:nvPr/>
        </p:nvSpPr>
        <p:spPr>
          <a:xfrm>
            <a:off x="29535120" y="347472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COMPOUNDS IDENTIFIED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29535120" y="4023360"/>
            <a:ext cx="1389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[Febuxostat vs Bufadienolide comparison - structures + key finding]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9352240" y="7223760"/>
            <a:ext cx="14264640" cy="4572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6" name="Text 64"/>
          <p:cNvSpPr/>
          <p:nvPr/>
        </p:nvSpPr>
        <p:spPr>
          <a:xfrm>
            <a:off x="29535120" y="731520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RESULTS: Mutation Effect on Binding (ΔΔG)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29535120" y="7863840"/>
            <a:ext cx="13898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[FEP Chart goes here - Febuxostat +2.34 kcal/mol (50x weaker) vs Bufadienolide -0.44 kcal/mol (no change)]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9352240" y="11978640"/>
            <a:ext cx="14264640" cy="4114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9" name="Text 67"/>
          <p:cNvSpPr/>
          <p:nvPr/>
        </p:nvSpPr>
        <p:spPr>
          <a:xfrm>
            <a:off x="29535120" y="1207008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VALIDATION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29535120" y="12618720"/>
            <a:ext cx="13898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[ROC Curve + PR Curve with shuffled controls]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29352240" y="16276320"/>
            <a:ext cx="14264640" cy="3657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2" name="Text 70"/>
          <p:cNvSpPr/>
          <p:nvPr/>
        </p:nvSpPr>
        <p:spPr>
          <a:xfrm>
            <a:off x="29535120" y="1636776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DYNAMICS: WT vs R702W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9535120" y="16916400"/>
            <a:ext cx="13898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[RMSD + Conformational Sampling charts]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29352240" y="20116800"/>
            <a:ext cx="14264640" cy="1252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5" name="Text 73"/>
          <p:cNvSpPr/>
          <p:nvPr/>
        </p:nvSpPr>
        <p:spPr>
          <a:xfrm>
            <a:off x="29535120" y="20208240"/>
            <a:ext cx="1389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29535120" y="20665440"/>
            <a:ext cx="13898880" cy="1170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findings: Mutation-agnostic NOD2 therapeutics ARE achievable. Bufadienolide shows promise. Future: SPR, ITC, HDX-MS validation needed.]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14676120" y="2468880"/>
            <a:ext cx="0" cy="302666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9215080" y="2468880"/>
            <a:ext cx="0" cy="302666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NOD2 R702W Drug Discovery - ISEF 2026</dc:title>
  <dc:subject>PptxGenJS Presentation</dc:subject>
  <dc:creator>Tanmay Vasudeva</dc:creator>
  <cp:lastModifiedBy>Tanmay Vasudeva</cp:lastModifiedBy>
  <cp:revision>1</cp:revision>
  <dcterms:created xsi:type="dcterms:W3CDTF">2026-01-31T00:34:45Z</dcterms:created>
  <dcterms:modified xsi:type="dcterms:W3CDTF">2026-01-31T00:34:45Z</dcterms:modified>
</cp:coreProperties>
</file>