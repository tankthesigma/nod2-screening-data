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0" cy="20116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4297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Guided Discovery and FEP Validation of NOD2 Binders for the R702W Crohn's Variant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4297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2E8F0"/>
                </a:solidFill>
              </a:rPr>
              <a:t>Tanmay Vasudeva</a:t>
            </a:r>
            <a:pPr algn="ctr"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  •  R702W Patient  •  Texas Virtual Academy at Hallsville  •  East Texas Regional Science Fair 2026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4630400" y="1691640"/>
            <a:ext cx="14630400" cy="54864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2286000"/>
            <a:ext cx="14142720" cy="548640"/>
          </a:xfrm>
          <a:prstGeom prst="rect">
            <a:avLst/>
          </a:prstGeom>
          <a:solidFill>
            <a:srgbClr val="7C2D12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2286000"/>
            <a:ext cx="1414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2971800"/>
            <a:ext cx="141427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63240"/>
            <a:ext cx="1386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3474720"/>
            <a:ext cx="138684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[Crohn's disease • 3M+ Americans affected • NOD2 mutations increase risk 3-fold • R702W carried by ~15% of patients • Drugs optimized for wild-type may fail mutation carriers]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6629400"/>
            <a:ext cx="141427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6720840"/>
            <a:ext cx="1386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7132320"/>
            <a:ext cx="13868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"As an R702W carrier myself, I understand the challenges patients face when treatments designed for wild-type NOD2 fail to work for us."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9372600"/>
            <a:ext cx="141427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9464040"/>
            <a:ext cx="1386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9875520"/>
            <a:ext cx="1386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computational methods identify compounds that bind NOD2 with preserved affinity in BOTH wild-type AND R702W variants?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11841480"/>
            <a:ext cx="14142720" cy="20711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11932920"/>
            <a:ext cx="1386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Signaling: Wild-Type vs R702W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12481560"/>
            <a:ext cx="661416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12481560"/>
            <a:ext cx="661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WILD-TYPE (Working)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13030200"/>
            <a:ext cx="661416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13030200"/>
            <a:ext cx="661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MDP (Bacteria)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13487400"/>
            <a:ext cx="661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A34A"/>
                </a:solidFill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13670280"/>
            <a:ext cx="661416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13670280"/>
            <a:ext cx="661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(LRR)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14127480"/>
            <a:ext cx="661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A34A"/>
                </a:solidFill>
              </a:rPr>
              <a:t>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0080" y="14310360"/>
            <a:ext cx="661416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14310360"/>
            <a:ext cx="661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NF-κB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14767560"/>
            <a:ext cx="661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A34A"/>
                </a:solidFill>
              </a:rPr>
              <a:t>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" y="14950440"/>
            <a:ext cx="661416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14950440"/>
            <a:ext cx="661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Immune Response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20000" y="12481560"/>
            <a:ext cx="661416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3" name="Text 31"/>
          <p:cNvSpPr/>
          <p:nvPr/>
        </p:nvSpPr>
        <p:spPr>
          <a:xfrm>
            <a:off x="7620000" y="12481560"/>
            <a:ext cx="661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R702W (Broken)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620000" y="13030200"/>
            <a:ext cx="661416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20000" y="13030200"/>
            <a:ext cx="661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MDP (Bacteria)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620000" y="13487400"/>
            <a:ext cx="661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620000" y="13670280"/>
            <a:ext cx="6614160" cy="5029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20000" y="13670280"/>
            <a:ext cx="661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 (Mutant)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620000" y="14127480"/>
            <a:ext cx="661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⚠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620000" y="14310360"/>
            <a:ext cx="661416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7620000" y="14310360"/>
            <a:ext cx="661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Signal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620000" y="14767560"/>
            <a:ext cx="661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C2626"/>
                </a:solidFill>
              </a:rPr>
              <a:t>↓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7620000" y="14950440"/>
            <a:ext cx="661416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dash"/>
          </a:ln>
        </p:spPr>
      </p:sp>
      <p:sp>
        <p:nvSpPr>
          <p:cNvPr id="44" name="Text 42"/>
          <p:cNvSpPr/>
          <p:nvPr/>
        </p:nvSpPr>
        <p:spPr>
          <a:xfrm>
            <a:off x="7620000" y="14950440"/>
            <a:ext cx="6614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Impaired Response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02920" y="15681960"/>
            <a:ext cx="1386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R702W mutation (79.4 Å from binding site) causes allosteric rigidity, reducing conformational flexibility needed for proper signaling.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2920" y="16687800"/>
            <a:ext cx="13868400" cy="15956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[NOD2 Structure Image]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4874240" y="2286000"/>
            <a:ext cx="14142720" cy="548640"/>
          </a:xfrm>
          <a:prstGeom prst="rect">
            <a:avLst/>
          </a:prstGeom>
          <a:solidFill>
            <a:srgbClr val="166534"/>
          </a:solidFill>
          <a:ln/>
        </p:spPr>
      </p:sp>
      <p:sp>
        <p:nvSpPr>
          <p:cNvPr id="48" name="Text 46"/>
          <p:cNvSpPr/>
          <p:nvPr/>
        </p:nvSpPr>
        <p:spPr>
          <a:xfrm>
            <a:off x="14874240" y="2286000"/>
            <a:ext cx="1414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&amp; METHODS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14874240" y="2971800"/>
            <a:ext cx="14142720" cy="29580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011400" y="3063240"/>
            <a:ext cx="1386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Computational Pipeline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5148560" y="3611880"/>
            <a:ext cx="1359408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5148560" y="3611880"/>
            <a:ext cx="137160" cy="12801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3" name="Shape 51"/>
          <p:cNvSpPr/>
          <p:nvPr/>
        </p:nvSpPr>
        <p:spPr>
          <a:xfrm>
            <a:off x="15422880" y="3749040"/>
            <a:ext cx="411480" cy="41148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54" name="Text 52"/>
          <p:cNvSpPr/>
          <p:nvPr/>
        </p:nvSpPr>
        <p:spPr>
          <a:xfrm>
            <a:off x="1542288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5971520" y="3703320"/>
            <a:ext cx="1094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GNINA Docking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26730960" y="3749040"/>
            <a:ext cx="182880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7" name="Text 55"/>
          <p:cNvSpPr/>
          <p:nvPr/>
        </p:nvSpPr>
        <p:spPr>
          <a:xfrm>
            <a:off x="2673096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9,566 → 2,129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5971520" y="4160520"/>
            <a:ext cx="1258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CNN-based scoring of 9,566 compounds against AlphaFold2 NOD2 model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1717000" y="4846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▼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5148560" y="5074920"/>
            <a:ext cx="1359408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5148560" y="5074920"/>
            <a:ext cx="137160" cy="12801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2" name="Shape 60"/>
          <p:cNvSpPr/>
          <p:nvPr/>
        </p:nvSpPr>
        <p:spPr>
          <a:xfrm>
            <a:off x="15422880" y="5212080"/>
            <a:ext cx="411480" cy="41148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3" name="Text 61"/>
          <p:cNvSpPr/>
          <p:nvPr/>
        </p:nvSpPr>
        <p:spPr>
          <a:xfrm>
            <a:off x="15422880" y="5212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15971520" y="5166360"/>
            <a:ext cx="1094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NOD2-Scout (ML)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26730960" y="5212080"/>
            <a:ext cx="1828800" cy="3657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6" name="Text 64"/>
          <p:cNvSpPr/>
          <p:nvPr/>
        </p:nvSpPr>
        <p:spPr>
          <a:xfrm>
            <a:off x="26730960" y="5212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2,129 → 148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5971520" y="5623560"/>
            <a:ext cx="1258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classifier trained on molecular fingerprints • AUC = 0.85-0.93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21717000" y="63093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▼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15148560" y="6537960"/>
            <a:ext cx="1359408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EC489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5148560" y="6537960"/>
            <a:ext cx="137160" cy="12801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71" name="Shape 69"/>
          <p:cNvSpPr/>
          <p:nvPr/>
        </p:nvSpPr>
        <p:spPr>
          <a:xfrm>
            <a:off x="15422880" y="6675120"/>
            <a:ext cx="411480" cy="41148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72" name="Text 70"/>
          <p:cNvSpPr/>
          <p:nvPr/>
        </p:nvSpPr>
        <p:spPr>
          <a:xfrm>
            <a:off x="15422880" y="6675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15971520" y="6629400"/>
            <a:ext cx="1094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ADMET Filtering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26730960" y="6675120"/>
            <a:ext cx="1828800" cy="36576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75" name="Text 73"/>
          <p:cNvSpPr/>
          <p:nvPr/>
        </p:nvSpPr>
        <p:spPr>
          <a:xfrm>
            <a:off x="26730960" y="6675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148 → 8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15971520" y="7086600"/>
            <a:ext cx="1258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Drug-likeness, toxicity, and bioavailability screening (SwissADME)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21717000" y="7772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▼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15148560" y="8001000"/>
            <a:ext cx="1359408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5148560" y="8001000"/>
            <a:ext cx="137160" cy="1280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0" name="Shape 78"/>
          <p:cNvSpPr/>
          <p:nvPr/>
        </p:nvSpPr>
        <p:spPr>
          <a:xfrm>
            <a:off x="15422880" y="813816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1" name="Text 79"/>
          <p:cNvSpPr/>
          <p:nvPr/>
        </p:nvSpPr>
        <p:spPr>
          <a:xfrm>
            <a:off x="15422880" y="8138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82" name="Text 80"/>
          <p:cNvSpPr/>
          <p:nvPr/>
        </p:nvSpPr>
        <p:spPr>
          <a:xfrm>
            <a:off x="15971520" y="8092440"/>
            <a:ext cx="1094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Simulations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26730960" y="8138160"/>
            <a:ext cx="1828800" cy="3657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4" name="Text 82"/>
          <p:cNvSpPr/>
          <p:nvPr/>
        </p:nvSpPr>
        <p:spPr>
          <a:xfrm>
            <a:off x="26730960" y="8138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→ 5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15971520" y="8549640"/>
            <a:ext cx="1258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520 ns total simulation time • Pocket occupancy validation (70-80%)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21717000" y="9235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▼</a:t>
            </a: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15148560" y="9464040"/>
            <a:ext cx="1359408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5148560" y="9464040"/>
            <a:ext cx="137160" cy="12801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9" name="Shape 87"/>
          <p:cNvSpPr/>
          <p:nvPr/>
        </p:nvSpPr>
        <p:spPr>
          <a:xfrm>
            <a:off x="15422880" y="9601200"/>
            <a:ext cx="411480" cy="4114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0" name="Text 88"/>
          <p:cNvSpPr/>
          <p:nvPr/>
        </p:nvSpPr>
        <p:spPr>
          <a:xfrm>
            <a:off x="15422880" y="9601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91" name="Text 89"/>
          <p:cNvSpPr/>
          <p:nvPr/>
        </p:nvSpPr>
        <p:spPr>
          <a:xfrm>
            <a:off x="15971520" y="9555480"/>
            <a:ext cx="1094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Validation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26730960" y="9601200"/>
            <a:ext cx="1828800" cy="3657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93" name="Text 91"/>
          <p:cNvSpPr/>
          <p:nvPr/>
        </p:nvSpPr>
        <p:spPr>
          <a:xfrm>
            <a:off x="26730960" y="9601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→ 2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15971520" y="10012680"/>
            <a:ext cx="1258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Energy Perturbation: Gold standard for binding affinity comparison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15148560" y="11018520"/>
            <a:ext cx="13594080" cy="1097280"/>
          </a:xfrm>
          <a:prstGeom prst="rect">
            <a:avLst/>
          </a:prstGeom>
          <a:solidFill>
            <a:srgbClr val="FEF3C7"/>
          </a:solidFill>
          <a:ln w="25400">
            <a:solidFill>
              <a:srgbClr val="CA8A04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15148560" y="11109960"/>
            <a:ext cx="1359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2 LEAD COMPOUNDS</a:t>
            </a:r>
            <a:endParaRPr lang="en-US" sz="1800" dirty="0"/>
          </a:p>
        </p:txBody>
      </p:sp>
      <p:sp>
        <p:nvSpPr>
          <p:cNvPr id="97" name="Text 95"/>
          <p:cNvSpPr/>
          <p:nvPr/>
        </p:nvSpPr>
        <p:spPr>
          <a:xfrm>
            <a:off x="15148560" y="11612880"/>
            <a:ext cx="1359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99.98% reduction from initial library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29382720" y="2286000"/>
            <a:ext cx="14142720" cy="54864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99" name="Text 97"/>
          <p:cNvSpPr/>
          <p:nvPr/>
        </p:nvSpPr>
        <p:spPr>
          <a:xfrm>
            <a:off x="29382720" y="2286000"/>
            <a:ext cx="1414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CONCLUSIONS</a:t>
            </a:r>
            <a:endParaRPr lang="en-US" sz="2200" dirty="0"/>
          </a:p>
        </p:txBody>
      </p:sp>
      <p:sp>
        <p:nvSpPr>
          <p:cNvPr id="100" name="Shape 98"/>
          <p:cNvSpPr/>
          <p:nvPr/>
        </p:nvSpPr>
        <p:spPr>
          <a:xfrm>
            <a:off x="29382720" y="2971800"/>
            <a:ext cx="14142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9519880" y="3063240"/>
            <a:ext cx="1386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Compounds Identified</a:t>
            </a:r>
            <a:endParaRPr lang="en-US" sz="1600" dirty="0"/>
          </a:p>
        </p:txBody>
      </p:sp>
      <p:sp>
        <p:nvSpPr>
          <p:cNvPr id="102" name="Text 100"/>
          <p:cNvSpPr/>
          <p:nvPr/>
        </p:nvSpPr>
        <p:spPr>
          <a:xfrm>
            <a:off x="29519880" y="3520440"/>
            <a:ext cx="13868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[Febuxostat vs Bufadienolide structures + key finding]</a:t>
            </a:r>
            <a:endParaRPr lang="en-US" sz="1100" dirty="0"/>
          </a:p>
        </p:txBody>
      </p:sp>
      <p:sp>
        <p:nvSpPr>
          <p:cNvPr id="103" name="Shape 101"/>
          <p:cNvSpPr/>
          <p:nvPr/>
        </p:nvSpPr>
        <p:spPr>
          <a:xfrm>
            <a:off x="29382720" y="6309360"/>
            <a:ext cx="141427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9519880" y="6400800"/>
            <a:ext cx="1386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FEP Results: Mutation Effect on Binding</a:t>
            </a:r>
            <a:endParaRPr lang="en-US" sz="1600" dirty="0"/>
          </a:p>
        </p:txBody>
      </p:sp>
      <p:sp>
        <p:nvSpPr>
          <p:cNvPr id="105" name="Text 103"/>
          <p:cNvSpPr/>
          <p:nvPr/>
        </p:nvSpPr>
        <p:spPr>
          <a:xfrm>
            <a:off x="29519880" y="6858000"/>
            <a:ext cx="138684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[FEP Chart: Febuxostat ΔΔG = +2.34 kcal/mol (50x WEAKER) vs Bufadienolide ΔΔG = -0.44 kcal/mol (NO CHANGE)]</a:t>
            </a:r>
            <a:endParaRPr lang="en-US" sz="1100" dirty="0"/>
          </a:p>
        </p:txBody>
      </p:sp>
      <p:sp>
        <p:nvSpPr>
          <p:cNvPr id="106" name="Shape 104"/>
          <p:cNvSpPr/>
          <p:nvPr/>
        </p:nvSpPr>
        <p:spPr>
          <a:xfrm>
            <a:off x="29382720" y="10561320"/>
            <a:ext cx="141427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29519880" y="10652760"/>
            <a:ext cx="1386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Validation</a:t>
            </a:r>
            <a:endParaRPr lang="en-US" sz="1600" dirty="0"/>
          </a:p>
        </p:txBody>
      </p:sp>
      <p:sp>
        <p:nvSpPr>
          <p:cNvPr id="108" name="Text 106"/>
          <p:cNvSpPr/>
          <p:nvPr/>
        </p:nvSpPr>
        <p:spPr>
          <a:xfrm>
            <a:off x="29519880" y="11109960"/>
            <a:ext cx="13868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[ROC Curve (AUC = 0.89) + PR Curve (F1 = 0.85) with shuffled negative controls]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29382720" y="14356080"/>
            <a:ext cx="141427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29519880" y="14447520"/>
            <a:ext cx="1386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Molecular Dynamics: WT vs R702W</a:t>
            </a:r>
            <a:endParaRPr lang="en-US" sz="1600" dirty="0"/>
          </a:p>
        </p:txBody>
      </p:sp>
      <p:sp>
        <p:nvSpPr>
          <p:cNvPr id="111" name="Text 109"/>
          <p:cNvSpPr/>
          <p:nvPr/>
        </p:nvSpPr>
        <p:spPr>
          <a:xfrm>
            <a:off x="29519880" y="14904720"/>
            <a:ext cx="13868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[RMSD + Conformational Sampling: WT (4.05Å, 12.6% frames &gt;5Å) vs R702W (3.27Å, 0% frames &gt;5Å)]</a:t>
            </a:r>
            <a:endParaRPr lang="en-US" sz="1100" dirty="0"/>
          </a:p>
        </p:txBody>
      </p:sp>
      <p:sp>
        <p:nvSpPr>
          <p:cNvPr id="112" name="Shape 110"/>
          <p:cNvSpPr/>
          <p:nvPr/>
        </p:nvSpPr>
        <p:spPr>
          <a:xfrm>
            <a:off x="29382720" y="17693640"/>
            <a:ext cx="14142720" cy="148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9519880" y="17785080"/>
            <a:ext cx="1386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1600" dirty="0"/>
          </a:p>
        </p:txBody>
      </p:sp>
      <p:sp>
        <p:nvSpPr>
          <p:cNvPr id="114" name="Text 112"/>
          <p:cNvSpPr/>
          <p:nvPr/>
        </p:nvSpPr>
        <p:spPr>
          <a:xfrm>
            <a:off x="29519880" y="18196560"/>
            <a:ext cx="13868400" cy="1440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Mutation-agnostic NOD2 therapeutics ARE achievable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Bufadienolide shows mutation-resistant binding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R702W causes allosteric rigidity (not direct interference)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Future: SPR, ITC, HDX-MS experimental validation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NOD2 R702W Drug Discovery - ISEF 2026</dc:title>
  <dc:subject>PptxGenJS Presentation</dc:subject>
  <dc:creator>Tanmay Vasudeva</dc:creator>
  <cp:lastModifiedBy>Tanmay Vasudeva</cp:lastModifiedBy>
  <cp:revision>1</cp:revision>
  <dcterms:created xsi:type="dcterms:W3CDTF">2026-01-31T00:42:28Z</dcterms:created>
  <dcterms:modified xsi:type="dcterms:W3CDTF">2026-01-31T00:42:28Z</dcterms:modified>
</cp:coreProperties>
</file>