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43891200" cy="32918400"/>
  <p:notesSz cx="32918400" cy="438912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3891200" cy="32918400"/>
          </a:xfrm>
          <a:prstGeom prst="rect">
            <a:avLst/>
          </a:prstGeom>
          <a:solidFill>
            <a:srgbClr val="0D1B4C"/>
          </a:solidFill>
          <a:ln/>
        </p:spPr>
      </p:sp>
      <p:sp>
        <p:nvSpPr>
          <p:cNvPr id="3" name="Shape 1"/>
          <p:cNvSpPr/>
          <p:nvPr/>
        </p:nvSpPr>
        <p:spPr>
          <a:xfrm>
            <a:off x="0" y="0"/>
            <a:ext cx="43891200" cy="3200400"/>
          </a:xfrm>
          <a:prstGeom prst="rect">
            <a:avLst/>
          </a:prstGeom>
          <a:solidFill>
            <a:srgbClr val="1A2D6B"/>
          </a:solidFill>
          <a:ln/>
        </p:spPr>
      </p:sp>
      <p:sp>
        <p:nvSpPr>
          <p:cNvPr id="4" name="Text 2"/>
          <p:cNvSpPr/>
          <p:nvPr/>
        </p:nvSpPr>
        <p:spPr>
          <a:xfrm>
            <a:off x="731520" y="457200"/>
            <a:ext cx="42428160" cy="1371600"/>
          </a:xfrm>
          <a:prstGeom prst="rect">
            <a:avLst/>
          </a:prstGeom>
          <a:noFill/>
          <a:ln/>
        </p:spPr>
        <p:txBody>
          <a:bodyPr wrap="square" rtlCol="0" anchor="ctr"/>
          <a:lstStyle/>
          <a:p>
            <a:pPr algn="ctr" indent="0" marL="0">
              <a:buNone/>
            </a:pPr>
            <a:r>
              <a:rPr lang="en-US" sz="7200" b="1" dirty="0">
                <a:solidFill>
                  <a:srgbClr val="FFFFFF"/>
                </a:solidFill>
                <a:latin typeface="Arial" pitchFamily="34" charset="0"/>
                <a:ea typeface="Arial" pitchFamily="34" charset="-122"/>
                <a:cs typeface="Arial" pitchFamily="34" charset="-120"/>
              </a:rPr>
              <a:t>Deep Learning Discovery of NOD2 Binders for R702W Crohn's Variant</a:t>
            </a:r>
            <a:endParaRPr lang="en-US" sz="7200" dirty="0"/>
          </a:p>
        </p:txBody>
      </p:sp>
      <p:sp>
        <p:nvSpPr>
          <p:cNvPr id="5" name="Text 3"/>
          <p:cNvSpPr/>
          <p:nvPr/>
        </p:nvSpPr>
        <p:spPr>
          <a:xfrm>
            <a:off x="731520" y="1828800"/>
            <a:ext cx="42428160" cy="731520"/>
          </a:xfrm>
          <a:prstGeom prst="rect">
            <a:avLst/>
          </a:prstGeom>
          <a:noFill/>
          <a:ln/>
        </p:spPr>
        <p:txBody>
          <a:bodyPr wrap="square" rtlCol="0" anchor="ctr"/>
          <a:lstStyle/>
          <a:p>
            <a:pPr algn="ctr" indent="0" marL="0">
              <a:buNone/>
            </a:pPr>
            <a:r>
              <a:rPr lang="en-US" sz="4000" dirty="0">
                <a:solidFill>
                  <a:srgbClr val="FFC107"/>
                </a:solidFill>
                <a:latin typeface="Arial" pitchFamily="34" charset="0"/>
                <a:ea typeface="Arial" pitchFamily="34" charset="-122"/>
                <a:cs typeface="Arial" pitchFamily="34" charset="-120"/>
              </a:rPr>
              <a:t>FEP Validation of Mutation-Sensitive Binding</a:t>
            </a:r>
            <a:endParaRPr lang="en-US" sz="4000" dirty="0"/>
          </a:p>
        </p:txBody>
      </p:sp>
      <p:sp>
        <p:nvSpPr>
          <p:cNvPr id="6" name="Text 4"/>
          <p:cNvSpPr/>
          <p:nvPr/>
        </p:nvSpPr>
        <p:spPr>
          <a:xfrm>
            <a:off x="731520" y="2560320"/>
            <a:ext cx="42428160" cy="457200"/>
          </a:xfrm>
          <a:prstGeom prst="rect">
            <a:avLst/>
          </a:prstGeom>
          <a:noFill/>
          <a:ln/>
        </p:spPr>
        <p:txBody>
          <a:bodyPr wrap="square" rtlCol="0" anchor="ctr"/>
          <a:lstStyle/>
          <a:p>
            <a:pPr algn="ctr" indent="0" marL="0">
              <a:buNone/>
            </a:pPr>
            <a:r>
              <a:rPr lang="en-US" sz="2800" dirty="0">
                <a:solidFill>
                  <a:srgbClr val="E0E0E0"/>
                </a:solidFill>
                <a:latin typeface="Arial" pitchFamily="34" charset="0"/>
                <a:ea typeface="Arial" pitchFamily="34" charset="-122"/>
                <a:cs typeface="Arial" pitchFamily="34" charset="-120"/>
              </a:rPr>
              <a:t>Tanmay Vasudeva  •  Texas Virtual Academy at Hallsville  •  ISEF 2026</a:t>
            </a:r>
            <a:endParaRPr lang="en-US" sz="2800" dirty="0"/>
          </a:p>
        </p:txBody>
      </p:sp>
      <p:sp>
        <p:nvSpPr>
          <p:cNvPr id="7" name="Text 5"/>
          <p:cNvSpPr/>
          <p:nvPr/>
        </p:nvSpPr>
        <p:spPr>
          <a:xfrm>
            <a:off x="731520" y="3657600"/>
            <a:ext cx="12252960" cy="731520"/>
          </a:xfrm>
          <a:prstGeom prst="rect">
            <a:avLst/>
          </a:prstGeom>
          <a:noFill/>
          <a:ln/>
        </p:spPr>
        <p:txBody>
          <a:bodyPr wrap="square" rtlCol="0" anchor="ctr"/>
          <a:lstStyle/>
          <a:p>
            <a:pPr indent="0" marL="0">
              <a:buNone/>
            </a:pPr>
            <a:r>
              <a:rPr lang="en-US" sz="3600" b="1" dirty="0">
                <a:solidFill>
                  <a:srgbClr val="FFC107"/>
                </a:solidFill>
                <a:latin typeface="Arial" pitchFamily="34" charset="0"/>
                <a:ea typeface="Arial" pitchFamily="34" charset="-122"/>
                <a:cs typeface="Arial" pitchFamily="34" charset="-120"/>
              </a:rPr>
              <a:t>INTRODUCTION</a:t>
            </a:r>
            <a:endParaRPr lang="en-US" sz="3600" dirty="0"/>
          </a:p>
        </p:txBody>
      </p:sp>
      <p:sp>
        <p:nvSpPr>
          <p:cNvPr id="8" name="Text 6"/>
          <p:cNvSpPr/>
          <p:nvPr/>
        </p:nvSpPr>
        <p:spPr>
          <a:xfrm>
            <a:off x="731520" y="4480560"/>
            <a:ext cx="12252960" cy="5943600"/>
          </a:xfrm>
          <a:prstGeom prst="rect">
            <a:avLst/>
          </a:prstGeom>
          <a:noFill/>
          <a:ln/>
        </p:spPr>
        <p:txBody>
          <a:bodyPr wrap="square" rtlCol="0" anchor="t"/>
          <a:lstStyle/>
          <a:p>
            <a:pPr indent="0" marL="0">
              <a:lnSpc>
                <a:spcPts val="2400"/>
              </a:lnSpc>
              <a:buNone/>
            </a:pPr>
            <a:r>
              <a:rPr lang="en-US" sz="2200" dirty="0">
                <a:solidFill>
                  <a:srgbClr val="FFFFFF"/>
                </a:solidFill>
                <a:latin typeface="Arial" pitchFamily="34" charset="0"/>
                <a:ea typeface="Arial" pitchFamily="34" charset="-122"/>
                <a:cs typeface="Arial" pitchFamily="34" charset="-120"/>
              </a:rPr>
              <a:t>NOD2 (nucleotide-binding oligomerization domain 2) is an intracellular pattern recognition receptor that detects bacterial peptidoglycan fragments, triggering innate immune responses critical for intestinal homeostasis. Mutations in NOD2 represent the strongest genetic risk factors for Crohn's disease, with carriers of homozygous variants facing up to 40-fold increased disease risk.</a:t>
            </a:r>
            <a:endParaRPr lang="en-US" sz="2200" dirty="0"/>
          </a:p>
          <a:p>
            <a:pPr indent="0" marL="0">
              <a:lnSpc>
                <a:spcPts val="2400"/>
              </a:lnSpc>
              <a:buNone/>
            </a:pPr>
            <a:endParaRPr lang="en-US" sz="2200" dirty="0"/>
          </a:p>
          <a:p>
            <a:pPr indent="0" marL="0">
              <a:lnSpc>
                <a:spcPts val="2400"/>
              </a:lnSpc>
              <a:buNone/>
            </a:pPr>
            <a:r>
              <a:rPr lang="en-US" sz="2200" dirty="0">
                <a:solidFill>
                  <a:srgbClr val="FFFFFF"/>
                </a:solidFill>
                <a:latin typeface="Arial" pitchFamily="34" charset="0"/>
                <a:ea typeface="Arial" pitchFamily="34" charset="-122"/>
                <a:cs typeface="Arial" pitchFamily="34" charset="-120"/>
              </a:rPr>
              <a:t>The R702W variant (rs2066844) is the most prevalent NOD2 mutation, affecting approximately 10% of Crohn's patients of European ancestry. This missense mutation substitutes arginine with tryptophan in the HD2 domain, located approximately 80 Ångströms from the ligand-binding LRR pocket. Despite extensive genetic studies establishing this association, the molecular mechanism by which this distant mutation affects NOD2 function remains poorly characterized.</a:t>
            </a:r>
            <a:endParaRPr lang="en-US" sz="2200" dirty="0"/>
          </a:p>
          <a:p>
            <a:pPr indent="0" marL="0">
              <a:lnSpc>
                <a:spcPts val="2400"/>
              </a:lnSpc>
              <a:buNone/>
            </a:pPr>
            <a:endParaRPr lang="en-US" sz="2200" dirty="0"/>
          </a:p>
          <a:p>
            <a:pPr indent="0" marL="0">
              <a:lnSpc>
                <a:spcPts val="2400"/>
              </a:lnSpc>
              <a:buNone/>
            </a:pPr>
            <a:r>
              <a:rPr lang="en-US" sz="2200" dirty="0">
                <a:solidFill>
                  <a:srgbClr val="FFFFFF"/>
                </a:solidFill>
                <a:latin typeface="Arial" pitchFamily="34" charset="0"/>
                <a:ea typeface="Arial" pitchFamily="34" charset="-122"/>
                <a:cs typeface="Arial" pitchFamily="34" charset="-120"/>
              </a:rPr>
              <a:t>No drugs currently target NOD2 directly, representing a significant unmet therapeutic need. This project developed a computational pipeline to identify NOD2 binders and quantify how the R702W variant affects their binding affinity.</a:t>
            </a:r>
            <a:endParaRPr lang="en-US" sz="2200" dirty="0"/>
          </a:p>
        </p:txBody>
      </p:sp>
      <p:sp>
        <p:nvSpPr>
          <p:cNvPr id="9" name="Text 7"/>
          <p:cNvSpPr/>
          <p:nvPr/>
        </p:nvSpPr>
        <p:spPr>
          <a:xfrm>
            <a:off x="731520" y="10607040"/>
            <a:ext cx="12252960" cy="731520"/>
          </a:xfrm>
          <a:prstGeom prst="rect">
            <a:avLst/>
          </a:prstGeom>
          <a:noFill/>
          <a:ln/>
        </p:spPr>
        <p:txBody>
          <a:bodyPr wrap="square" rtlCol="0" anchor="ctr"/>
          <a:lstStyle/>
          <a:p>
            <a:pPr indent="0" marL="0">
              <a:buNone/>
            </a:pPr>
            <a:r>
              <a:rPr lang="en-US" sz="3600" b="1" dirty="0">
                <a:solidFill>
                  <a:srgbClr val="FFC107"/>
                </a:solidFill>
                <a:latin typeface="Arial" pitchFamily="34" charset="0"/>
                <a:ea typeface="Arial" pitchFamily="34" charset="-122"/>
                <a:cs typeface="Arial" pitchFamily="34" charset="-120"/>
              </a:rPr>
              <a:t>RESEARCH OBJECTIVES</a:t>
            </a:r>
            <a:endParaRPr lang="en-US" sz="3600" dirty="0"/>
          </a:p>
        </p:txBody>
      </p:sp>
      <p:sp>
        <p:nvSpPr>
          <p:cNvPr id="10" name="Text 8"/>
          <p:cNvSpPr/>
          <p:nvPr/>
        </p:nvSpPr>
        <p:spPr>
          <a:xfrm>
            <a:off x="731520" y="11430000"/>
            <a:ext cx="12252960" cy="2743200"/>
          </a:xfrm>
          <a:prstGeom prst="rect">
            <a:avLst/>
          </a:prstGeom>
          <a:noFill/>
          <a:ln/>
        </p:spPr>
        <p:txBody>
          <a:bodyPr wrap="square" rtlCol="0" anchor="t"/>
          <a:lstStyle/>
          <a:p>
            <a:pPr indent="0" marL="0">
              <a:lnSpc>
                <a:spcPts val="2800"/>
              </a:lnSpc>
              <a:buNone/>
            </a:pPr>
            <a:r>
              <a:rPr lang="en-US" sz="2400" dirty="0">
                <a:solidFill>
                  <a:srgbClr val="FFFFFF"/>
                </a:solidFill>
                <a:latin typeface="Arial" pitchFamily="34" charset="0"/>
                <a:ea typeface="Arial" pitchFamily="34" charset="-122"/>
                <a:cs typeface="Arial" pitchFamily="34" charset="-120"/>
              </a:rPr>
              <a:t>1. Develop a computational pipeline to identify compounds that bind NOD2</a:t>
            </a:r>
            <a:endParaRPr lang="en-US" sz="2400" dirty="0"/>
          </a:p>
          <a:p>
            <a:pPr indent="0" marL="0">
              <a:lnSpc>
                <a:spcPts val="2800"/>
              </a:lnSpc>
              <a:buNone/>
            </a:pPr>
            <a:endParaRPr lang="en-US" sz="2400" dirty="0"/>
          </a:p>
          <a:p>
            <a:pPr indent="0" marL="0">
              <a:lnSpc>
                <a:spcPts val="2800"/>
              </a:lnSpc>
              <a:buNone/>
            </a:pPr>
            <a:r>
              <a:rPr lang="en-US" sz="2400" dirty="0">
                <a:solidFill>
                  <a:srgbClr val="FFFFFF"/>
                </a:solidFill>
                <a:latin typeface="Arial" pitchFamily="34" charset="0"/>
                <a:ea typeface="Arial" pitchFamily="34" charset="-122"/>
                <a:cs typeface="Arial" pitchFamily="34" charset="-120"/>
              </a:rPr>
              <a:t>2. Validate binding using free energy perturbation (FEP) calculations</a:t>
            </a:r>
            <a:endParaRPr lang="en-US" sz="2400" dirty="0"/>
          </a:p>
          <a:p>
            <a:pPr indent="0" marL="0">
              <a:lnSpc>
                <a:spcPts val="2800"/>
              </a:lnSpc>
              <a:buNone/>
            </a:pPr>
            <a:endParaRPr lang="en-US" sz="2400" dirty="0"/>
          </a:p>
          <a:p>
            <a:pPr indent="0" marL="0">
              <a:lnSpc>
                <a:spcPts val="2800"/>
              </a:lnSpc>
              <a:buNone/>
            </a:pPr>
            <a:r>
              <a:rPr lang="en-US" sz="2400" dirty="0">
                <a:solidFill>
                  <a:srgbClr val="FFFFFF"/>
                </a:solidFill>
                <a:latin typeface="Arial" pitchFamily="34" charset="0"/>
                <a:ea typeface="Arial" pitchFamily="34" charset="-122"/>
                <a:cs typeface="Arial" pitchFamily="34" charset="-120"/>
              </a:rPr>
              <a:t>3. Quantify how the R702W mutation affects binding affinity</a:t>
            </a:r>
            <a:endParaRPr lang="en-US" sz="2400" dirty="0"/>
          </a:p>
          <a:p>
            <a:pPr indent="0" marL="0">
              <a:lnSpc>
                <a:spcPts val="2800"/>
              </a:lnSpc>
              <a:buNone/>
            </a:pPr>
            <a:endParaRPr lang="en-US" sz="2400" dirty="0"/>
          </a:p>
          <a:p>
            <a:pPr indent="0" marL="0">
              <a:lnSpc>
                <a:spcPts val="2800"/>
              </a:lnSpc>
              <a:buNone/>
            </a:pPr>
            <a:r>
              <a:rPr lang="en-US" sz="2400" dirty="0">
                <a:solidFill>
                  <a:srgbClr val="FFFFFF"/>
                </a:solidFill>
                <a:latin typeface="Arial" pitchFamily="34" charset="0"/>
                <a:ea typeface="Arial" pitchFamily="34" charset="-122"/>
                <a:cs typeface="Arial" pitchFamily="34" charset="-120"/>
              </a:rPr>
              <a:t>4. Characterize conformational dynamics differences between WT and R702W</a:t>
            </a:r>
            <a:endParaRPr lang="en-US" sz="2400" dirty="0"/>
          </a:p>
        </p:txBody>
      </p:sp>
      <p:sp>
        <p:nvSpPr>
          <p:cNvPr id="11" name="Text 9"/>
          <p:cNvSpPr/>
          <p:nvPr/>
        </p:nvSpPr>
        <p:spPr>
          <a:xfrm>
            <a:off x="731520" y="14447520"/>
            <a:ext cx="12252960" cy="731520"/>
          </a:xfrm>
          <a:prstGeom prst="rect">
            <a:avLst/>
          </a:prstGeom>
          <a:noFill/>
          <a:ln/>
        </p:spPr>
        <p:txBody>
          <a:bodyPr wrap="square" rtlCol="0" anchor="ctr"/>
          <a:lstStyle/>
          <a:p>
            <a:pPr indent="0" marL="0">
              <a:buNone/>
            </a:pPr>
            <a:r>
              <a:rPr lang="en-US" sz="3600" b="1" dirty="0">
                <a:solidFill>
                  <a:srgbClr val="FFC107"/>
                </a:solidFill>
                <a:latin typeface="Arial" pitchFamily="34" charset="0"/>
                <a:ea typeface="Arial" pitchFamily="34" charset="-122"/>
                <a:cs typeface="Arial" pitchFamily="34" charset="-120"/>
              </a:rPr>
              <a:t>NOD2 STRUCTURE</a:t>
            </a:r>
            <a:endParaRPr lang="en-US" sz="3600" dirty="0"/>
          </a:p>
        </p:txBody>
      </p:sp>
      <p:sp>
        <p:nvSpPr>
          <p:cNvPr id="12" name="Shape 10"/>
          <p:cNvSpPr/>
          <p:nvPr/>
        </p:nvSpPr>
        <p:spPr>
          <a:xfrm>
            <a:off x="731520" y="15361920"/>
            <a:ext cx="12252960" cy="6400800"/>
          </a:xfrm>
          <a:prstGeom prst="rect">
            <a:avLst/>
          </a:prstGeom>
          <a:solidFill>
            <a:srgbClr val="FFFFFF"/>
          </a:solidFill>
          <a:ln/>
        </p:spPr>
      </p:sp>
      <p:pic>
        <p:nvPicPr>
          <p:cNvPr id="13" name="Image 0" descr="/home/claude/isef_poster_final/figA1_full_domains_white.png">    </p:cNvPr>
          <p:cNvPicPr>
            <a:picLocks noChangeAspect="1"/>
          </p:cNvPicPr>
          <p:nvPr/>
        </p:nvPicPr>
        <p:blipFill>
          <a:blip r:embed="rId1"/>
          <a:stretch>
            <a:fillRect/>
          </a:stretch>
        </p:blipFill>
        <p:spPr>
          <a:xfrm>
            <a:off x="1005840" y="15544800"/>
            <a:ext cx="11704320" cy="6035040"/>
          </a:xfrm>
          <a:prstGeom prst="rect">
            <a:avLst/>
          </a:prstGeom>
        </p:spPr>
      </p:pic>
      <p:sp>
        <p:nvSpPr>
          <p:cNvPr id="14" name="Text 11"/>
          <p:cNvSpPr/>
          <p:nvPr/>
        </p:nvSpPr>
        <p:spPr>
          <a:xfrm>
            <a:off x="731520" y="21854160"/>
            <a:ext cx="12252960" cy="731520"/>
          </a:xfrm>
          <a:prstGeom prst="rect">
            <a:avLst/>
          </a:prstGeom>
          <a:noFill/>
          <a:ln/>
        </p:spPr>
        <p:txBody>
          <a:bodyPr wrap="square" rtlCol="0" anchor="ctr"/>
          <a:lstStyle/>
          <a:p>
            <a:pPr indent="0" marL="0">
              <a:buNone/>
            </a:pPr>
            <a:r>
              <a:rPr lang="en-US" sz="1600" i="1" dirty="0">
                <a:solidFill>
                  <a:srgbClr val="E0E0E0"/>
                </a:solidFill>
                <a:latin typeface="Arial" pitchFamily="34" charset="0"/>
                <a:ea typeface="Arial" pitchFamily="34" charset="-122"/>
                <a:cs typeface="Arial" pitchFamily="34" charset="-120"/>
              </a:rPr>
              <a:t>Fig 1. NOD2 domain architecture. CARD (gray), NBD (blue), HD2/R702W site (orange), LRR binding domain (green). R702W mutation is ~80Å from binding pocket. Created by Finalist using PyMOL.</a:t>
            </a:r>
            <a:endParaRPr lang="en-US" sz="1600" dirty="0"/>
          </a:p>
        </p:txBody>
      </p:sp>
      <p:sp>
        <p:nvSpPr>
          <p:cNvPr id="15" name="Text 12"/>
          <p:cNvSpPr/>
          <p:nvPr/>
        </p:nvSpPr>
        <p:spPr>
          <a:xfrm>
            <a:off x="731520" y="22860000"/>
            <a:ext cx="12252960" cy="731520"/>
          </a:xfrm>
          <a:prstGeom prst="rect">
            <a:avLst/>
          </a:prstGeom>
          <a:noFill/>
          <a:ln/>
        </p:spPr>
        <p:txBody>
          <a:bodyPr wrap="square" rtlCol="0" anchor="ctr"/>
          <a:lstStyle/>
          <a:p>
            <a:pPr indent="0" marL="0">
              <a:buNone/>
            </a:pPr>
            <a:r>
              <a:rPr lang="en-US" sz="3600" b="1" dirty="0">
                <a:solidFill>
                  <a:srgbClr val="FFC107"/>
                </a:solidFill>
                <a:latin typeface="Arial" pitchFamily="34" charset="0"/>
                <a:ea typeface="Arial" pitchFamily="34" charset="-122"/>
                <a:cs typeface="Arial" pitchFamily="34" charset="-120"/>
              </a:rPr>
              <a:t>R702W MUTATION SITE</a:t>
            </a:r>
            <a:endParaRPr lang="en-US" sz="3600" dirty="0"/>
          </a:p>
        </p:txBody>
      </p:sp>
      <p:sp>
        <p:nvSpPr>
          <p:cNvPr id="16" name="Shape 13"/>
          <p:cNvSpPr/>
          <p:nvPr/>
        </p:nvSpPr>
        <p:spPr>
          <a:xfrm>
            <a:off x="731520" y="23774400"/>
            <a:ext cx="12252960" cy="5029200"/>
          </a:xfrm>
          <a:prstGeom prst="rect">
            <a:avLst/>
          </a:prstGeom>
          <a:solidFill>
            <a:srgbClr val="FFFFFF"/>
          </a:solidFill>
          <a:ln/>
        </p:spPr>
      </p:sp>
      <p:pic>
        <p:nvPicPr>
          <p:cNvPr id="17" name="Image 1" descr="/home/claude/isef_poster_final/figA3_r702w_closeup.png">    </p:cNvPr>
          <p:cNvPicPr>
            <a:picLocks noChangeAspect="1"/>
          </p:cNvPicPr>
          <p:nvPr/>
        </p:nvPicPr>
        <p:blipFill>
          <a:blip r:embed="rId2"/>
          <a:stretch>
            <a:fillRect/>
          </a:stretch>
        </p:blipFill>
        <p:spPr>
          <a:xfrm>
            <a:off x="1188720" y="23865840"/>
            <a:ext cx="11338560" cy="4846320"/>
          </a:xfrm>
          <a:prstGeom prst="rect">
            <a:avLst/>
          </a:prstGeom>
        </p:spPr>
      </p:pic>
      <p:sp>
        <p:nvSpPr>
          <p:cNvPr id="18" name="Text 14"/>
          <p:cNvSpPr/>
          <p:nvPr/>
        </p:nvSpPr>
        <p:spPr>
          <a:xfrm>
            <a:off x="731520" y="28895040"/>
            <a:ext cx="12252960" cy="731520"/>
          </a:xfrm>
          <a:prstGeom prst="rect">
            <a:avLst/>
          </a:prstGeom>
          <a:noFill/>
          <a:ln/>
        </p:spPr>
        <p:txBody>
          <a:bodyPr wrap="square" rtlCol="0" anchor="ctr"/>
          <a:lstStyle/>
          <a:p>
            <a:pPr indent="0" marL="0">
              <a:buNone/>
            </a:pPr>
            <a:r>
              <a:rPr lang="en-US" sz="1600" i="1" dirty="0">
                <a:solidFill>
                  <a:srgbClr val="E0E0E0"/>
                </a:solidFill>
                <a:latin typeface="Arial" pitchFamily="34" charset="0"/>
                <a:ea typeface="Arial" pitchFamily="34" charset="-122"/>
                <a:cs typeface="Arial" pitchFamily="34" charset="-120"/>
              </a:rPr>
              <a:t>Fig 2. Close-up of HD2 domain showing R702W mutation site. Arginine→Tryptophan substitution eliminates positive charge. Created by Finalist using PyMOL.</a:t>
            </a:r>
            <a:endParaRPr lang="en-US" sz="1600" dirty="0"/>
          </a:p>
        </p:txBody>
      </p:sp>
      <p:sp>
        <p:nvSpPr>
          <p:cNvPr id="19" name="Text 15"/>
          <p:cNvSpPr/>
          <p:nvPr/>
        </p:nvSpPr>
        <p:spPr>
          <a:xfrm>
            <a:off x="13716000" y="3657600"/>
            <a:ext cx="15544800" cy="731520"/>
          </a:xfrm>
          <a:prstGeom prst="rect">
            <a:avLst/>
          </a:prstGeom>
          <a:noFill/>
          <a:ln/>
        </p:spPr>
        <p:txBody>
          <a:bodyPr wrap="square" rtlCol="0" anchor="ctr"/>
          <a:lstStyle/>
          <a:p>
            <a:pPr indent="0" marL="0">
              <a:buNone/>
            </a:pPr>
            <a:r>
              <a:rPr lang="en-US" sz="3600" b="1" dirty="0">
                <a:solidFill>
                  <a:srgbClr val="FFC107"/>
                </a:solidFill>
                <a:latin typeface="Arial" pitchFamily="34" charset="0"/>
                <a:ea typeface="Arial" pitchFamily="34" charset="-122"/>
                <a:cs typeface="Arial" pitchFamily="34" charset="-120"/>
              </a:rPr>
              <a:t>COMPUTATIONAL PIPELINE</a:t>
            </a:r>
            <a:endParaRPr lang="en-US" sz="3600" dirty="0"/>
          </a:p>
        </p:txBody>
      </p:sp>
      <p:sp>
        <p:nvSpPr>
          <p:cNvPr id="20" name="Shape 16"/>
          <p:cNvSpPr/>
          <p:nvPr/>
        </p:nvSpPr>
        <p:spPr>
          <a:xfrm>
            <a:off x="13716000" y="4572000"/>
            <a:ext cx="15544800" cy="2926080"/>
          </a:xfrm>
          <a:prstGeom prst="rect">
            <a:avLst/>
          </a:prstGeom>
          <a:solidFill>
            <a:srgbClr val="FFFFFF"/>
          </a:solidFill>
          <a:ln/>
        </p:spPr>
      </p:sp>
      <p:pic>
        <p:nvPicPr>
          <p:cNvPr id="21" name="Image 2" descr="/home/claude/isef_poster_final/chart1_pipeline.png">    </p:cNvPr>
          <p:cNvPicPr>
            <a:picLocks noChangeAspect="1"/>
          </p:cNvPicPr>
          <p:nvPr/>
        </p:nvPicPr>
        <p:blipFill>
          <a:blip r:embed="rId3"/>
          <a:stretch>
            <a:fillRect/>
          </a:stretch>
        </p:blipFill>
        <p:spPr>
          <a:xfrm>
            <a:off x="13898880" y="4663440"/>
            <a:ext cx="15179040" cy="2743200"/>
          </a:xfrm>
          <a:prstGeom prst="rect">
            <a:avLst/>
          </a:prstGeom>
        </p:spPr>
      </p:pic>
      <p:sp>
        <p:nvSpPr>
          <p:cNvPr id="22" name="Text 17"/>
          <p:cNvSpPr/>
          <p:nvPr/>
        </p:nvSpPr>
        <p:spPr>
          <a:xfrm>
            <a:off x="13716000" y="7589520"/>
            <a:ext cx="15544800" cy="548640"/>
          </a:xfrm>
          <a:prstGeom prst="rect">
            <a:avLst/>
          </a:prstGeom>
          <a:noFill/>
          <a:ln/>
        </p:spPr>
        <p:txBody>
          <a:bodyPr wrap="square" rtlCol="0" anchor="ctr"/>
          <a:lstStyle/>
          <a:p>
            <a:pPr indent="0" marL="0">
              <a:buNone/>
            </a:pPr>
            <a:r>
              <a:rPr lang="en-US" sz="1600" i="1" dirty="0">
                <a:solidFill>
                  <a:srgbClr val="E0E0E0"/>
                </a:solidFill>
                <a:latin typeface="Arial" pitchFamily="34" charset="0"/>
                <a:ea typeface="Arial" pitchFamily="34" charset="-122"/>
                <a:cs typeface="Arial" pitchFamily="34" charset="-120"/>
              </a:rPr>
              <a:t>Fig 3. Five-stage computational pipeline: compound library → GNINA docking → ML scoring → MD simulation → FEP validation. Created by Finalist using Python/matplotlib.</a:t>
            </a:r>
            <a:endParaRPr lang="en-US" sz="1600" dirty="0"/>
          </a:p>
        </p:txBody>
      </p:sp>
      <p:sp>
        <p:nvSpPr>
          <p:cNvPr id="23" name="Text 18"/>
          <p:cNvSpPr/>
          <p:nvPr/>
        </p:nvSpPr>
        <p:spPr>
          <a:xfrm>
            <a:off x="13716000" y="8412480"/>
            <a:ext cx="15544800" cy="731520"/>
          </a:xfrm>
          <a:prstGeom prst="rect">
            <a:avLst/>
          </a:prstGeom>
          <a:noFill/>
          <a:ln/>
        </p:spPr>
        <p:txBody>
          <a:bodyPr wrap="square" rtlCol="0" anchor="ctr"/>
          <a:lstStyle/>
          <a:p>
            <a:pPr indent="0" marL="0">
              <a:buNone/>
            </a:pPr>
            <a:r>
              <a:rPr lang="en-US" sz="3600" b="1" dirty="0">
                <a:solidFill>
                  <a:srgbClr val="FFC107"/>
                </a:solidFill>
                <a:latin typeface="Arial" pitchFamily="34" charset="0"/>
                <a:ea typeface="Arial" pitchFamily="34" charset="-122"/>
                <a:cs typeface="Arial" pitchFamily="34" charset="-120"/>
              </a:rPr>
              <a:t>MATERIALS &amp; METHODS</a:t>
            </a:r>
            <a:endParaRPr lang="en-US" sz="3600" dirty="0"/>
          </a:p>
        </p:txBody>
      </p:sp>
      <p:sp>
        <p:nvSpPr>
          <p:cNvPr id="24" name="Text 19"/>
          <p:cNvSpPr/>
          <p:nvPr/>
        </p:nvSpPr>
        <p:spPr>
          <a:xfrm>
            <a:off x="13716000" y="9326880"/>
            <a:ext cx="4937760" cy="457200"/>
          </a:xfrm>
          <a:prstGeom prst="rect">
            <a:avLst/>
          </a:prstGeom>
          <a:noFill/>
          <a:ln/>
        </p:spPr>
        <p:txBody>
          <a:bodyPr wrap="square" rtlCol="0" anchor="ctr"/>
          <a:lstStyle/>
          <a:p>
            <a:pPr indent="0" marL="0">
              <a:buNone/>
            </a:pPr>
            <a:r>
              <a:rPr lang="en-US" sz="2400" b="1" dirty="0">
                <a:solidFill>
                  <a:srgbClr val="FFC107"/>
                </a:solidFill>
                <a:latin typeface="Arial" pitchFamily="34" charset="0"/>
                <a:ea typeface="Arial" pitchFamily="34" charset="-122"/>
                <a:cs typeface="Arial" pitchFamily="34" charset="-120"/>
              </a:rPr>
              <a:t>Compound Screening</a:t>
            </a:r>
            <a:endParaRPr lang="en-US" sz="2400" dirty="0"/>
          </a:p>
        </p:txBody>
      </p:sp>
      <p:sp>
        <p:nvSpPr>
          <p:cNvPr id="25" name="Text 20"/>
          <p:cNvSpPr/>
          <p:nvPr/>
        </p:nvSpPr>
        <p:spPr>
          <a:xfrm>
            <a:off x="13716000" y="9784080"/>
            <a:ext cx="4937760" cy="3200400"/>
          </a:xfrm>
          <a:prstGeom prst="rect">
            <a:avLst/>
          </a:prstGeom>
          <a:noFill/>
          <a:ln/>
        </p:spPr>
        <p:txBody>
          <a:bodyPr wrap="square" rtlCol="0" anchor="t"/>
          <a:lstStyle/>
          <a:p>
            <a:pPr indent="0" marL="0">
              <a:lnSpc>
                <a:spcPts val="2200"/>
              </a:lnSpc>
              <a:buNone/>
            </a:pPr>
            <a:r>
              <a:rPr lang="en-US" sz="2000" dirty="0">
                <a:solidFill>
                  <a:srgbClr val="FFFFFF"/>
                </a:solidFill>
                <a:latin typeface="Arial" pitchFamily="34" charset="0"/>
                <a:ea typeface="Arial" pitchFamily="34" charset="-122"/>
                <a:cs typeface="Arial" pitchFamily="34" charset="-120"/>
              </a:rPr>
              <a:t>• 9,566 compounds screened</a:t>
            </a:r>
            <a:endParaRPr lang="en-US" sz="2000" dirty="0"/>
          </a:p>
          <a:p>
            <a:pPr indent="0" marL="0">
              <a:lnSpc>
                <a:spcPts val="2200"/>
              </a:lnSpc>
              <a:buNone/>
            </a:pPr>
            <a:r>
              <a:rPr lang="en-US" sz="2000" dirty="0">
                <a:solidFill>
                  <a:srgbClr val="FFFFFF"/>
                </a:solidFill>
                <a:latin typeface="Arial" pitchFamily="34" charset="0"/>
                <a:ea typeface="Arial" pitchFamily="34" charset="-122"/>
                <a:cs typeface="Arial" pitchFamily="34" charset="-120"/>
              </a:rPr>
              <a:t>  (7,414 natural + 2,152 FDA)</a:t>
            </a:r>
            <a:endParaRPr lang="en-US" sz="2000" dirty="0"/>
          </a:p>
          <a:p>
            <a:pPr indent="0" marL="0">
              <a:lnSpc>
                <a:spcPts val="2200"/>
              </a:lnSpc>
              <a:buNone/>
            </a:pPr>
            <a:r>
              <a:rPr lang="en-US" sz="2000" dirty="0">
                <a:solidFill>
                  <a:srgbClr val="FFFFFF"/>
                </a:solidFill>
                <a:latin typeface="Arial" pitchFamily="34" charset="0"/>
                <a:ea typeface="Arial" pitchFamily="34" charset="-122"/>
                <a:cs typeface="Arial" pitchFamily="34" charset="-120"/>
              </a:rPr>
              <a:t>• AlphaFold2 NOD2 structure</a:t>
            </a:r>
            <a:endParaRPr lang="en-US" sz="2000" dirty="0"/>
          </a:p>
          <a:p>
            <a:pPr indent="0" marL="0">
              <a:lnSpc>
                <a:spcPts val="2200"/>
              </a:lnSpc>
              <a:buNone/>
            </a:pPr>
            <a:r>
              <a:rPr lang="en-US" sz="2000" dirty="0">
                <a:solidFill>
                  <a:srgbClr val="FFFFFF"/>
                </a:solidFill>
                <a:latin typeface="Arial" pitchFamily="34" charset="0"/>
                <a:ea typeface="Arial" pitchFamily="34" charset="-122"/>
                <a:cs typeface="Arial" pitchFamily="34" charset="-120"/>
              </a:rPr>
              <a:t>• GNINA CNN-based docking</a:t>
            </a:r>
            <a:endParaRPr lang="en-US" sz="2000" dirty="0"/>
          </a:p>
          <a:p>
            <a:pPr indent="0" marL="0">
              <a:lnSpc>
                <a:spcPts val="2200"/>
              </a:lnSpc>
              <a:buNone/>
            </a:pPr>
            <a:r>
              <a:rPr lang="en-US" sz="2000" dirty="0">
                <a:solidFill>
                  <a:srgbClr val="FFFFFF"/>
                </a:solidFill>
                <a:latin typeface="Arial" pitchFamily="34" charset="0"/>
                <a:ea typeface="Arial" pitchFamily="34" charset="-122"/>
                <a:cs typeface="Arial" pitchFamily="34" charset="-120"/>
              </a:rPr>
              <a:t>• NOD2-Scout XGBoost classifier</a:t>
            </a:r>
            <a:endParaRPr lang="en-US" sz="2000" dirty="0"/>
          </a:p>
          <a:p>
            <a:pPr indent="0" marL="0">
              <a:lnSpc>
                <a:spcPts val="2200"/>
              </a:lnSpc>
              <a:buNone/>
            </a:pPr>
            <a:r>
              <a:rPr lang="en-US" sz="2000" dirty="0">
                <a:solidFill>
                  <a:srgbClr val="FFFFFF"/>
                </a:solidFill>
                <a:latin typeface="Arial" pitchFamily="34" charset="0"/>
                <a:ea typeface="Arial" pitchFamily="34" charset="-122"/>
                <a:cs typeface="Arial" pitchFamily="34" charset="-120"/>
              </a:rPr>
              <a:t>  (AUC 0.85-0.93, scaffold-split CV)</a:t>
            </a:r>
            <a:endParaRPr lang="en-US" sz="2000" dirty="0"/>
          </a:p>
        </p:txBody>
      </p:sp>
      <p:sp>
        <p:nvSpPr>
          <p:cNvPr id="26" name="Text 21"/>
          <p:cNvSpPr/>
          <p:nvPr/>
        </p:nvSpPr>
        <p:spPr>
          <a:xfrm>
            <a:off x="19019520" y="9326880"/>
            <a:ext cx="4937760" cy="457200"/>
          </a:xfrm>
          <a:prstGeom prst="rect">
            <a:avLst/>
          </a:prstGeom>
          <a:noFill/>
          <a:ln/>
        </p:spPr>
        <p:txBody>
          <a:bodyPr wrap="square" rtlCol="0" anchor="ctr"/>
          <a:lstStyle/>
          <a:p>
            <a:pPr indent="0" marL="0">
              <a:buNone/>
            </a:pPr>
            <a:r>
              <a:rPr lang="en-US" sz="2400" b="1" dirty="0">
                <a:solidFill>
                  <a:srgbClr val="FFC107"/>
                </a:solidFill>
                <a:latin typeface="Arial" pitchFamily="34" charset="0"/>
                <a:ea typeface="Arial" pitchFamily="34" charset="-122"/>
                <a:cs typeface="Arial" pitchFamily="34" charset="-120"/>
              </a:rPr>
              <a:t>MD Simulation</a:t>
            </a:r>
            <a:endParaRPr lang="en-US" sz="2400" dirty="0"/>
          </a:p>
        </p:txBody>
      </p:sp>
      <p:sp>
        <p:nvSpPr>
          <p:cNvPr id="27" name="Text 22"/>
          <p:cNvSpPr/>
          <p:nvPr/>
        </p:nvSpPr>
        <p:spPr>
          <a:xfrm>
            <a:off x="19019520" y="9784080"/>
            <a:ext cx="4937760" cy="3200400"/>
          </a:xfrm>
          <a:prstGeom prst="rect">
            <a:avLst/>
          </a:prstGeom>
          <a:noFill/>
          <a:ln/>
        </p:spPr>
        <p:txBody>
          <a:bodyPr wrap="square" rtlCol="0" anchor="t"/>
          <a:lstStyle/>
          <a:p>
            <a:pPr indent="0" marL="0">
              <a:lnSpc>
                <a:spcPts val="2200"/>
              </a:lnSpc>
              <a:buNone/>
            </a:pPr>
            <a:r>
              <a:rPr lang="en-US" sz="2000" dirty="0">
                <a:solidFill>
                  <a:srgbClr val="FFFFFF"/>
                </a:solidFill>
                <a:latin typeface="Arial" pitchFamily="34" charset="0"/>
                <a:ea typeface="Arial" pitchFamily="34" charset="-122"/>
                <a:cs typeface="Arial" pitchFamily="34" charset="-120"/>
              </a:rPr>
              <a:t>• OpenMM 8.0</a:t>
            </a:r>
            <a:endParaRPr lang="en-US" sz="2000" dirty="0"/>
          </a:p>
          <a:p>
            <a:pPr indent="0" marL="0">
              <a:lnSpc>
                <a:spcPts val="2200"/>
              </a:lnSpc>
              <a:buNone/>
            </a:pPr>
            <a:r>
              <a:rPr lang="en-US" sz="2000" dirty="0">
                <a:solidFill>
                  <a:srgbClr val="FFFFFF"/>
                </a:solidFill>
                <a:latin typeface="Arial" pitchFamily="34" charset="0"/>
                <a:ea typeface="Arial" pitchFamily="34" charset="-122"/>
                <a:cs typeface="Arial" pitchFamily="34" charset="-120"/>
              </a:rPr>
              <a:t>• AMBER14 + OpenFF 2.1.0</a:t>
            </a:r>
            <a:endParaRPr lang="en-US" sz="2000" dirty="0"/>
          </a:p>
          <a:p>
            <a:pPr indent="0" marL="0">
              <a:lnSpc>
                <a:spcPts val="2200"/>
              </a:lnSpc>
              <a:buNone/>
            </a:pPr>
            <a:r>
              <a:rPr lang="en-US" sz="2000" dirty="0">
                <a:solidFill>
                  <a:srgbClr val="FFFFFF"/>
                </a:solidFill>
                <a:latin typeface="Arial" pitchFamily="34" charset="0"/>
                <a:ea typeface="Arial" pitchFamily="34" charset="-122"/>
                <a:cs typeface="Arial" pitchFamily="34" charset="-120"/>
              </a:rPr>
              <a:t>• TIP3P-FB water, 150 mM NaCl</a:t>
            </a:r>
            <a:endParaRPr lang="en-US" sz="2000" dirty="0"/>
          </a:p>
          <a:p>
            <a:pPr indent="0" marL="0">
              <a:lnSpc>
                <a:spcPts val="2200"/>
              </a:lnSpc>
              <a:buNone/>
            </a:pPr>
            <a:r>
              <a:rPr lang="en-US" sz="2000" dirty="0">
                <a:solidFill>
                  <a:srgbClr val="FFFFFF"/>
                </a:solidFill>
                <a:latin typeface="Arial" pitchFamily="34" charset="0"/>
                <a:ea typeface="Arial" pitchFamily="34" charset="-122"/>
                <a:cs typeface="Arial" pitchFamily="34" charset="-120"/>
              </a:rPr>
              <a:t>• 310 K, 1 atm, Langevin</a:t>
            </a:r>
            <a:endParaRPr lang="en-US" sz="2000" dirty="0"/>
          </a:p>
          <a:p>
            <a:pPr indent="0" marL="0">
              <a:lnSpc>
                <a:spcPts val="2200"/>
              </a:lnSpc>
              <a:buNone/>
            </a:pPr>
            <a:r>
              <a:rPr lang="en-US" sz="2000" dirty="0">
                <a:solidFill>
                  <a:srgbClr val="FFFFFF"/>
                </a:solidFill>
                <a:latin typeface="Arial" pitchFamily="34" charset="0"/>
                <a:ea typeface="Arial" pitchFamily="34" charset="-122"/>
                <a:cs typeface="Arial" pitchFamily="34" charset="-120"/>
              </a:rPr>
              <a:t>• 520 ns total simulation</a:t>
            </a:r>
            <a:endParaRPr lang="en-US" sz="2000" dirty="0"/>
          </a:p>
          <a:p>
            <a:pPr indent="0" marL="0">
              <a:lnSpc>
                <a:spcPts val="2200"/>
              </a:lnSpc>
              <a:buNone/>
            </a:pPr>
            <a:r>
              <a:rPr lang="en-US" sz="2000" dirty="0">
                <a:solidFill>
                  <a:srgbClr val="FFFFFF"/>
                </a:solidFill>
                <a:latin typeface="Arial" pitchFamily="34" charset="0"/>
                <a:ea typeface="Arial" pitchFamily="34" charset="-122"/>
                <a:cs typeface="Arial" pitchFamily="34" charset="-120"/>
              </a:rPr>
              <a:t>• WT apo (n=4), R702W apo (n=3)</a:t>
            </a:r>
            <a:endParaRPr lang="en-US" sz="2000" dirty="0"/>
          </a:p>
        </p:txBody>
      </p:sp>
      <p:sp>
        <p:nvSpPr>
          <p:cNvPr id="28" name="Text 23"/>
          <p:cNvSpPr/>
          <p:nvPr/>
        </p:nvSpPr>
        <p:spPr>
          <a:xfrm>
            <a:off x="24323040" y="9326880"/>
            <a:ext cx="4937760" cy="457200"/>
          </a:xfrm>
          <a:prstGeom prst="rect">
            <a:avLst/>
          </a:prstGeom>
          <a:noFill/>
          <a:ln/>
        </p:spPr>
        <p:txBody>
          <a:bodyPr wrap="square" rtlCol="0" anchor="ctr"/>
          <a:lstStyle/>
          <a:p>
            <a:pPr indent="0" marL="0">
              <a:buNone/>
            </a:pPr>
            <a:r>
              <a:rPr lang="en-US" sz="2400" b="1" dirty="0">
                <a:solidFill>
                  <a:srgbClr val="FFC107"/>
                </a:solidFill>
                <a:latin typeface="Arial" pitchFamily="34" charset="0"/>
                <a:ea typeface="Arial" pitchFamily="34" charset="-122"/>
                <a:cs typeface="Arial" pitchFamily="34" charset="-120"/>
              </a:rPr>
              <a:t>FEP Calculations</a:t>
            </a:r>
            <a:endParaRPr lang="en-US" sz="2400" dirty="0"/>
          </a:p>
        </p:txBody>
      </p:sp>
      <p:sp>
        <p:nvSpPr>
          <p:cNvPr id="29" name="Text 24"/>
          <p:cNvSpPr/>
          <p:nvPr/>
        </p:nvSpPr>
        <p:spPr>
          <a:xfrm>
            <a:off x="24323040" y="9784080"/>
            <a:ext cx="4937760" cy="3200400"/>
          </a:xfrm>
          <a:prstGeom prst="rect">
            <a:avLst/>
          </a:prstGeom>
          <a:noFill/>
          <a:ln/>
        </p:spPr>
        <p:txBody>
          <a:bodyPr wrap="square" rtlCol="0" anchor="t"/>
          <a:lstStyle/>
          <a:p>
            <a:pPr indent="0" marL="0">
              <a:lnSpc>
                <a:spcPts val="2200"/>
              </a:lnSpc>
              <a:buNone/>
            </a:pPr>
            <a:r>
              <a:rPr lang="en-US" sz="2000" dirty="0">
                <a:solidFill>
                  <a:srgbClr val="FFFFFF"/>
                </a:solidFill>
                <a:latin typeface="Arial" pitchFamily="34" charset="0"/>
                <a:ea typeface="Arial" pitchFamily="34" charset="-122"/>
                <a:cs typeface="Arial" pitchFamily="34" charset="-120"/>
              </a:rPr>
              <a:t>• Gold-standard binding ΔG</a:t>
            </a:r>
            <a:endParaRPr lang="en-US" sz="2000" dirty="0"/>
          </a:p>
          <a:p>
            <a:pPr indent="0" marL="0">
              <a:lnSpc>
                <a:spcPts val="2200"/>
              </a:lnSpc>
              <a:buNone/>
            </a:pPr>
            <a:r>
              <a:rPr lang="en-US" sz="2000" dirty="0">
                <a:solidFill>
                  <a:srgbClr val="FFFFFF"/>
                </a:solidFill>
                <a:latin typeface="Arial" pitchFamily="34" charset="0"/>
                <a:ea typeface="Arial" pitchFamily="34" charset="-122"/>
                <a:cs typeface="Arial" pitchFamily="34" charset="-120"/>
              </a:rPr>
              <a:t>• 120 lambda windows</a:t>
            </a:r>
            <a:endParaRPr lang="en-US" sz="2000" dirty="0"/>
          </a:p>
          <a:p>
            <a:pPr indent="0" marL="0">
              <a:lnSpc>
                <a:spcPts val="2200"/>
              </a:lnSpc>
              <a:buNone/>
            </a:pPr>
            <a:r>
              <a:rPr lang="en-US" sz="2000" dirty="0">
                <a:solidFill>
                  <a:srgbClr val="FFFFFF"/>
                </a:solidFill>
                <a:latin typeface="Arial" pitchFamily="34" charset="0"/>
                <a:ea typeface="Arial" pitchFamily="34" charset="-122"/>
                <a:cs typeface="Arial" pitchFamily="34" charset="-120"/>
              </a:rPr>
              <a:t>  (80 complex + 40 solvent)</a:t>
            </a:r>
            <a:endParaRPr lang="en-US" sz="2000" dirty="0"/>
          </a:p>
          <a:p>
            <a:pPr indent="0" marL="0">
              <a:lnSpc>
                <a:spcPts val="2200"/>
              </a:lnSpc>
              <a:buNone/>
            </a:pPr>
            <a:r>
              <a:rPr lang="en-US" sz="2000" dirty="0">
                <a:solidFill>
                  <a:srgbClr val="FFFFFF"/>
                </a:solidFill>
                <a:latin typeface="Arial" pitchFamily="34" charset="0"/>
                <a:ea typeface="Arial" pitchFamily="34" charset="-122"/>
                <a:cs typeface="Arial" pitchFamily="34" charset="-120"/>
              </a:rPr>
              <a:t>• Boresch restraints</a:t>
            </a:r>
            <a:endParaRPr lang="en-US" sz="2000" dirty="0"/>
          </a:p>
          <a:p>
            <a:pPr indent="0" marL="0">
              <a:lnSpc>
                <a:spcPts val="2200"/>
              </a:lnSpc>
              <a:buNone/>
            </a:pPr>
            <a:r>
              <a:rPr lang="en-US" sz="2000" dirty="0">
                <a:solidFill>
                  <a:srgbClr val="FFFFFF"/>
                </a:solidFill>
                <a:latin typeface="Arial" pitchFamily="34" charset="0"/>
                <a:ea typeface="Arial" pitchFamily="34" charset="-122"/>
                <a:cs typeface="Arial" pitchFamily="34" charset="-120"/>
              </a:rPr>
              <a:t>• MBAR analysis (pymbar)</a:t>
            </a:r>
            <a:endParaRPr lang="en-US" sz="2000" dirty="0"/>
          </a:p>
          <a:p>
            <a:pPr indent="0" marL="0">
              <a:lnSpc>
                <a:spcPts val="2200"/>
              </a:lnSpc>
              <a:buNone/>
            </a:pPr>
            <a:r>
              <a:rPr lang="en-US" sz="2000" dirty="0">
                <a:solidFill>
                  <a:srgbClr val="FFFFFF"/>
                </a:solidFill>
                <a:latin typeface="Arial" pitchFamily="34" charset="0"/>
                <a:ea typeface="Arial" pitchFamily="34" charset="-122"/>
                <a:cs typeface="Arial" pitchFamily="34" charset="-120"/>
              </a:rPr>
              <a:t>• Tested: Febuxostat,</a:t>
            </a:r>
            <a:endParaRPr lang="en-US" sz="2000" dirty="0"/>
          </a:p>
          <a:p>
            <a:pPr indent="0" marL="0">
              <a:lnSpc>
                <a:spcPts val="2200"/>
              </a:lnSpc>
              <a:buNone/>
            </a:pPr>
            <a:r>
              <a:rPr lang="en-US" sz="2000" dirty="0">
                <a:solidFill>
                  <a:srgbClr val="FFFFFF"/>
                </a:solidFill>
                <a:latin typeface="Arial" pitchFamily="34" charset="0"/>
                <a:ea typeface="Arial" pitchFamily="34" charset="-122"/>
                <a:cs typeface="Arial" pitchFamily="34" charset="-120"/>
              </a:rPr>
              <a:t>  Bufadienolide</a:t>
            </a:r>
            <a:endParaRPr lang="en-US" sz="2000" dirty="0"/>
          </a:p>
        </p:txBody>
      </p:sp>
      <p:sp>
        <p:nvSpPr>
          <p:cNvPr id="30" name="Shape 25"/>
          <p:cNvSpPr/>
          <p:nvPr/>
        </p:nvSpPr>
        <p:spPr>
          <a:xfrm>
            <a:off x="13533120" y="13258800"/>
            <a:ext cx="15910560" cy="8778240"/>
          </a:xfrm>
          <a:prstGeom prst="rect">
            <a:avLst/>
          </a:prstGeom>
          <a:solidFill>
            <a:srgbClr val="1A237E"/>
          </a:solidFill>
          <a:ln w="38100">
            <a:solidFill>
              <a:srgbClr val="FFC107"/>
            </a:solidFill>
            <a:prstDash val="solid"/>
          </a:ln>
        </p:spPr>
      </p:sp>
      <p:sp>
        <p:nvSpPr>
          <p:cNvPr id="31" name="Text 26"/>
          <p:cNvSpPr/>
          <p:nvPr/>
        </p:nvSpPr>
        <p:spPr>
          <a:xfrm>
            <a:off x="13716000" y="13441680"/>
            <a:ext cx="15544800" cy="822960"/>
          </a:xfrm>
          <a:prstGeom prst="rect">
            <a:avLst/>
          </a:prstGeom>
          <a:noFill/>
          <a:ln/>
        </p:spPr>
        <p:txBody>
          <a:bodyPr wrap="square" rtlCol="0" anchor="ctr"/>
          <a:lstStyle/>
          <a:p>
            <a:pPr algn="ctr" indent="0" marL="0">
              <a:buNone/>
            </a:pPr>
            <a:r>
              <a:rPr lang="en-US" sz="3800" b="1" dirty="0">
                <a:solidFill>
                  <a:srgbClr val="FFC107"/>
                </a:solidFill>
                <a:latin typeface="Arial" pitchFamily="34" charset="0"/>
                <a:ea typeface="Arial" pitchFamily="34" charset="-122"/>
                <a:cs typeface="Arial" pitchFamily="34" charset="-120"/>
              </a:rPr>
              <a:t>⭐ KEY RESULT: FEP BINDING FREE ENERGY ⭐</a:t>
            </a:r>
            <a:endParaRPr lang="en-US" sz="3800" dirty="0"/>
          </a:p>
        </p:txBody>
      </p:sp>
      <p:sp>
        <p:nvSpPr>
          <p:cNvPr id="32" name="Shape 27"/>
          <p:cNvSpPr/>
          <p:nvPr/>
        </p:nvSpPr>
        <p:spPr>
          <a:xfrm>
            <a:off x="13990320" y="14447520"/>
            <a:ext cx="6858000" cy="6400800"/>
          </a:xfrm>
          <a:prstGeom prst="rect">
            <a:avLst/>
          </a:prstGeom>
          <a:solidFill>
            <a:srgbClr val="FFFFFF"/>
          </a:solidFill>
          <a:ln/>
        </p:spPr>
      </p:sp>
      <p:pic>
        <p:nvPicPr>
          <p:cNvPr id="33" name="Image 3" descr="/home/claude/isef_poster_final/chart2_fep_ddg.png">    </p:cNvPr>
          <p:cNvPicPr>
            <a:picLocks noChangeAspect="1"/>
          </p:cNvPicPr>
          <p:nvPr/>
        </p:nvPicPr>
        <p:blipFill>
          <a:blip r:embed="rId4"/>
          <a:stretch>
            <a:fillRect/>
          </a:stretch>
        </p:blipFill>
        <p:spPr>
          <a:xfrm>
            <a:off x="14081760" y="14538960"/>
            <a:ext cx="6675120" cy="6217920"/>
          </a:xfrm>
          <a:prstGeom prst="rect">
            <a:avLst/>
          </a:prstGeom>
        </p:spPr>
      </p:pic>
      <p:sp>
        <p:nvSpPr>
          <p:cNvPr id="34" name="Text 28"/>
          <p:cNvSpPr/>
          <p:nvPr/>
        </p:nvSpPr>
        <p:spPr>
          <a:xfrm>
            <a:off x="21488400" y="14630400"/>
            <a:ext cx="7315200" cy="73152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Febuxostat</a:t>
            </a:r>
            <a:endParaRPr lang="en-US" sz="3200" dirty="0"/>
          </a:p>
        </p:txBody>
      </p:sp>
      <p:sp>
        <p:nvSpPr>
          <p:cNvPr id="35" name="Text 29"/>
          <p:cNvSpPr/>
          <p:nvPr/>
        </p:nvSpPr>
        <p:spPr>
          <a:xfrm>
            <a:off x="21488400" y="15361920"/>
            <a:ext cx="7315200" cy="822960"/>
          </a:xfrm>
          <a:prstGeom prst="rect">
            <a:avLst/>
          </a:prstGeom>
          <a:noFill/>
          <a:ln/>
        </p:spPr>
        <p:txBody>
          <a:bodyPr wrap="square" rtlCol="0" anchor="ctr"/>
          <a:lstStyle/>
          <a:p>
            <a:pPr indent="0" marL="0">
              <a:buNone/>
            </a:pPr>
            <a:r>
              <a:rPr lang="en-US" sz="3600" b="1" dirty="0">
                <a:solidFill>
                  <a:srgbClr val="FF5252"/>
                </a:solidFill>
                <a:latin typeface="Arial" pitchFamily="34" charset="0"/>
                <a:ea typeface="Arial" pitchFamily="34" charset="-122"/>
                <a:cs typeface="Arial" pitchFamily="34" charset="-120"/>
              </a:rPr>
              <a:t>ΔΔG = +2.34 ± 0.26 kcal/mol</a:t>
            </a:r>
            <a:endParaRPr lang="en-US" sz="3600" dirty="0"/>
          </a:p>
        </p:txBody>
      </p:sp>
      <p:sp>
        <p:nvSpPr>
          <p:cNvPr id="36" name="Text 30"/>
          <p:cNvSpPr/>
          <p:nvPr/>
        </p:nvSpPr>
        <p:spPr>
          <a:xfrm>
            <a:off x="21488400" y="16184880"/>
            <a:ext cx="7315200" cy="64008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50× weaker binding in R702W</a:t>
            </a:r>
            <a:endParaRPr lang="en-US" sz="2800" dirty="0"/>
          </a:p>
        </p:txBody>
      </p:sp>
      <p:sp>
        <p:nvSpPr>
          <p:cNvPr id="37" name="Text 31"/>
          <p:cNvSpPr/>
          <p:nvPr/>
        </p:nvSpPr>
        <p:spPr>
          <a:xfrm>
            <a:off x="21488400" y="16824960"/>
            <a:ext cx="7315200" cy="548640"/>
          </a:xfrm>
          <a:prstGeom prst="rect">
            <a:avLst/>
          </a:prstGeom>
          <a:noFill/>
          <a:ln/>
        </p:spPr>
        <p:txBody>
          <a:bodyPr wrap="square" rtlCol="0" anchor="ctr"/>
          <a:lstStyle/>
          <a:p>
            <a:pPr indent="0" marL="0">
              <a:buNone/>
            </a:pPr>
            <a:r>
              <a:rPr lang="en-US" sz="2200" dirty="0">
                <a:solidFill>
                  <a:srgbClr val="FFC107"/>
                </a:solidFill>
                <a:latin typeface="Arial" pitchFamily="34" charset="0"/>
                <a:ea typeface="Arial" pitchFamily="34" charset="-122"/>
                <a:cs typeface="Arial" pitchFamily="34" charset="-120"/>
              </a:rPr>
              <a:t>p &lt; 0.001  •  8σ significance  •  ***</a:t>
            </a:r>
            <a:endParaRPr lang="en-US" sz="2200" dirty="0"/>
          </a:p>
        </p:txBody>
      </p:sp>
      <p:sp>
        <p:nvSpPr>
          <p:cNvPr id="38" name="Text 32"/>
          <p:cNvSpPr/>
          <p:nvPr/>
        </p:nvSpPr>
        <p:spPr>
          <a:xfrm>
            <a:off x="21488400" y="18013680"/>
            <a:ext cx="7315200" cy="640080"/>
          </a:xfrm>
          <a:prstGeom prst="rect">
            <a:avLst/>
          </a:prstGeom>
          <a:noFill/>
          <a:ln/>
        </p:spPr>
        <p:txBody>
          <a:bodyPr wrap="square" rtlCol="0" anchor="ctr"/>
          <a:lstStyle/>
          <a:p>
            <a:pPr indent="0" marL="0">
              <a:buNone/>
            </a:pPr>
            <a:r>
              <a:rPr lang="en-US" sz="2800" b="1" dirty="0">
                <a:solidFill>
                  <a:srgbClr val="E0E0E0"/>
                </a:solidFill>
                <a:latin typeface="Arial" pitchFamily="34" charset="0"/>
                <a:ea typeface="Arial" pitchFamily="34" charset="-122"/>
                <a:cs typeface="Arial" pitchFamily="34" charset="-120"/>
              </a:rPr>
              <a:t>Bufadienolide</a:t>
            </a:r>
            <a:endParaRPr lang="en-US" sz="2800" dirty="0"/>
          </a:p>
        </p:txBody>
      </p:sp>
      <p:sp>
        <p:nvSpPr>
          <p:cNvPr id="39" name="Text 33"/>
          <p:cNvSpPr/>
          <p:nvPr/>
        </p:nvSpPr>
        <p:spPr>
          <a:xfrm>
            <a:off x="21488400" y="18653760"/>
            <a:ext cx="7315200" cy="548640"/>
          </a:xfrm>
          <a:prstGeom prst="rect">
            <a:avLst/>
          </a:prstGeom>
          <a:noFill/>
          <a:ln/>
        </p:spPr>
        <p:txBody>
          <a:bodyPr wrap="square" rtlCol="0" anchor="ctr"/>
          <a:lstStyle/>
          <a:p>
            <a:pPr indent="0" marL="0">
              <a:buNone/>
            </a:pPr>
            <a:r>
              <a:rPr lang="en-US" sz="2200" dirty="0">
                <a:solidFill>
                  <a:srgbClr val="757575"/>
                </a:solidFill>
                <a:latin typeface="Arial" pitchFamily="34" charset="0"/>
                <a:ea typeface="Arial" pitchFamily="34" charset="-122"/>
                <a:cs typeface="Arial" pitchFamily="34" charset="-120"/>
              </a:rPr>
              <a:t>ΔΔG = -0.44 ± 0.37 kcal/mol  •  n.s.</a:t>
            </a:r>
            <a:endParaRPr lang="en-US" sz="2200" dirty="0"/>
          </a:p>
        </p:txBody>
      </p:sp>
      <p:sp>
        <p:nvSpPr>
          <p:cNvPr id="40" name="Text 34"/>
          <p:cNvSpPr/>
          <p:nvPr/>
        </p:nvSpPr>
        <p:spPr>
          <a:xfrm>
            <a:off x="21488400" y="19202400"/>
            <a:ext cx="7315200" cy="457200"/>
          </a:xfrm>
          <a:prstGeom prst="rect">
            <a:avLst/>
          </a:prstGeom>
          <a:noFill/>
          <a:ln/>
        </p:spPr>
        <p:txBody>
          <a:bodyPr wrap="square" rtlCol="0" anchor="ctr"/>
          <a:lstStyle/>
          <a:p>
            <a:pPr indent="0" marL="0">
              <a:buNone/>
            </a:pPr>
            <a:r>
              <a:rPr lang="en-US" sz="2000" dirty="0">
                <a:solidFill>
                  <a:srgbClr val="E0E0E0"/>
                </a:solidFill>
                <a:latin typeface="Arial" pitchFamily="34" charset="0"/>
                <a:ea typeface="Arial" pitchFamily="34" charset="-122"/>
                <a:cs typeface="Arial" pitchFamily="34" charset="-120"/>
              </a:rPr>
              <a:t>No significant change in binding</a:t>
            </a:r>
            <a:endParaRPr lang="en-US" sz="2000" dirty="0"/>
          </a:p>
        </p:txBody>
      </p:sp>
      <p:sp>
        <p:nvSpPr>
          <p:cNvPr id="41" name="Text 35"/>
          <p:cNvSpPr/>
          <p:nvPr/>
        </p:nvSpPr>
        <p:spPr>
          <a:xfrm>
            <a:off x="13716000" y="20391120"/>
            <a:ext cx="15544800" cy="640080"/>
          </a:xfrm>
          <a:prstGeom prst="rect">
            <a:avLst/>
          </a:prstGeom>
          <a:noFill/>
          <a:ln/>
        </p:spPr>
        <p:txBody>
          <a:bodyPr wrap="square" rtlCol="0" anchor="ctr"/>
          <a:lstStyle/>
          <a:p>
            <a:pPr algn="ctr" indent="0" marL="0">
              <a:buNone/>
            </a:pPr>
            <a:r>
              <a:rPr lang="en-US" sz="2600" b="1" dirty="0">
                <a:solidFill>
                  <a:srgbClr val="FFC107"/>
                </a:solidFill>
                <a:latin typeface="Arial" pitchFamily="34" charset="0"/>
                <a:ea typeface="Arial" pitchFamily="34" charset="-122"/>
                <a:cs typeface="Arial" pitchFamily="34" charset="-120"/>
              </a:rPr>
              <a:t>KEY INSIGHT: Mutation effects are LIGAND-DEPENDENT</a:t>
            </a:r>
            <a:endParaRPr lang="en-US" sz="2600" dirty="0"/>
          </a:p>
        </p:txBody>
      </p:sp>
      <p:sp>
        <p:nvSpPr>
          <p:cNvPr id="42" name="Text 36"/>
          <p:cNvSpPr/>
          <p:nvPr/>
        </p:nvSpPr>
        <p:spPr>
          <a:xfrm>
            <a:off x="13716000" y="21122640"/>
            <a:ext cx="15544800" cy="457200"/>
          </a:xfrm>
          <a:prstGeom prst="rect">
            <a:avLst/>
          </a:prstGeom>
          <a:noFill/>
          <a:ln/>
        </p:spPr>
        <p:txBody>
          <a:bodyPr wrap="square" rtlCol="0" anchor="ctr"/>
          <a:lstStyle/>
          <a:p>
            <a:pPr indent="0" marL="0">
              <a:buNone/>
            </a:pPr>
            <a:r>
              <a:rPr lang="en-US" sz="1600" i="1" dirty="0">
                <a:solidFill>
                  <a:srgbClr val="E0E0E0"/>
                </a:solidFill>
                <a:latin typeface="Arial" pitchFamily="34" charset="0"/>
                <a:ea typeface="Arial" pitchFamily="34" charset="-122"/>
                <a:cs typeface="Arial" pitchFamily="34" charset="-120"/>
              </a:rPr>
              <a:t>Fig 4. FEP ΔΔG comparing R702W vs WT binding. Positive = weaker in mutant. Created by Finalist.</a:t>
            </a:r>
            <a:endParaRPr lang="en-US" sz="1600" dirty="0"/>
          </a:p>
        </p:txBody>
      </p:sp>
      <p:sp>
        <p:nvSpPr>
          <p:cNvPr id="43" name="Text 37"/>
          <p:cNvSpPr/>
          <p:nvPr/>
        </p:nvSpPr>
        <p:spPr>
          <a:xfrm>
            <a:off x="13716000" y="22219920"/>
            <a:ext cx="15544800" cy="731520"/>
          </a:xfrm>
          <a:prstGeom prst="rect">
            <a:avLst/>
          </a:prstGeom>
          <a:noFill/>
          <a:ln/>
        </p:spPr>
        <p:txBody>
          <a:bodyPr wrap="square" rtlCol="0" anchor="ctr"/>
          <a:lstStyle/>
          <a:p>
            <a:pPr indent="0" marL="0">
              <a:buNone/>
            </a:pPr>
            <a:r>
              <a:rPr lang="en-US" sz="3600" b="1" dirty="0">
                <a:solidFill>
                  <a:srgbClr val="FFC107"/>
                </a:solidFill>
                <a:latin typeface="Arial" pitchFamily="34" charset="0"/>
                <a:ea typeface="Arial" pitchFamily="34" charset="-122"/>
                <a:cs typeface="Arial" pitchFamily="34" charset="-120"/>
              </a:rPr>
              <a:t>BINDING POCKET</a:t>
            </a:r>
            <a:endParaRPr lang="en-US" sz="3600" dirty="0"/>
          </a:p>
        </p:txBody>
      </p:sp>
      <p:sp>
        <p:nvSpPr>
          <p:cNvPr id="44" name="Shape 38"/>
          <p:cNvSpPr/>
          <p:nvPr/>
        </p:nvSpPr>
        <p:spPr>
          <a:xfrm>
            <a:off x="13716000" y="23134320"/>
            <a:ext cx="15544800" cy="5303520"/>
          </a:xfrm>
          <a:prstGeom prst="rect">
            <a:avLst/>
          </a:prstGeom>
          <a:solidFill>
            <a:srgbClr val="FFFFFF"/>
          </a:solidFill>
          <a:ln/>
        </p:spPr>
      </p:sp>
      <p:pic>
        <p:nvPicPr>
          <p:cNvPr id="45" name="Image 4" descr="/home/claude/isef_poster_final/figB1_binding_hbonds_white.png">    </p:cNvPr>
          <p:cNvPicPr>
            <a:picLocks noChangeAspect="1"/>
          </p:cNvPicPr>
          <p:nvPr/>
        </p:nvPicPr>
        <p:blipFill>
          <a:blip r:embed="rId5"/>
          <a:stretch>
            <a:fillRect/>
          </a:stretch>
        </p:blipFill>
        <p:spPr>
          <a:xfrm>
            <a:off x="13898880" y="23225760"/>
            <a:ext cx="15179040" cy="5120640"/>
          </a:xfrm>
          <a:prstGeom prst="rect">
            <a:avLst/>
          </a:prstGeom>
        </p:spPr>
      </p:pic>
      <p:sp>
        <p:nvSpPr>
          <p:cNvPr id="46" name="Text 39"/>
          <p:cNvSpPr/>
          <p:nvPr/>
        </p:nvSpPr>
        <p:spPr>
          <a:xfrm>
            <a:off x="13716000" y="28529280"/>
            <a:ext cx="15544800" cy="548640"/>
          </a:xfrm>
          <a:prstGeom prst="rect">
            <a:avLst/>
          </a:prstGeom>
          <a:noFill/>
          <a:ln/>
        </p:spPr>
        <p:txBody>
          <a:bodyPr wrap="square" rtlCol="0" anchor="ctr"/>
          <a:lstStyle/>
          <a:p>
            <a:pPr indent="0" marL="0">
              <a:buNone/>
            </a:pPr>
            <a:r>
              <a:rPr lang="en-US" sz="1600" i="1" dirty="0">
                <a:solidFill>
                  <a:srgbClr val="E0E0E0"/>
                </a:solidFill>
                <a:latin typeface="Arial" pitchFamily="34" charset="0"/>
                <a:ea typeface="Arial" pitchFamily="34" charset="-122"/>
                <a:cs typeface="Arial" pitchFamily="34" charset="-120"/>
              </a:rPr>
              <a:t>Fig 5. Ligand bound in NOD2 LRR pocket showing protein-ligand interactions. Green = binding residues, orange = ligand. Created by Finalist using PyMOL.</a:t>
            </a:r>
            <a:endParaRPr lang="en-US" sz="1600" dirty="0"/>
          </a:p>
        </p:txBody>
      </p:sp>
      <p:sp>
        <p:nvSpPr>
          <p:cNvPr id="47" name="Text 40"/>
          <p:cNvSpPr/>
          <p:nvPr/>
        </p:nvSpPr>
        <p:spPr>
          <a:xfrm>
            <a:off x="30175200" y="3657600"/>
            <a:ext cx="12984480" cy="731520"/>
          </a:xfrm>
          <a:prstGeom prst="rect">
            <a:avLst/>
          </a:prstGeom>
          <a:noFill/>
          <a:ln/>
        </p:spPr>
        <p:txBody>
          <a:bodyPr wrap="square" rtlCol="0" anchor="ctr"/>
          <a:lstStyle/>
          <a:p>
            <a:pPr indent="0" marL="0">
              <a:buNone/>
            </a:pPr>
            <a:r>
              <a:rPr lang="en-US" sz="3600" b="1" dirty="0">
                <a:solidFill>
                  <a:srgbClr val="FFC107"/>
                </a:solidFill>
                <a:latin typeface="Arial" pitchFamily="34" charset="0"/>
                <a:ea typeface="Arial" pitchFamily="34" charset="-122"/>
                <a:cs typeface="Arial" pitchFamily="34" charset="-120"/>
              </a:rPr>
              <a:t>APO MD DYNAMICS</a:t>
            </a:r>
            <a:endParaRPr lang="en-US" sz="3600" dirty="0"/>
          </a:p>
        </p:txBody>
      </p:sp>
      <p:sp>
        <p:nvSpPr>
          <p:cNvPr id="48" name="Shape 41"/>
          <p:cNvSpPr/>
          <p:nvPr/>
        </p:nvSpPr>
        <p:spPr>
          <a:xfrm>
            <a:off x="30175200" y="4572000"/>
            <a:ext cx="12984480" cy="4114800"/>
          </a:xfrm>
          <a:prstGeom prst="rect">
            <a:avLst/>
          </a:prstGeom>
          <a:solidFill>
            <a:srgbClr val="FFFFFF"/>
          </a:solidFill>
          <a:ln/>
        </p:spPr>
      </p:sp>
      <p:pic>
        <p:nvPicPr>
          <p:cNvPr id="49" name="Image 5" descr="/home/claude/isef_poster_final/md_rmsd.png">    </p:cNvPr>
          <p:cNvPicPr>
            <a:picLocks noChangeAspect="1"/>
          </p:cNvPicPr>
          <p:nvPr/>
        </p:nvPicPr>
        <p:blipFill>
          <a:blip r:embed="rId6"/>
          <a:stretch>
            <a:fillRect/>
          </a:stretch>
        </p:blipFill>
        <p:spPr>
          <a:xfrm>
            <a:off x="30358080" y="4663440"/>
            <a:ext cx="12618720" cy="3931920"/>
          </a:xfrm>
          <a:prstGeom prst="rect">
            <a:avLst/>
          </a:prstGeom>
        </p:spPr>
      </p:pic>
      <p:sp>
        <p:nvSpPr>
          <p:cNvPr id="50" name="Text 42"/>
          <p:cNvSpPr/>
          <p:nvPr/>
        </p:nvSpPr>
        <p:spPr>
          <a:xfrm>
            <a:off x="30175200" y="8778240"/>
            <a:ext cx="12984480" cy="457200"/>
          </a:xfrm>
          <a:prstGeom prst="rect">
            <a:avLst/>
          </a:prstGeom>
          <a:noFill/>
          <a:ln/>
        </p:spPr>
        <p:txBody>
          <a:bodyPr wrap="square" rtlCol="0" anchor="ctr"/>
          <a:lstStyle/>
          <a:p>
            <a:pPr indent="0" marL="0">
              <a:buNone/>
            </a:pPr>
            <a:r>
              <a:rPr lang="en-US" sz="1600" i="1" dirty="0">
                <a:solidFill>
                  <a:srgbClr val="E0E0E0"/>
                </a:solidFill>
                <a:latin typeface="Arial" pitchFamily="34" charset="0"/>
                <a:ea typeface="Arial" pitchFamily="34" charset="-122"/>
                <a:cs typeface="Arial" pitchFamily="34" charset="-120"/>
              </a:rPr>
              <a:t>Fig 6. RMSD trajectories over simulation time. Created by Finalist using MDTraj.</a:t>
            </a:r>
            <a:endParaRPr lang="en-US" sz="1600" dirty="0"/>
          </a:p>
        </p:txBody>
      </p:sp>
      <p:sp>
        <p:nvSpPr>
          <p:cNvPr id="51" name="Shape 43"/>
          <p:cNvSpPr/>
          <p:nvPr/>
        </p:nvSpPr>
        <p:spPr>
          <a:xfrm>
            <a:off x="30175200" y="9509760"/>
            <a:ext cx="6217920" cy="5029200"/>
          </a:xfrm>
          <a:prstGeom prst="rect">
            <a:avLst/>
          </a:prstGeom>
          <a:solidFill>
            <a:srgbClr val="FFFFFF"/>
          </a:solidFill>
          <a:ln/>
        </p:spPr>
      </p:sp>
      <p:pic>
        <p:nvPicPr>
          <p:cNvPr id="52" name="Image 6" descr="/home/claude/isef_poster_final/chart3_rmsd_bars.png">    </p:cNvPr>
          <p:cNvPicPr>
            <a:picLocks noChangeAspect="1"/>
          </p:cNvPicPr>
          <p:nvPr/>
        </p:nvPicPr>
        <p:blipFill>
          <a:blip r:embed="rId7"/>
          <a:stretch>
            <a:fillRect/>
          </a:stretch>
        </p:blipFill>
        <p:spPr>
          <a:xfrm>
            <a:off x="30266640" y="9601200"/>
            <a:ext cx="6035040" cy="4846320"/>
          </a:xfrm>
          <a:prstGeom prst="rect">
            <a:avLst/>
          </a:prstGeom>
        </p:spPr>
      </p:pic>
      <p:sp>
        <p:nvSpPr>
          <p:cNvPr id="53" name="Shape 44"/>
          <p:cNvSpPr/>
          <p:nvPr/>
        </p:nvSpPr>
        <p:spPr>
          <a:xfrm>
            <a:off x="36758880" y="9509760"/>
            <a:ext cx="6400800" cy="5029200"/>
          </a:xfrm>
          <a:prstGeom prst="rect">
            <a:avLst/>
          </a:prstGeom>
          <a:solidFill>
            <a:srgbClr val="FFFFFF"/>
          </a:solidFill>
          <a:ln/>
        </p:spPr>
      </p:sp>
      <p:pic>
        <p:nvPicPr>
          <p:cNvPr id="54" name="Image 7" descr="/home/claude/isef_poster_final/chart4_heterogeneity.png">    </p:cNvPr>
          <p:cNvPicPr>
            <a:picLocks noChangeAspect="1"/>
          </p:cNvPicPr>
          <p:nvPr/>
        </p:nvPicPr>
        <p:blipFill>
          <a:blip r:embed="rId8"/>
          <a:stretch>
            <a:fillRect/>
          </a:stretch>
        </p:blipFill>
        <p:spPr>
          <a:xfrm>
            <a:off x="36850320" y="9601200"/>
            <a:ext cx="6217920" cy="4846320"/>
          </a:xfrm>
          <a:prstGeom prst="rect">
            <a:avLst/>
          </a:prstGeom>
        </p:spPr>
      </p:pic>
      <p:sp>
        <p:nvSpPr>
          <p:cNvPr id="55" name="Text 45"/>
          <p:cNvSpPr/>
          <p:nvPr/>
        </p:nvSpPr>
        <p:spPr>
          <a:xfrm>
            <a:off x="30175200" y="14630400"/>
            <a:ext cx="12984480" cy="457200"/>
          </a:xfrm>
          <a:prstGeom prst="rect">
            <a:avLst/>
          </a:prstGeom>
          <a:noFill/>
          <a:ln/>
        </p:spPr>
        <p:txBody>
          <a:bodyPr wrap="square" rtlCol="0" anchor="ctr"/>
          <a:lstStyle/>
          <a:p>
            <a:pPr indent="0" marL="0">
              <a:buNone/>
            </a:pPr>
            <a:r>
              <a:rPr lang="en-US" sz="1600" i="1" dirty="0">
                <a:solidFill>
                  <a:srgbClr val="E0E0E0"/>
                </a:solidFill>
                <a:latin typeface="Arial" pitchFamily="34" charset="0"/>
                <a:ea typeface="Arial" pitchFamily="34" charset="-122"/>
                <a:cs typeface="Arial" pitchFamily="34" charset="-120"/>
              </a:rPr>
              <a:t>Fig 7-8. Mean RMSD and conformational heterogeneity (% frames &gt;5Å). Error bars = SEM. Created by Finalist.</a:t>
            </a:r>
            <a:endParaRPr lang="en-US" sz="1600" dirty="0"/>
          </a:p>
        </p:txBody>
      </p:sp>
      <p:sp>
        <p:nvSpPr>
          <p:cNvPr id="56" name="Shape 46"/>
          <p:cNvSpPr/>
          <p:nvPr/>
        </p:nvSpPr>
        <p:spPr>
          <a:xfrm>
            <a:off x="30175200" y="15361920"/>
            <a:ext cx="12984480" cy="2011680"/>
          </a:xfrm>
          <a:prstGeom prst="rect">
            <a:avLst/>
          </a:prstGeom>
          <a:solidFill>
            <a:srgbClr val="1A237E"/>
          </a:solidFill>
          <a:ln w="25400">
            <a:solidFill>
              <a:srgbClr val="1976D2"/>
            </a:solidFill>
            <a:prstDash val="solid"/>
          </a:ln>
        </p:spPr>
      </p:sp>
      <p:sp>
        <p:nvSpPr>
          <p:cNvPr id="57" name="Text 47"/>
          <p:cNvSpPr/>
          <p:nvPr/>
        </p:nvSpPr>
        <p:spPr>
          <a:xfrm>
            <a:off x="30449520" y="15544800"/>
            <a:ext cx="12435840" cy="548640"/>
          </a:xfrm>
          <a:prstGeom prst="rect">
            <a:avLst/>
          </a:prstGeom>
          <a:noFill/>
          <a:ln/>
        </p:spPr>
        <p:txBody>
          <a:bodyPr wrap="square" rtlCol="0" anchor="ctr"/>
          <a:lstStyle/>
          <a:p>
            <a:pPr indent="0" marL="0">
              <a:buNone/>
            </a:pPr>
            <a:r>
              <a:rPr lang="en-US" sz="2400" b="1" dirty="0">
                <a:solidFill>
                  <a:srgbClr val="FFC107"/>
                </a:solidFill>
                <a:latin typeface="Arial" pitchFamily="34" charset="0"/>
                <a:ea typeface="Arial" pitchFamily="34" charset="-122"/>
                <a:cs typeface="Arial" pitchFamily="34" charset="-120"/>
              </a:rPr>
              <a:t>R702W shows REDUCED conformational sampling</a:t>
            </a:r>
            <a:endParaRPr lang="en-US" sz="2400" dirty="0"/>
          </a:p>
        </p:txBody>
      </p:sp>
      <p:sp>
        <p:nvSpPr>
          <p:cNvPr id="58" name="Text 48"/>
          <p:cNvSpPr/>
          <p:nvPr/>
        </p:nvSpPr>
        <p:spPr>
          <a:xfrm>
            <a:off x="30449520" y="16184880"/>
            <a:ext cx="12435840" cy="1005840"/>
          </a:xfrm>
          <a:prstGeom prst="rect">
            <a:avLst/>
          </a:prstGeom>
          <a:noFill/>
          <a:ln/>
        </p:spPr>
        <p:txBody>
          <a:bodyPr wrap="square" rtlCol="0" anchor="ctr"/>
          <a:lstStyle/>
          <a:p>
            <a:pPr indent="0" marL="0">
              <a:lnSpc>
                <a:spcPts val="2400"/>
              </a:lnSpc>
              <a:buNone/>
            </a:pPr>
            <a:r>
              <a:rPr lang="en-US" sz="2000" dirty="0">
                <a:solidFill>
                  <a:srgbClr val="FFFFFF"/>
                </a:solidFill>
                <a:latin typeface="Arial" pitchFamily="34" charset="0"/>
                <a:ea typeface="Arial" pitchFamily="34" charset="-122"/>
                <a:cs typeface="Arial" pitchFamily="34" charset="-120"/>
              </a:rPr>
              <a:t>WT: 4.05 ± 0.40 Å RMSD, 12.6% frames &gt;5Å</a:t>
            </a:r>
            <a:endParaRPr lang="en-US" sz="2000" dirty="0"/>
          </a:p>
          <a:p>
            <a:pPr indent="0" marL="0">
              <a:lnSpc>
                <a:spcPts val="2400"/>
              </a:lnSpc>
              <a:buNone/>
            </a:pPr>
            <a:r>
              <a:rPr lang="en-US" sz="2000" dirty="0">
                <a:solidFill>
                  <a:srgbClr val="FFFFFF"/>
                </a:solidFill>
                <a:latin typeface="Arial" pitchFamily="34" charset="0"/>
                <a:ea typeface="Arial" pitchFamily="34" charset="-122"/>
                <a:cs typeface="Arial" pitchFamily="34" charset="-120"/>
              </a:rPr>
              <a:t>R702W: 3.27 ± 0.15 Å RMSD, 0% frames &gt;5Å</a:t>
            </a:r>
            <a:endParaRPr lang="en-US" sz="2000" dirty="0"/>
          </a:p>
        </p:txBody>
      </p:sp>
      <p:sp>
        <p:nvSpPr>
          <p:cNvPr id="59" name="Shape 49"/>
          <p:cNvSpPr/>
          <p:nvPr/>
        </p:nvSpPr>
        <p:spPr>
          <a:xfrm>
            <a:off x="29992320" y="17739360"/>
            <a:ext cx="13350240" cy="2926080"/>
          </a:xfrm>
          <a:prstGeom prst="rect">
            <a:avLst/>
          </a:prstGeom>
          <a:solidFill>
            <a:srgbClr val="4A148C"/>
          </a:solidFill>
          <a:ln w="38100">
            <a:solidFill>
              <a:srgbClr val="FFC107"/>
            </a:solidFill>
            <a:prstDash val="solid"/>
          </a:ln>
        </p:spPr>
      </p:sp>
      <p:sp>
        <p:nvSpPr>
          <p:cNvPr id="60" name="Text 50"/>
          <p:cNvSpPr/>
          <p:nvPr/>
        </p:nvSpPr>
        <p:spPr>
          <a:xfrm>
            <a:off x="30175200" y="17922240"/>
            <a:ext cx="12984480" cy="640080"/>
          </a:xfrm>
          <a:prstGeom prst="rect">
            <a:avLst/>
          </a:prstGeom>
          <a:noFill/>
          <a:ln/>
        </p:spPr>
        <p:txBody>
          <a:bodyPr wrap="square" rtlCol="0" anchor="ctr"/>
          <a:lstStyle/>
          <a:p>
            <a:pPr algn="ctr" indent="0" marL="0">
              <a:buNone/>
            </a:pPr>
            <a:r>
              <a:rPr lang="en-US" sz="2600" b="1" dirty="0">
                <a:solidFill>
                  <a:srgbClr val="FFC107"/>
                </a:solidFill>
                <a:latin typeface="Arial" pitchFamily="34" charset="0"/>
                <a:ea typeface="Arial" pitchFamily="34" charset="-122"/>
                <a:cs typeface="Arial" pitchFamily="34" charset="-120"/>
              </a:rPr>
              <a:t>🎯 PRECISION MEDICINE IMPLICATION</a:t>
            </a:r>
            <a:endParaRPr lang="en-US" sz="2600" dirty="0"/>
          </a:p>
        </p:txBody>
      </p:sp>
      <p:sp>
        <p:nvSpPr>
          <p:cNvPr id="61" name="Text 51"/>
          <p:cNvSpPr/>
          <p:nvPr/>
        </p:nvSpPr>
        <p:spPr>
          <a:xfrm>
            <a:off x="30449520" y="18653760"/>
            <a:ext cx="12435840" cy="1828800"/>
          </a:xfrm>
          <a:prstGeom prst="rect">
            <a:avLst/>
          </a:prstGeom>
          <a:noFill/>
          <a:ln/>
        </p:spPr>
        <p:txBody>
          <a:bodyPr wrap="square" rtlCol="0" anchor="t"/>
          <a:lstStyle/>
          <a:p>
            <a:pPr indent="0" marL="0">
              <a:lnSpc>
                <a:spcPts val="2400"/>
              </a:lnSpc>
              <a:buNone/>
            </a:pPr>
            <a:r>
              <a:rPr lang="en-US" sz="2000" dirty="0">
                <a:solidFill>
                  <a:srgbClr val="FFFFFF"/>
                </a:solidFill>
                <a:latin typeface="Arial" pitchFamily="34" charset="0"/>
                <a:ea typeface="Arial" pitchFamily="34" charset="-122"/>
                <a:cs typeface="Arial" pitchFamily="34" charset="-120"/>
              </a:rPr>
              <a:t>Patients with R702W may require different NOD2-targeting compounds than WT patients. Bufadienolide-class compounds retain binding regardless of genotype, while Febuxostat-class compounds show mutation-sensitive binding.</a:t>
            </a:r>
            <a:endParaRPr lang="en-US" sz="2000" dirty="0"/>
          </a:p>
        </p:txBody>
      </p:sp>
      <p:sp>
        <p:nvSpPr>
          <p:cNvPr id="62" name="Text 52"/>
          <p:cNvSpPr/>
          <p:nvPr/>
        </p:nvSpPr>
        <p:spPr>
          <a:xfrm>
            <a:off x="30175200" y="21031200"/>
            <a:ext cx="12984480" cy="731520"/>
          </a:xfrm>
          <a:prstGeom prst="rect">
            <a:avLst/>
          </a:prstGeom>
          <a:noFill/>
          <a:ln/>
        </p:spPr>
        <p:txBody>
          <a:bodyPr wrap="square" rtlCol="0" anchor="ctr"/>
          <a:lstStyle/>
          <a:p>
            <a:pPr indent="0" marL="0">
              <a:buNone/>
            </a:pPr>
            <a:r>
              <a:rPr lang="en-US" sz="3600" b="1" dirty="0">
                <a:solidFill>
                  <a:srgbClr val="FFC107"/>
                </a:solidFill>
                <a:latin typeface="Arial" pitchFamily="34" charset="0"/>
                <a:ea typeface="Arial" pitchFamily="34" charset="-122"/>
                <a:cs typeface="Arial" pitchFamily="34" charset="-120"/>
              </a:rPr>
              <a:t>CONCLUSIONS</a:t>
            </a:r>
            <a:endParaRPr lang="en-US" sz="3600" dirty="0"/>
          </a:p>
        </p:txBody>
      </p:sp>
      <p:sp>
        <p:nvSpPr>
          <p:cNvPr id="63" name="Text 53"/>
          <p:cNvSpPr/>
          <p:nvPr/>
        </p:nvSpPr>
        <p:spPr>
          <a:xfrm>
            <a:off x="30175200" y="21854160"/>
            <a:ext cx="12984480" cy="3657600"/>
          </a:xfrm>
          <a:prstGeom prst="rect">
            <a:avLst/>
          </a:prstGeom>
          <a:noFill/>
          <a:ln/>
        </p:spPr>
        <p:txBody>
          <a:bodyPr wrap="square" rtlCol="0" anchor="t"/>
          <a:lstStyle/>
          <a:p>
            <a:pPr indent="0" marL="0">
              <a:lnSpc>
                <a:spcPts val="2400"/>
              </a:lnSpc>
              <a:buNone/>
            </a:pPr>
            <a:r>
              <a:rPr lang="en-US" sz="2000" dirty="0">
                <a:solidFill>
                  <a:srgbClr val="FFFFFF"/>
                </a:solidFill>
                <a:latin typeface="Arial" pitchFamily="34" charset="0"/>
                <a:ea typeface="Arial" pitchFamily="34" charset="-122"/>
                <a:cs typeface="Arial" pitchFamily="34" charset="-120"/>
              </a:rPr>
              <a:t>1. Successfully screened 9,566 compounds using an integrated ML pipeline (AUC 0.85-0.93)</a:t>
            </a:r>
            <a:endParaRPr lang="en-US" sz="2000" dirty="0"/>
          </a:p>
          <a:p>
            <a:pPr indent="0" marL="0">
              <a:lnSpc>
                <a:spcPts val="2400"/>
              </a:lnSpc>
              <a:buNone/>
            </a:pPr>
            <a:endParaRPr lang="en-US" sz="2000" dirty="0"/>
          </a:p>
          <a:p>
            <a:pPr indent="0" marL="0">
              <a:lnSpc>
                <a:spcPts val="2400"/>
              </a:lnSpc>
              <a:buNone/>
            </a:pPr>
            <a:r>
              <a:rPr lang="en-US" sz="2000" dirty="0">
                <a:solidFill>
                  <a:srgbClr val="FFFFFF"/>
                </a:solidFill>
                <a:latin typeface="Arial" pitchFamily="34" charset="0"/>
                <a:ea typeface="Arial" pitchFamily="34" charset="-122"/>
                <a:cs typeface="Arial" pitchFamily="34" charset="-120"/>
              </a:rPr>
              <a:t>2. FEP validates mutation-sensitive binding: Febuxostat 50× weaker in R702W (p&lt;0.001)</a:t>
            </a:r>
            <a:endParaRPr lang="en-US" sz="2000" dirty="0"/>
          </a:p>
          <a:p>
            <a:pPr indent="0" marL="0">
              <a:lnSpc>
                <a:spcPts val="2400"/>
              </a:lnSpc>
              <a:buNone/>
            </a:pPr>
            <a:endParaRPr lang="en-US" sz="2000" dirty="0"/>
          </a:p>
          <a:p>
            <a:pPr indent="0" marL="0">
              <a:lnSpc>
                <a:spcPts val="2400"/>
              </a:lnSpc>
              <a:buNone/>
            </a:pPr>
            <a:r>
              <a:rPr lang="en-US" sz="2000" dirty="0">
                <a:solidFill>
                  <a:srgbClr val="FFFFFF"/>
                </a:solidFill>
                <a:latin typeface="Arial" pitchFamily="34" charset="0"/>
                <a:ea typeface="Arial" pitchFamily="34" charset="-122"/>
                <a:cs typeface="Arial" pitchFamily="34" charset="-120"/>
              </a:rPr>
              <a:t>3. Binding effects are ligand-dependent: Bufadienolide binding unaffected by mutation</a:t>
            </a:r>
            <a:endParaRPr lang="en-US" sz="2000" dirty="0"/>
          </a:p>
          <a:p>
            <a:pPr indent="0" marL="0">
              <a:lnSpc>
                <a:spcPts val="2400"/>
              </a:lnSpc>
              <a:buNone/>
            </a:pPr>
            <a:endParaRPr lang="en-US" sz="2000" dirty="0"/>
          </a:p>
          <a:p>
            <a:pPr indent="0" marL="0">
              <a:lnSpc>
                <a:spcPts val="2400"/>
              </a:lnSpc>
              <a:buNone/>
            </a:pPr>
            <a:r>
              <a:rPr lang="en-US" sz="2000" dirty="0">
                <a:solidFill>
                  <a:srgbClr val="FFFFFF"/>
                </a:solidFill>
                <a:latin typeface="Arial" pitchFamily="34" charset="0"/>
                <a:ea typeface="Arial" pitchFamily="34" charset="-122"/>
                <a:cs typeface="Arial" pitchFamily="34" charset="-120"/>
              </a:rPr>
              <a:t>4. R702W reduces conformational sampling (0% vs 12.6% frames &gt;5Å)</a:t>
            </a:r>
            <a:endParaRPr lang="en-US" sz="2000" dirty="0"/>
          </a:p>
          <a:p>
            <a:pPr indent="0" marL="0">
              <a:lnSpc>
                <a:spcPts val="2400"/>
              </a:lnSpc>
              <a:buNone/>
            </a:pPr>
            <a:endParaRPr lang="en-US" sz="2000" dirty="0"/>
          </a:p>
          <a:p>
            <a:pPr indent="0" marL="0">
              <a:lnSpc>
                <a:spcPts val="2400"/>
              </a:lnSpc>
              <a:buNone/>
            </a:pPr>
            <a:r>
              <a:rPr lang="en-US" sz="2000" dirty="0">
                <a:solidFill>
                  <a:srgbClr val="FFFFFF"/>
                </a:solidFill>
                <a:latin typeface="Arial" pitchFamily="34" charset="0"/>
                <a:ea typeface="Arial" pitchFamily="34" charset="-122"/>
                <a:cs typeface="Arial" pitchFamily="34" charset="-120"/>
              </a:rPr>
              <a:t>5. Allosteric mechanism: mutation 80Å from binding pocket affects dynamics</a:t>
            </a:r>
            <a:endParaRPr lang="en-US" sz="2000" dirty="0"/>
          </a:p>
        </p:txBody>
      </p:sp>
      <p:sp>
        <p:nvSpPr>
          <p:cNvPr id="64" name="Text 54"/>
          <p:cNvSpPr/>
          <p:nvPr/>
        </p:nvSpPr>
        <p:spPr>
          <a:xfrm>
            <a:off x="30175200" y="25786080"/>
            <a:ext cx="12984480" cy="731520"/>
          </a:xfrm>
          <a:prstGeom prst="rect">
            <a:avLst/>
          </a:prstGeom>
          <a:noFill/>
          <a:ln/>
        </p:spPr>
        <p:txBody>
          <a:bodyPr wrap="square" rtlCol="0" anchor="ctr"/>
          <a:lstStyle/>
          <a:p>
            <a:pPr indent="0" marL="0">
              <a:buNone/>
            </a:pPr>
            <a:r>
              <a:rPr lang="en-US" sz="3600" b="1" dirty="0">
                <a:solidFill>
                  <a:srgbClr val="FFC107"/>
                </a:solidFill>
                <a:latin typeface="Arial" pitchFamily="34" charset="0"/>
                <a:ea typeface="Arial" pitchFamily="34" charset="-122"/>
                <a:cs typeface="Arial" pitchFamily="34" charset="-120"/>
              </a:rPr>
              <a:t>FUTURE DIRECTIONS</a:t>
            </a:r>
            <a:endParaRPr lang="en-US" sz="3600" dirty="0"/>
          </a:p>
        </p:txBody>
      </p:sp>
      <p:sp>
        <p:nvSpPr>
          <p:cNvPr id="65" name="Text 55"/>
          <p:cNvSpPr/>
          <p:nvPr/>
        </p:nvSpPr>
        <p:spPr>
          <a:xfrm>
            <a:off x="30175200" y="26609040"/>
            <a:ext cx="12984480" cy="2286000"/>
          </a:xfrm>
          <a:prstGeom prst="rect">
            <a:avLst/>
          </a:prstGeom>
          <a:noFill/>
          <a:ln/>
        </p:spPr>
        <p:txBody>
          <a:bodyPr wrap="square" rtlCol="0" anchor="t"/>
          <a:lstStyle/>
          <a:p>
            <a:pPr indent="0" marL="0">
              <a:lnSpc>
                <a:spcPts val="2400"/>
              </a:lnSpc>
              <a:buNone/>
            </a:pPr>
            <a:r>
              <a:rPr lang="en-US" sz="2000" dirty="0">
                <a:solidFill>
                  <a:srgbClr val="FFFFFF"/>
                </a:solidFill>
                <a:latin typeface="Arial" pitchFamily="34" charset="0"/>
                <a:ea typeface="Arial" pitchFamily="34" charset="-122"/>
                <a:cs typeface="Arial" pitchFamily="34" charset="-120"/>
              </a:rPr>
              <a:t>• Experimental validation: SPR/ITC binding assays</a:t>
            </a:r>
            <a:endParaRPr lang="en-US" sz="2000" dirty="0"/>
          </a:p>
          <a:p>
            <a:pPr indent="0" marL="0">
              <a:lnSpc>
                <a:spcPts val="2400"/>
              </a:lnSpc>
              <a:buNone/>
            </a:pPr>
            <a:r>
              <a:rPr lang="en-US" sz="2000" dirty="0">
                <a:solidFill>
                  <a:srgbClr val="FFFFFF"/>
                </a:solidFill>
                <a:latin typeface="Arial" pitchFamily="34" charset="0"/>
                <a:ea typeface="Arial" pitchFamily="34" charset="-122"/>
                <a:cs typeface="Arial" pitchFamily="34" charset="-120"/>
              </a:rPr>
              <a:t>• HDX-MS to confirm conformational differences</a:t>
            </a:r>
            <a:endParaRPr lang="en-US" sz="2000" dirty="0"/>
          </a:p>
          <a:p>
            <a:pPr indent="0" marL="0">
              <a:lnSpc>
                <a:spcPts val="2400"/>
              </a:lnSpc>
              <a:buNone/>
            </a:pPr>
            <a:r>
              <a:rPr lang="en-US" sz="2000" dirty="0">
                <a:solidFill>
                  <a:srgbClr val="FFFFFF"/>
                </a:solidFill>
                <a:latin typeface="Arial" pitchFamily="34" charset="0"/>
                <a:ea typeface="Arial" pitchFamily="34" charset="-122"/>
                <a:cs typeface="Arial" pitchFamily="34" charset="-120"/>
              </a:rPr>
              <a:t>• Extend FEP to other mutations (G908R, L1007fs)</a:t>
            </a:r>
            <a:endParaRPr lang="en-US" sz="2000" dirty="0"/>
          </a:p>
          <a:p>
            <a:pPr indent="0" marL="0">
              <a:lnSpc>
                <a:spcPts val="2400"/>
              </a:lnSpc>
              <a:buNone/>
            </a:pPr>
            <a:r>
              <a:rPr lang="en-US" sz="2000" dirty="0">
                <a:solidFill>
                  <a:srgbClr val="FFFFFF"/>
                </a:solidFill>
                <a:latin typeface="Arial" pitchFamily="34" charset="0"/>
                <a:ea typeface="Arial" pitchFamily="34" charset="-122"/>
                <a:cs typeface="Arial" pitchFamily="34" charset="-120"/>
              </a:rPr>
              <a:t>• Screen for mutation-insensitive NOD2 binders</a:t>
            </a:r>
            <a:endParaRPr lang="en-US" sz="2000" dirty="0"/>
          </a:p>
        </p:txBody>
      </p:sp>
      <p:sp>
        <p:nvSpPr>
          <p:cNvPr id="66" name="Shape 56"/>
          <p:cNvSpPr/>
          <p:nvPr/>
        </p:nvSpPr>
        <p:spPr>
          <a:xfrm>
            <a:off x="0" y="31546800"/>
            <a:ext cx="43891200" cy="1371600"/>
          </a:xfrm>
          <a:prstGeom prst="rect">
            <a:avLst/>
          </a:prstGeom>
          <a:solidFill>
            <a:srgbClr val="0A1628"/>
          </a:solidFill>
          <a:ln/>
        </p:spPr>
      </p:sp>
      <p:sp>
        <p:nvSpPr>
          <p:cNvPr id="67" name="Text 57"/>
          <p:cNvSpPr/>
          <p:nvPr/>
        </p:nvSpPr>
        <p:spPr>
          <a:xfrm>
            <a:off x="731520" y="31638240"/>
            <a:ext cx="27432000" cy="457200"/>
          </a:xfrm>
          <a:prstGeom prst="rect">
            <a:avLst/>
          </a:prstGeom>
          <a:noFill/>
          <a:ln/>
        </p:spPr>
        <p:txBody>
          <a:bodyPr wrap="square" rtlCol="0" anchor="ctr"/>
          <a:lstStyle/>
          <a:p>
            <a:pPr indent="0" marL="0">
              <a:buNone/>
            </a:pPr>
            <a:r>
              <a:rPr lang="en-US" sz="1600" dirty="0">
                <a:solidFill>
                  <a:srgbClr val="E0E0E0"/>
                </a:solidFill>
                <a:latin typeface="Arial" pitchFamily="34" charset="0"/>
                <a:ea typeface="Arial" pitchFamily="34" charset="-122"/>
                <a:cs typeface="Arial" pitchFamily="34" charset="-120"/>
              </a:rPr>
              <a:t>References: Hugot et al. 2001; Ogura et al. 2001; Jumper et al. 2021 (AlphaFold); McNutt et al. 2021 (GNINA)  |  All figures created by Finalist using PyMOL, Python/matplotlib, and MDTraj</a:t>
            </a:r>
            <a:endParaRPr lang="en-US" sz="1600" dirty="0"/>
          </a:p>
        </p:txBody>
      </p:sp>
      <p:sp>
        <p:nvSpPr>
          <p:cNvPr id="68" name="Text 58"/>
          <p:cNvSpPr/>
          <p:nvPr/>
        </p:nvSpPr>
        <p:spPr>
          <a:xfrm>
            <a:off x="731520" y="32186880"/>
            <a:ext cx="36576000" cy="457200"/>
          </a:xfrm>
          <a:prstGeom prst="rect">
            <a:avLst/>
          </a:prstGeom>
          <a:noFill/>
          <a:ln/>
        </p:spPr>
        <p:txBody>
          <a:bodyPr wrap="square" rtlCol="0" anchor="ctr"/>
          <a:lstStyle/>
          <a:p>
            <a:pPr indent="0" marL="0">
              <a:buNone/>
            </a:pPr>
            <a:r>
              <a:rPr lang="en-US" sz="1600" dirty="0">
                <a:solidFill>
                  <a:srgbClr val="E0E0E0"/>
                </a:solidFill>
                <a:latin typeface="Arial" pitchFamily="34" charset="0"/>
                <a:ea typeface="Arial" pitchFamily="34" charset="-122"/>
                <a:cs typeface="Arial" pitchFamily="34" charset="-120"/>
              </a:rPr>
              <a:t>Acknowledgments: This project was completed independently using publicly available databases (AlphaFold, e-Drug3D, COCONUT) and open-source computational tools.</a:t>
            </a:r>
            <a:endParaRPr lang="en-US" sz="1600" dirty="0"/>
          </a:p>
        </p:txBody>
      </p:sp>
      <p:sp>
        <p:nvSpPr>
          <p:cNvPr id="69" name="Text 59"/>
          <p:cNvSpPr/>
          <p:nvPr/>
        </p:nvSpPr>
        <p:spPr>
          <a:xfrm>
            <a:off x="32004000" y="31821120"/>
            <a:ext cx="10972800" cy="731520"/>
          </a:xfrm>
          <a:prstGeom prst="rect">
            <a:avLst/>
          </a:prstGeom>
          <a:noFill/>
          <a:ln/>
        </p:spPr>
        <p:txBody>
          <a:bodyPr wrap="square" rtlCol="0" anchor="ctr"/>
          <a:lstStyle/>
          <a:p>
            <a:pPr algn="r" indent="0" marL="0">
              <a:buNone/>
            </a:pPr>
            <a:r>
              <a:rPr lang="en-US" sz="1800" b="1" dirty="0">
                <a:solidFill>
                  <a:srgbClr val="FFC107"/>
                </a:solidFill>
                <a:latin typeface="Arial" pitchFamily="34" charset="0"/>
                <a:ea typeface="Arial" pitchFamily="34" charset="-122"/>
                <a:cs typeface="Arial" pitchFamily="34" charset="-120"/>
              </a:rPr>
              <a:t>Computational Chemistry  •  Biochemistry  •  Drug Discovery</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2026-01-22T03:07:42Z</dcterms:created>
  <dcterms:modified xsi:type="dcterms:W3CDTF">2026-01-22T03:07:42Z</dcterms:modified>
</cp:coreProperties>
</file>