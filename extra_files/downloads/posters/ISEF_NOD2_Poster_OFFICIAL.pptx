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43891200" cy="32918400"/>
  <p:notesSz cx="32918400" cy="43891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0" cy="3291840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3891200" cy="347472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4297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Computational Discovery of Mutation-Sensitive NOD2 Modulators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4297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i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Identification of Small Molecules with Differential Binding to Wild-Type vs R702W Crohn's Disease Variant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4297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Tanmay Vasudeva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4297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Virtual Academy at Hallsville, Texas, USA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74320" y="3749040"/>
            <a:ext cx="14173200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3749040"/>
            <a:ext cx="14173200" cy="594360"/>
          </a:xfrm>
          <a:prstGeom prst="rect">
            <a:avLst/>
          </a:prstGeom>
          <a:solidFill>
            <a:srgbClr val="283593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3822192"/>
            <a:ext cx="1389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57200" y="4480560"/>
            <a:ext cx="138074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Crohn's disease affects over </a:t>
            </a:r>
            <a:pPr indent="0" marL="0">
              <a:buNone/>
            </a:pPr>
            <a:r>
              <a:rPr lang="en-US" sz="22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million people worldwide</a:t>
            </a:r>
            <a:pPr indent="0" marL="0">
              <a:buNone/>
            </a:pPr>
            <a:r>
              <a:rPr lang="en-US" sz="2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The </a:t>
            </a:r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NOD2 R702W mutation</a:t>
            </a:r>
            <a:pPr indent="0" marL="0">
              <a:buNone/>
            </a:pPr>
            <a:r>
              <a:rPr lang="en-US" sz="2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increases disease risk by 3-fold, yet no FDA-approved drugs specifically target NOD2.
</a:t>
            </a:r>
            <a:pPr indent="0" marL="0">
              <a:buNone/>
            </a:pPr>
            <a:r>
              <a:rPr lang="en-US" sz="22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purpose of this study is to:
</a:t>
            </a:r>
            <a:pPr indent="0" marL="0">
              <a:buNone/>
            </a:pPr>
            <a:r>
              <a:rPr lang="en-US" sz="2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Develop a computational pipeline to identify NOD2 binders
</a:t>
            </a:r>
            <a:pPr indent="0" marL="0">
              <a:buNone/>
            </a:pPr>
            <a:r>
              <a:rPr lang="en-US" sz="2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Determine how the R702W mutation affects drug binding
</a:t>
            </a:r>
            <a:pPr indent="0" marL="0">
              <a:buNone/>
            </a:pPr>
            <a:r>
              <a:rPr lang="en-US" sz="2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Identify mutation-resistant therapeutic candidates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274320" y="9052560"/>
            <a:ext cx="1417320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9052560"/>
            <a:ext cx="14173200" cy="594360"/>
          </a:xfrm>
          <a:prstGeom prst="rect">
            <a:avLst/>
          </a:prstGeom>
          <a:solidFill>
            <a:srgbClr val="283593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9125712"/>
            <a:ext cx="1389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Question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57200" y="9784080"/>
            <a:ext cx="13807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small molecules be identified that bind NOD2's LRR domain with </a:t>
            </a:r>
            <a:pPr indent="0" marL="0">
              <a:buNone/>
            </a:pPr>
            <a:r>
              <a:rPr lang="en-US" sz="23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differential affinity</a:t>
            </a:r>
            <a:pPr indent="0" marL="0">
              <a:buNone/>
            </a:pPr>
            <a:r>
              <a:rPr lang="en-US" sz="2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between wild-type and R702W mutant, enabling </a:t>
            </a:r>
            <a:pPr indent="0" marL="0">
              <a:buNone/>
            </a:pPr>
            <a:r>
              <a:rPr lang="en-US" sz="2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mutation-specific therapeutic targeting</a:t>
            </a:r>
            <a:pPr indent="0" marL="0">
              <a:buNone/>
            </a:pPr>
            <a:r>
              <a:rPr lang="en-US" sz="2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300" dirty="0"/>
          </a:p>
        </p:txBody>
      </p:sp>
      <p:sp>
        <p:nvSpPr>
          <p:cNvPr id="16" name="Shape 14"/>
          <p:cNvSpPr/>
          <p:nvPr/>
        </p:nvSpPr>
        <p:spPr>
          <a:xfrm>
            <a:off x="274320" y="12252960"/>
            <a:ext cx="14173200" cy="9601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12252960"/>
            <a:ext cx="14173200" cy="594360"/>
          </a:xfrm>
          <a:prstGeom prst="rect">
            <a:avLst/>
          </a:prstGeom>
          <a:solidFill>
            <a:srgbClr val="283593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12326112"/>
            <a:ext cx="1389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</a:t>
            </a:r>
            <a:endParaRPr lang="en-US" sz="2600" dirty="0"/>
          </a:p>
        </p:txBody>
      </p:sp>
      <p:pic>
        <p:nvPicPr>
          <p:cNvPr id="19" name="Image 0" descr="figA1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984480"/>
            <a:ext cx="6858000" cy="68580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406640" y="13167360"/>
            <a:ext cx="65836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NOD2 Domain Architecture:
</a:t>
            </a:r>
            <a:pPr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CARD (gray): Signaling
</a:t>
            </a:r>
            <a:pPr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NBD (blue): Nucleotide binding
</a:t>
            </a:r>
            <a:pPr indent="0" marL="0">
              <a:buNone/>
            </a:pPr>
            <a:r>
              <a:rPr lang="en-US" sz="1700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HD2 (orange): Contains R702W
</a:t>
            </a:r>
            <a:pPr indent="0" marL="0">
              <a:buNone/>
            </a:pPr>
            <a:r>
              <a:rPr lang="en-US" sz="17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LRR (green): Ligand recognition</a:t>
            </a:r>
            <a:endParaRPr lang="en-US" sz="1800" dirty="0"/>
          </a:p>
        </p:txBody>
      </p:sp>
      <p:pic>
        <p:nvPicPr>
          <p:cNvPr id="21" name="Image 1" descr="figE3_transpar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7282160"/>
            <a:ext cx="4572000" cy="411480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48640" y="19751040"/>
            <a:ext cx="6858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79.4Å</a:t>
            </a:r>
            <a:pPr indent="0" marL="0">
              <a:buNone/>
            </a:pPr>
            <a:endParaRPr lang="en-US" sz="3600" dirty="0"/>
          </a:p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 from R702W to binding pocket</a:t>
            </a:r>
            <a:endParaRPr lang="en-US" sz="3600" dirty="0"/>
          </a:p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Suggests </a:t>
            </a:r>
            <a:endParaRPr lang="en-US" sz="3600" dirty="0"/>
          </a:p>
          <a:p>
            <a:pPr indent="0" marL="0">
              <a:buNone/>
            </a:pPr>
            <a:r>
              <a:rPr lang="en-US" sz="1600" b="1" i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allosteric mechanism</a:t>
            </a:r>
            <a:endParaRPr lang="en-US" sz="3600" dirty="0"/>
          </a:p>
        </p:txBody>
      </p:sp>
      <p:sp>
        <p:nvSpPr>
          <p:cNvPr id="23" name="Shape 19"/>
          <p:cNvSpPr/>
          <p:nvPr/>
        </p:nvSpPr>
        <p:spPr>
          <a:xfrm>
            <a:off x="274320" y="22128480"/>
            <a:ext cx="14173200" cy="1051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3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274320" y="22128480"/>
            <a:ext cx="14173200" cy="594360"/>
          </a:xfrm>
          <a:prstGeom prst="rect">
            <a:avLst/>
          </a:prstGeom>
          <a:solidFill>
            <a:srgbClr val="283593"/>
          </a:solidFill>
          <a:ln/>
        </p:spPr>
      </p:sp>
      <p:sp>
        <p:nvSpPr>
          <p:cNvPr id="25" name="Text 21"/>
          <p:cNvSpPr/>
          <p:nvPr/>
        </p:nvSpPr>
        <p:spPr>
          <a:xfrm>
            <a:off x="411480" y="22201632"/>
            <a:ext cx="1389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 and Procedures</a:t>
            </a:r>
            <a:endParaRPr lang="en-US" sz="2600" dirty="0"/>
          </a:p>
        </p:txBody>
      </p:sp>
      <p:pic>
        <p:nvPicPr>
          <p:cNvPr id="26" name="Image 2" descr="funnel_fix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2951440"/>
            <a:ext cx="13533120" cy="502920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548640" y="28072080"/>
            <a:ext cx="1353312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Computational Screening Pipeline:
</a:t>
            </a:r>
            <a:pPr indent="0" marL="0">
              <a:buNone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Virtual Screening: </a:t>
            </a:r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9,566 compounds (2,152 FDA drugs + 7,414 natural products) docked using GNINA CNN-based scoring
</a:t>
            </a:r>
            <a:pPr indent="0" marL="0">
              <a:buNone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Machine Learning: </a:t>
            </a:r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NOD2-Scout XGBoost classifier trained on molecular fingerprints, validated by scaffold-split CV
</a:t>
            </a:r>
            <a:pPr indent="0" marL="0">
              <a:buNone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ADMET Filtering: </a:t>
            </a:r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Drug-likeness and toxicity screening
</a:t>
            </a:r>
            <a:pPr indent="0" marL="0">
              <a:buNone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MD Simulations: </a:t>
            </a:r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520+ ns total; apo WT vs R702W comparison
</a:t>
            </a:r>
            <a:pPr indent="0" marL="0">
              <a:buNone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Free Energy Perturbation: </a:t>
            </a:r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λ windows, 5 ns/window for ΔΔG calculation</a:t>
            </a:r>
            <a:endParaRPr lang="en-US" sz="2000" dirty="0"/>
          </a:p>
        </p:txBody>
      </p:sp>
      <p:sp>
        <p:nvSpPr>
          <p:cNvPr id="28" name="Shape 23"/>
          <p:cNvSpPr/>
          <p:nvPr/>
        </p:nvSpPr>
        <p:spPr>
          <a:xfrm>
            <a:off x="14721840" y="3749040"/>
            <a:ext cx="14173200" cy="2514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30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14721840" y="3749040"/>
            <a:ext cx="14173200" cy="594360"/>
          </a:xfrm>
          <a:prstGeom prst="rect">
            <a:avLst/>
          </a:prstGeom>
          <a:solidFill>
            <a:srgbClr val="283593"/>
          </a:solidFill>
          <a:ln/>
        </p:spPr>
      </p:sp>
      <p:sp>
        <p:nvSpPr>
          <p:cNvPr id="30" name="Text 25"/>
          <p:cNvSpPr/>
          <p:nvPr/>
        </p:nvSpPr>
        <p:spPr>
          <a:xfrm>
            <a:off x="14859000" y="3822192"/>
            <a:ext cx="1389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2600" dirty="0"/>
          </a:p>
        </p:txBody>
      </p:sp>
      <p:sp>
        <p:nvSpPr>
          <p:cNvPr id="31" name="Text 26"/>
          <p:cNvSpPr/>
          <p:nvPr/>
        </p:nvSpPr>
        <p:spPr>
          <a:xfrm>
            <a:off x="14996160" y="4572000"/>
            <a:ext cx="1353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Validation</a:t>
            </a:r>
            <a:endParaRPr lang="en-US" sz="2000" dirty="0"/>
          </a:p>
        </p:txBody>
      </p:sp>
      <p:pic>
        <p:nvPicPr>
          <p:cNvPr id="32" name="Image 3" descr="ml_performance_pr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96160" y="5120640"/>
            <a:ext cx="13533120" cy="502920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4996160" y="10241280"/>
            <a:ext cx="1353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NOD2-Scout achieved AUC 0.85-0.93 across 5-fold scaffold-split cross-validation.
</a:t>
            </a:r>
            <a:pPr indent="0" marL="0">
              <a:buNone/>
            </a:pPr>
            <a:r>
              <a:rPr lang="en-US" sz="1800" i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Shuffled label control: AUC ~0.50 (confirms model learns real patterns)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14996160" y="11521440"/>
            <a:ext cx="1353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Molecular Dynamics Analysis</a:t>
            </a:r>
            <a:endParaRPr lang="en-US" sz="2000" dirty="0"/>
          </a:p>
        </p:txBody>
      </p:sp>
      <p:pic>
        <p:nvPicPr>
          <p:cNvPr id="35" name="Image 4" descr="md_results_pr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96160" y="12070080"/>
            <a:ext cx="13533120" cy="457200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14996160" y="16733520"/>
            <a:ext cx="13533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Finding: </a:t>
            </a:r>
            <a:pPr indent="0" marL="0">
              <a:buNone/>
            </a:pPr>
            <a:r>
              <a:rPr lang="en-US" sz="1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R702W mutation </a:t>
            </a:r>
            <a:pPr indent="0" marL="0">
              <a:buNone/>
            </a:pPr>
            <a:r>
              <a:rPr lang="en-US" sz="19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RIGIDIFIES</a:t>
            </a:r>
            <a:pPr indent="0" marL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protein
</a:t>
            </a:r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WT: RMSD 4.05±0.40Å, 12.6% frames &gt;5Å (flexible)
</a:t>
            </a:r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R702W: RMSD 3.27±0.15Å, 0% frames &gt;5Å (rigid)</a:t>
            </a:r>
            <a:endParaRPr lang="en-US" sz="1900" dirty="0"/>
          </a:p>
        </p:txBody>
      </p:sp>
      <p:sp>
        <p:nvSpPr>
          <p:cNvPr id="37" name="Text 30"/>
          <p:cNvSpPr/>
          <p:nvPr/>
        </p:nvSpPr>
        <p:spPr>
          <a:xfrm>
            <a:off x="14996160" y="18562320"/>
            <a:ext cx="1353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Compound Identification</a:t>
            </a:r>
            <a:endParaRPr lang="en-US" sz="2000" dirty="0"/>
          </a:p>
        </p:txBody>
      </p:sp>
      <p:pic>
        <p:nvPicPr>
          <p:cNvPr id="38" name="Image 5" descr="febuxostat_transparen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179040" y="19202400"/>
            <a:ext cx="5943600" cy="4114800"/>
          </a:xfrm>
          <a:prstGeom prst="rect">
            <a:avLst/>
          </a:prstGeom>
        </p:spPr>
      </p:pic>
      <p:pic>
        <p:nvPicPr>
          <p:cNvPr id="39" name="Image 6" descr="bufadienolide_transparen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579840" y="19202400"/>
            <a:ext cx="6400800" cy="4114800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15179040" y="233172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Febuxostat (FDA Drug)</a:t>
            </a:r>
            <a:endParaRPr lang="en-US" sz="1600" dirty="0"/>
          </a:p>
        </p:txBody>
      </p:sp>
      <p:sp>
        <p:nvSpPr>
          <p:cNvPr id="41" name="Text 32"/>
          <p:cNvSpPr/>
          <p:nvPr/>
        </p:nvSpPr>
        <p:spPr>
          <a:xfrm>
            <a:off x="21579840" y="233172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Bufadienolide (Natural Product)</a:t>
            </a:r>
            <a:endParaRPr lang="en-US" sz="1600" dirty="0"/>
          </a:p>
        </p:txBody>
      </p:sp>
      <p:sp>
        <p:nvSpPr>
          <p:cNvPr id="42" name="Text 33"/>
          <p:cNvSpPr/>
          <p:nvPr/>
        </p:nvSpPr>
        <p:spPr>
          <a:xfrm>
            <a:off x="14996160" y="23957280"/>
            <a:ext cx="1353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Energy Perturbation Results</a:t>
            </a:r>
            <a:endParaRPr lang="en-US" sz="2000" dirty="0"/>
          </a:p>
        </p:txBody>
      </p:sp>
      <p:pic>
        <p:nvPicPr>
          <p:cNvPr id="43" name="Image 7" descr="fep_ddg_clea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996160" y="24505920"/>
            <a:ext cx="13533120" cy="4114800"/>
          </a:xfrm>
          <a:prstGeom prst="rect">
            <a:avLst/>
          </a:prstGeom>
        </p:spPr>
      </p:pic>
      <p:sp>
        <p:nvSpPr>
          <p:cNvPr id="44" name="Shape 34"/>
          <p:cNvSpPr/>
          <p:nvPr/>
        </p:nvSpPr>
        <p:spPr>
          <a:xfrm>
            <a:off x="29169360" y="3749040"/>
            <a:ext cx="14173200" cy="7772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30000"/>
              </a:srgbClr>
            </a:outerShdw>
          </a:effectLst>
        </p:spPr>
      </p:sp>
      <p:sp>
        <p:nvSpPr>
          <p:cNvPr id="45" name="Shape 35"/>
          <p:cNvSpPr/>
          <p:nvPr/>
        </p:nvSpPr>
        <p:spPr>
          <a:xfrm>
            <a:off x="29169360" y="3749040"/>
            <a:ext cx="14173200" cy="594360"/>
          </a:xfrm>
          <a:prstGeom prst="rect">
            <a:avLst/>
          </a:prstGeom>
          <a:solidFill>
            <a:srgbClr val="283593"/>
          </a:solidFill>
          <a:ln/>
        </p:spPr>
      </p:sp>
      <p:sp>
        <p:nvSpPr>
          <p:cNvPr id="46" name="Text 36"/>
          <p:cNvSpPr/>
          <p:nvPr/>
        </p:nvSpPr>
        <p:spPr>
          <a:xfrm>
            <a:off x="29306520" y="3822192"/>
            <a:ext cx="1389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(continued)</a:t>
            </a:r>
            <a:endParaRPr lang="en-US" sz="2600" dirty="0"/>
          </a:p>
        </p:txBody>
      </p:sp>
      <p:pic>
        <p:nvPicPr>
          <p:cNvPr id="47" name="Image 8" descr="fep_absolute_clean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443680" y="4572000"/>
            <a:ext cx="13533120" cy="5029200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29443680" y="9692640"/>
            <a:ext cx="1353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Febuxostat: </a:t>
            </a:r>
            <a:pPr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ΔG(WT)=-10.36, ΔG(R702W)=-8.02 kcal/mol
</a:t>
            </a:r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Bufadienolide: </a:t>
            </a:r>
            <a:pPr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ΔG(WT)=-15.22, ΔG(R702W)=-15.66 kcal/mol</a:t>
            </a:r>
            <a:endParaRPr lang="en-US" sz="1800" dirty="0"/>
          </a:p>
        </p:txBody>
      </p:sp>
      <p:sp>
        <p:nvSpPr>
          <p:cNvPr id="49" name="Shape 38"/>
          <p:cNvSpPr/>
          <p:nvPr/>
        </p:nvSpPr>
        <p:spPr>
          <a:xfrm>
            <a:off x="29169360" y="11795760"/>
            <a:ext cx="14173200" cy="9601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30000"/>
              </a:srgbClr>
            </a:outerShdw>
          </a:effectLst>
        </p:spPr>
      </p:sp>
      <p:sp>
        <p:nvSpPr>
          <p:cNvPr id="50" name="Shape 39"/>
          <p:cNvSpPr/>
          <p:nvPr/>
        </p:nvSpPr>
        <p:spPr>
          <a:xfrm>
            <a:off x="29169360" y="11795760"/>
            <a:ext cx="14173200" cy="594360"/>
          </a:xfrm>
          <a:prstGeom prst="rect">
            <a:avLst/>
          </a:prstGeom>
          <a:solidFill>
            <a:srgbClr val="283593"/>
          </a:solidFill>
          <a:ln/>
        </p:spPr>
      </p:sp>
      <p:sp>
        <p:nvSpPr>
          <p:cNvPr id="51" name="Text 40"/>
          <p:cNvSpPr/>
          <p:nvPr/>
        </p:nvSpPr>
        <p:spPr>
          <a:xfrm>
            <a:off x="29306520" y="11868912"/>
            <a:ext cx="1389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and Discussion</a:t>
            </a:r>
            <a:endParaRPr lang="en-US" sz="2600" dirty="0"/>
          </a:p>
        </p:txBody>
      </p:sp>
      <p:sp>
        <p:nvSpPr>
          <p:cNvPr id="52" name="Text 41"/>
          <p:cNvSpPr/>
          <p:nvPr/>
        </p:nvSpPr>
        <p:spPr>
          <a:xfrm>
            <a:off x="29443680" y="12527280"/>
            <a:ext cx="13533120" cy="8412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R702W mutation increases protein rigidity
</a:t>
            </a:r>
            <a:pPr indent="0" marL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RMSD: 3.27Å vs 4.05Å (p&lt;0.05); 0% vs 12.6% heterogeneity
</a:t>
            </a:r>
            <a:pPr indent="0" marL="0">
              <a:buNone/>
            </a:pPr>
            <a:r>
              <a:rPr lang="en-US" sz="21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Febuxostat is MUTATION-SENSITIVE
</a:t>
            </a:r>
            <a:pPr indent="0" marL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ΔΔG = +2.34±0.26 kcal/mol (8σ, p&lt;0.001)
</a:t>
            </a:r>
            <a:pPr indent="0" marL="0">
              <a:buNone/>
            </a:pPr>
            <a:r>
              <a:rPr lang="en-US" sz="1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50× weaker binding in R702W mutant
</a:t>
            </a:r>
            <a:pPr indent="0" marL="0">
              <a:buNone/>
            </a:pPr>
            <a:r>
              <a:rPr lang="en-US" sz="21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Bufadienolide is MUTATION-RESISTANT
</a:t>
            </a:r>
            <a:pPr indent="0" marL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ΔΔG = -0.44±0.37 kcal/mol (1.8σ, not significant)
</a:t>
            </a:r>
            <a:pPr indent="0" marL="0">
              <a:buNone/>
            </a:pPr>
            <a:r>
              <a:rPr lang="en-US" sz="1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Binds equally regardless of mutation status
</a:t>
            </a:r>
            <a:pPr indent="0" marL="0">
              <a:buNone/>
            </a:pPr>
            <a:r>
              <a:rPr lang="en-US" sz="21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First reported NOD2-Bufadienolide interaction
</a:t>
            </a:r>
            <a:pPr indent="0" marL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No prior literature exists for this compound-target pair
</a:t>
            </a:r>
            <a:pPr indent="0" marL="0">
              <a:buNone/>
            </a:pPr>
            <a:r>
              <a:rPr lang="en-US" sz="21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Allosteric mechanism confirmed
</a:t>
            </a:r>
            <a:pPr indent="0" marL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79.4Å distance proves mutation affects binding through long-range conformational changes</a:t>
            </a:r>
            <a:endParaRPr lang="en-US" sz="2100" dirty="0"/>
          </a:p>
        </p:txBody>
      </p:sp>
      <p:sp>
        <p:nvSpPr>
          <p:cNvPr id="53" name="Shape 42"/>
          <p:cNvSpPr/>
          <p:nvPr/>
        </p:nvSpPr>
        <p:spPr>
          <a:xfrm>
            <a:off x="29169360" y="21671280"/>
            <a:ext cx="1417320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30000"/>
              </a:srgbClr>
            </a:outerShdw>
          </a:effectLst>
        </p:spPr>
      </p:sp>
      <p:sp>
        <p:nvSpPr>
          <p:cNvPr id="54" name="Shape 43"/>
          <p:cNvSpPr/>
          <p:nvPr/>
        </p:nvSpPr>
        <p:spPr>
          <a:xfrm>
            <a:off x="29169360" y="21671280"/>
            <a:ext cx="14173200" cy="594360"/>
          </a:xfrm>
          <a:prstGeom prst="rect">
            <a:avLst/>
          </a:prstGeom>
          <a:solidFill>
            <a:srgbClr val="283593"/>
          </a:solidFill>
          <a:ln/>
        </p:spPr>
      </p:sp>
      <p:sp>
        <p:nvSpPr>
          <p:cNvPr id="55" name="Text 44"/>
          <p:cNvSpPr/>
          <p:nvPr/>
        </p:nvSpPr>
        <p:spPr>
          <a:xfrm>
            <a:off x="29306520" y="21744432"/>
            <a:ext cx="1389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</a:t>
            </a:r>
            <a:endParaRPr lang="en-US" sz="2600" dirty="0"/>
          </a:p>
        </p:txBody>
      </p:sp>
      <p:sp>
        <p:nvSpPr>
          <p:cNvPr id="56" name="Text 45"/>
          <p:cNvSpPr/>
          <p:nvPr/>
        </p:nvSpPr>
        <p:spPr>
          <a:xfrm>
            <a:off x="29443680" y="22402800"/>
            <a:ext cx="135331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Experimental validation via Surface Plasmon Resonance (SPR), Isothermal Titration Calorimetry (ITC), and Hydrogen-Deuterium Exchange Mass Spectrometry (HDX-MS)
</a:t>
            </a:r>
            <a:pPr indent="0" marL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Extension to other Crohn's-associated variants (G908R, 1007fs)
</a:t>
            </a:r>
            <a:pPr indent="0" marL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Structure-activity relationship (SAR) studies on Bufadienolide analogs
</a:t>
            </a:r>
            <a:pPr indent="0" marL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Cell-based functional assays to measure NOD2 pathway modulation</a:t>
            </a:r>
            <a:endParaRPr lang="en-US" sz="1900" dirty="0"/>
          </a:p>
        </p:txBody>
      </p:sp>
      <p:sp>
        <p:nvSpPr>
          <p:cNvPr id="57" name="Shape 46"/>
          <p:cNvSpPr/>
          <p:nvPr/>
        </p:nvSpPr>
        <p:spPr>
          <a:xfrm>
            <a:off x="29169360" y="26517600"/>
            <a:ext cx="14173200" cy="6126480"/>
          </a:xfrm>
          <a:prstGeom prst="rect">
            <a:avLst/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30000"/>
              </a:srgbClr>
            </a:outerShdw>
          </a:effectLst>
        </p:spPr>
      </p:sp>
      <p:sp>
        <p:nvSpPr>
          <p:cNvPr id="58" name="Shape 47"/>
          <p:cNvSpPr/>
          <p:nvPr/>
        </p:nvSpPr>
        <p:spPr>
          <a:xfrm>
            <a:off x="29169360" y="26517600"/>
            <a:ext cx="14173200" cy="594360"/>
          </a:xfrm>
          <a:prstGeom prst="rect">
            <a:avLst/>
          </a:prstGeom>
          <a:solidFill>
            <a:srgbClr val="283593"/>
          </a:solidFill>
          <a:ln/>
        </p:spPr>
      </p:sp>
      <p:sp>
        <p:nvSpPr>
          <p:cNvPr id="59" name="Text 48"/>
          <p:cNvSpPr/>
          <p:nvPr/>
        </p:nvSpPr>
        <p:spPr>
          <a:xfrm>
            <a:off x="29306520" y="26590752"/>
            <a:ext cx="1389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References</a:t>
            </a:r>
            <a:endParaRPr lang="en-US" sz="2600" dirty="0"/>
          </a:p>
        </p:txBody>
      </p:sp>
      <p:sp>
        <p:nvSpPr>
          <p:cNvPr id="60" name="Text 49"/>
          <p:cNvSpPr/>
          <p:nvPr/>
        </p:nvSpPr>
        <p:spPr>
          <a:xfrm>
            <a:off x="29443680" y="27249120"/>
            <a:ext cx="135331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Hugot JP et al. (2001) Nature 411:599-603. NOD2 mutations in Crohn's disease.
</a:t>
            </a:r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Jumper J et al. (2021) Nature 596:583-589. AlphaFold protein structure prediction.
</a:t>
            </a:r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McNutt AT et al. (2021) J Cheminform 13:43. GNINA molecular docking.
</a:t>
            </a:r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Gapsys V et al. (2022) Nat Protoc 17:1114-1141. pmx free energy calculations.
</a:t>
            </a:r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Abraham MJ et al. (2015) SoftwareX 1-2:19-25. GROMACS molecular dynamics.</a:t>
            </a:r>
            <a:endParaRPr lang="en-US" sz="1600" dirty="0"/>
          </a:p>
        </p:txBody>
      </p:sp>
      <p:pic>
        <p:nvPicPr>
          <p:cNvPr id="61" name="Image 9" descr="figE4_transparent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179040" y="29169360"/>
            <a:ext cx="4114800" cy="3200400"/>
          </a:xfrm>
          <a:prstGeom prst="rect">
            <a:avLst/>
          </a:prstGeom>
        </p:spPr>
      </p:pic>
      <p:pic>
        <p:nvPicPr>
          <p:cNvPr id="62" name="Image 10" descr="figB1_transparent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476720" y="29169360"/>
            <a:ext cx="4114800" cy="3200400"/>
          </a:xfrm>
          <a:prstGeom prst="rect">
            <a:avLst/>
          </a:prstGeom>
        </p:spPr>
      </p:pic>
      <p:pic>
        <p:nvPicPr>
          <p:cNvPr id="63" name="Image 11" descr="figE2_transparent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3865840" y="29169360"/>
            <a:ext cx="4114800" cy="3200400"/>
          </a:xfrm>
          <a:prstGeom prst="rect">
            <a:avLst/>
          </a:prstGeom>
        </p:spPr>
      </p:pic>
      <p:sp>
        <p:nvSpPr>
          <p:cNvPr id="64" name="Text 50"/>
          <p:cNvSpPr/>
          <p:nvPr/>
        </p:nvSpPr>
        <p:spPr>
          <a:xfrm>
            <a:off x="14996160" y="32461200"/>
            <a:ext cx="1353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Binding pocket surface | Ligand interactions | R702W site (red)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2026-01-23T06:07:28Z</dcterms:created>
  <dcterms:modified xsi:type="dcterms:W3CDTF">2026-01-23T06:07:28Z</dcterms:modified>
</cp:coreProperties>
</file>