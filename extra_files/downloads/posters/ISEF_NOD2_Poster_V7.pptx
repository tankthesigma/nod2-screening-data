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43891200" cy="32918400"/>
  <p:notesSz cx="32918400" cy="43891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0" cy="32918400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3891200" cy="384048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840480"/>
            <a:ext cx="43891200" cy="137160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65760"/>
            <a:ext cx="42976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 Guided Discovery and FEP Validation of</a:t>
            </a:r>
            <a:endParaRPr lang="en-US" sz="6800" dirty="0"/>
          </a:p>
          <a:p>
            <a:pPr algn="ctr"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NOD2 Binders for the R702W Crohn's Variant</a:t>
            </a:r>
            <a:endParaRPr lang="en-US" sz="68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4297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Tanmay Vasudeva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4297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Virtual Academy at Hallsville  |  Fort Worth Regional Science Fair 2026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38912" y="4462272"/>
            <a:ext cx="13716000" cy="4572000"/>
          </a:xfrm>
          <a:prstGeom prst="rect">
            <a:avLst/>
          </a:prstGeom>
          <a:solidFill>
            <a:srgbClr val="B0BEC5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4389120"/>
            <a:ext cx="1371600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90A4A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4389120"/>
            <a:ext cx="13716000" cy="822960"/>
          </a:xfrm>
          <a:prstGeom prst="rect">
            <a:avLst/>
          </a:prstGeom>
          <a:solidFill>
            <a:srgbClr val="283593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4389120"/>
            <a:ext cx="1371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" y="5394960"/>
            <a:ext cx="131673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Crohn's disease affects over 3 million Americans, causing chronic inflammation of the digestive tract. The NOD2 protein detects bacterial cell wall components and triggers immune responses.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R702W mutation increases Crohn's disease risk threefold by impairing bacterial detection. Despite decades of research, no therapeutics target this genetic variant.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project uses computational drug discovery to identify compounds that maintain binding in BOTH wild-type and R702W NOD2.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38912" y="9217152"/>
            <a:ext cx="13716000" cy="1645920"/>
          </a:xfrm>
          <a:prstGeom prst="rect">
            <a:avLst/>
          </a:prstGeom>
          <a:solidFill>
            <a:srgbClr val="B0BEC5"/>
          </a:solidFill>
          <a:ln/>
        </p:spPr>
      </p:sp>
      <p:sp>
        <p:nvSpPr>
          <p:cNvPr id="14" name="Shape 12"/>
          <p:cNvSpPr/>
          <p:nvPr/>
        </p:nvSpPr>
        <p:spPr>
          <a:xfrm>
            <a:off x="365760" y="9144000"/>
            <a:ext cx="1371600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90A4A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9144000"/>
            <a:ext cx="13716000" cy="82296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9144000"/>
            <a:ext cx="1371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QUESTION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40080" y="10149840"/>
            <a:ext cx="1316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computational methods identify compounds that bind NOD2 with PRESERVED affinity in both wild-type and R702W variants?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38912" y="11045952"/>
            <a:ext cx="13716000" cy="6400800"/>
          </a:xfrm>
          <a:prstGeom prst="rect">
            <a:avLst/>
          </a:prstGeom>
          <a:solidFill>
            <a:srgbClr val="B0BEC5"/>
          </a:solidFill>
          <a:ln/>
        </p:spPr>
      </p:sp>
      <p:sp>
        <p:nvSpPr>
          <p:cNvPr id="19" name="Shape 17"/>
          <p:cNvSpPr/>
          <p:nvPr/>
        </p:nvSpPr>
        <p:spPr>
          <a:xfrm>
            <a:off x="365760" y="10972800"/>
            <a:ext cx="13716000" cy="6400800"/>
          </a:xfrm>
          <a:prstGeom prst="rect">
            <a:avLst/>
          </a:prstGeom>
          <a:solidFill>
            <a:srgbClr val="FFFFFF"/>
          </a:solidFill>
          <a:ln w="19050">
            <a:solidFill>
              <a:srgbClr val="90A4A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10972800"/>
            <a:ext cx="13716000" cy="822960"/>
          </a:xfrm>
          <a:prstGeom prst="rect">
            <a:avLst/>
          </a:prstGeom>
          <a:solidFill>
            <a:srgbClr val="283593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10972800"/>
            <a:ext cx="1371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METHODS: COMPUTATIONAL PIPELINE</a:t>
            </a:r>
            <a:endParaRPr lang="en-US" sz="2800" dirty="0"/>
          </a:p>
        </p:txBody>
      </p:sp>
      <p:pic>
        <p:nvPicPr>
          <p:cNvPr id="22" name="Image 0" descr="charts/pipeline_p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1978640"/>
            <a:ext cx="12801600" cy="320040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40080" y="15270480"/>
            <a:ext cx="131673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9,566 compounds from COCONUT (natural products) and eBLOCKS (synthetic fragments) were docked using GNINA neural network scoring. NOD2-Scout, an XGBoost classifier trained with scaffold-split cross-validation, filtered hits. Molecular dynamics simulations (520+ ns in GROMACS) assessed binding stability. Free Energy Perturbation quantified binding differences between variants.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438912" y="17629632"/>
            <a:ext cx="13716000" cy="6217920"/>
          </a:xfrm>
          <a:prstGeom prst="rect">
            <a:avLst/>
          </a:prstGeom>
          <a:solidFill>
            <a:srgbClr val="B0BEC5"/>
          </a:solidFill>
          <a:ln/>
        </p:spPr>
      </p:sp>
      <p:sp>
        <p:nvSpPr>
          <p:cNvPr id="25" name="Shape 22"/>
          <p:cNvSpPr/>
          <p:nvPr/>
        </p:nvSpPr>
        <p:spPr>
          <a:xfrm>
            <a:off x="365760" y="17556480"/>
            <a:ext cx="13716000" cy="6217920"/>
          </a:xfrm>
          <a:prstGeom prst="rect">
            <a:avLst/>
          </a:prstGeom>
          <a:solidFill>
            <a:srgbClr val="FFFFFF"/>
          </a:solidFill>
          <a:ln w="19050">
            <a:solidFill>
              <a:srgbClr val="90A4AE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65760" y="17556480"/>
            <a:ext cx="13716000" cy="82296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7" name="Text 24"/>
          <p:cNvSpPr/>
          <p:nvPr/>
        </p:nvSpPr>
        <p:spPr>
          <a:xfrm>
            <a:off x="365760" y="17556480"/>
            <a:ext cx="1371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FEP WORKS</a:t>
            </a:r>
            <a:endParaRPr lang="en-US" sz="2800" dirty="0"/>
          </a:p>
        </p:txBody>
      </p:sp>
      <p:sp>
        <p:nvSpPr>
          <p:cNvPr id="28" name="Text 25"/>
          <p:cNvSpPr/>
          <p:nvPr/>
        </p:nvSpPr>
        <p:spPr>
          <a:xfrm>
            <a:off x="640080" y="18562320"/>
            <a:ext cx="131673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Energy Perturbation (FEP) is the gold standard for computing how mutations affect drug binding.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method gradually transforms wild-type NOD2 into R702W while the drug remains bound, using 20 lambda windows (5 ns each). The MBAR estimator calculates ΔΔG: the binding free energy difference.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Interpretation: Positive ΔΔG = weaker binding to mutant. Values within ±0.6 kcal/mol = no significant difference.</a:t>
            </a:r>
            <a:endParaRPr lang="en-US" sz="1600" dirty="0"/>
          </a:p>
        </p:txBody>
      </p:sp>
      <p:pic>
        <p:nvPicPr>
          <p:cNvPr id="29" name="Image 1" descr="charts/fep_cycle_fix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0939760"/>
            <a:ext cx="12252960" cy="2651760"/>
          </a:xfrm>
          <a:prstGeom prst="rect">
            <a:avLst/>
          </a:prstGeom>
        </p:spPr>
      </p:pic>
      <p:sp>
        <p:nvSpPr>
          <p:cNvPr id="30" name="Shape 26"/>
          <p:cNvSpPr/>
          <p:nvPr/>
        </p:nvSpPr>
        <p:spPr>
          <a:xfrm>
            <a:off x="438912" y="24030432"/>
            <a:ext cx="13716000" cy="5029200"/>
          </a:xfrm>
          <a:prstGeom prst="rect">
            <a:avLst/>
          </a:prstGeom>
          <a:solidFill>
            <a:srgbClr val="B0BEC5"/>
          </a:solidFill>
          <a:ln/>
        </p:spPr>
      </p:sp>
      <p:sp>
        <p:nvSpPr>
          <p:cNvPr id="31" name="Shape 27"/>
          <p:cNvSpPr/>
          <p:nvPr/>
        </p:nvSpPr>
        <p:spPr>
          <a:xfrm>
            <a:off x="365760" y="23957280"/>
            <a:ext cx="13716000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90A4AE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365760" y="23957280"/>
            <a:ext cx="13716000" cy="822960"/>
          </a:xfrm>
          <a:prstGeom prst="rect">
            <a:avLst/>
          </a:prstGeom>
          <a:solidFill>
            <a:srgbClr val="283593"/>
          </a:solidFill>
          <a:ln/>
        </p:spPr>
      </p:sp>
      <p:sp>
        <p:nvSpPr>
          <p:cNvPr id="33" name="Text 29"/>
          <p:cNvSpPr/>
          <p:nvPr/>
        </p:nvSpPr>
        <p:spPr>
          <a:xfrm>
            <a:off x="365760" y="23957280"/>
            <a:ext cx="1371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NOD2 STRUCTURE &amp; MUTATION</a:t>
            </a:r>
            <a:endParaRPr lang="en-US" sz="2800" dirty="0"/>
          </a:p>
        </p:txBody>
      </p:sp>
      <p:sp>
        <p:nvSpPr>
          <p:cNvPr id="34" name="Text 30"/>
          <p:cNvSpPr/>
          <p:nvPr/>
        </p:nvSpPr>
        <p:spPr>
          <a:xfrm>
            <a:off x="640080" y="24963120"/>
            <a:ext cx="1316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R702W is 79.4 Å from the binding pocket — an ALLOSTERIC mechanism.</a:t>
            </a:r>
            <a:endParaRPr lang="en-US" sz="1500" dirty="0"/>
          </a:p>
        </p:txBody>
      </p:sp>
      <p:pic>
        <p:nvPicPr>
          <p:cNvPr id="35" name="Image 2" descr="figA1_transpar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5511760"/>
            <a:ext cx="6858000" cy="3200400"/>
          </a:xfrm>
          <a:prstGeom prst="rect">
            <a:avLst/>
          </a:prstGeom>
        </p:spPr>
      </p:pic>
      <p:pic>
        <p:nvPicPr>
          <p:cNvPr id="36" name="Image 3" descr="charts/nod2_legend_fix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25511760"/>
            <a:ext cx="5760720" cy="3200400"/>
          </a:xfrm>
          <a:prstGeom prst="rect">
            <a:avLst/>
          </a:prstGeom>
        </p:spPr>
      </p:pic>
      <p:sp>
        <p:nvSpPr>
          <p:cNvPr id="37" name="Shape 31"/>
          <p:cNvSpPr/>
          <p:nvPr/>
        </p:nvSpPr>
        <p:spPr>
          <a:xfrm>
            <a:off x="438912" y="29242512"/>
            <a:ext cx="13716000" cy="3383280"/>
          </a:xfrm>
          <a:prstGeom prst="rect">
            <a:avLst/>
          </a:prstGeom>
          <a:solidFill>
            <a:srgbClr val="B0BEC5"/>
          </a:solidFill>
          <a:ln/>
        </p:spPr>
      </p:sp>
      <p:sp>
        <p:nvSpPr>
          <p:cNvPr id="38" name="Shape 32"/>
          <p:cNvSpPr/>
          <p:nvPr/>
        </p:nvSpPr>
        <p:spPr>
          <a:xfrm>
            <a:off x="365760" y="29169360"/>
            <a:ext cx="13716000" cy="3383280"/>
          </a:xfrm>
          <a:prstGeom prst="rect">
            <a:avLst/>
          </a:prstGeom>
          <a:solidFill>
            <a:srgbClr val="FFFFFF"/>
          </a:solidFill>
          <a:ln w="19050">
            <a:solidFill>
              <a:srgbClr val="90A4AE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365760" y="29169360"/>
            <a:ext cx="13716000" cy="822960"/>
          </a:xfrm>
          <a:prstGeom prst="rect">
            <a:avLst/>
          </a:prstGeom>
          <a:solidFill>
            <a:srgbClr val="283593"/>
          </a:solidFill>
          <a:ln/>
        </p:spPr>
      </p:sp>
      <p:sp>
        <p:nvSpPr>
          <p:cNvPr id="40" name="Text 34"/>
          <p:cNvSpPr/>
          <p:nvPr/>
        </p:nvSpPr>
        <p:spPr>
          <a:xfrm>
            <a:off x="365760" y="29169360"/>
            <a:ext cx="1371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THE RESEARCHER</a:t>
            </a:r>
            <a:endParaRPr lang="en-US" sz="2800" dirty="0"/>
          </a:p>
        </p:txBody>
      </p:sp>
      <p:sp>
        <p:nvSpPr>
          <p:cNvPr id="41" name="Text 35"/>
          <p:cNvSpPr/>
          <p:nvPr/>
        </p:nvSpPr>
        <p:spPr>
          <a:xfrm>
            <a:off x="640080" y="30175200"/>
            <a:ext cx="1316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project has personal significance: the researcher has Crohn's disease and carries the R702W mutation. This work combines computational biology, machine learning, and drug discovery to address a condition affecting daily life.</a:t>
            </a:r>
            <a:endParaRPr lang="en-US" sz="1600" dirty="0"/>
          </a:p>
        </p:txBody>
      </p:sp>
      <p:sp>
        <p:nvSpPr>
          <p:cNvPr id="42" name="Text 36"/>
          <p:cNvSpPr/>
          <p:nvPr/>
        </p:nvSpPr>
        <p:spPr>
          <a:xfrm>
            <a:off x="640080" y="31546800"/>
            <a:ext cx="1316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Hugot (2001) Nature 411:599 | Jumper (2021) Nature 596:583 | McNutt (2021) J Cheminform 13:43 | Gapsys (2022) Nat Protoc 17:1114</a:t>
            </a:r>
            <a:endParaRPr lang="en-US" sz="1100" dirty="0"/>
          </a:p>
        </p:txBody>
      </p:sp>
      <p:sp>
        <p:nvSpPr>
          <p:cNvPr id="43" name="Shape 37"/>
          <p:cNvSpPr/>
          <p:nvPr/>
        </p:nvSpPr>
        <p:spPr>
          <a:xfrm>
            <a:off x="14703552" y="4462272"/>
            <a:ext cx="14173200" cy="5669280"/>
          </a:xfrm>
          <a:prstGeom prst="rect">
            <a:avLst/>
          </a:prstGeom>
          <a:solidFill>
            <a:srgbClr val="B0BEC5"/>
          </a:solidFill>
          <a:ln/>
        </p:spPr>
      </p:sp>
      <p:sp>
        <p:nvSpPr>
          <p:cNvPr id="44" name="Shape 38"/>
          <p:cNvSpPr/>
          <p:nvPr/>
        </p:nvSpPr>
        <p:spPr>
          <a:xfrm>
            <a:off x="14630400" y="4389120"/>
            <a:ext cx="14173200" cy="5669280"/>
          </a:xfrm>
          <a:prstGeom prst="rect">
            <a:avLst/>
          </a:prstGeom>
          <a:solidFill>
            <a:srgbClr val="FFFFFF"/>
          </a:solidFill>
          <a:ln w="19050">
            <a:solidFill>
              <a:srgbClr val="90A4AE"/>
            </a:solidFill>
            <a:prstDash val="solid"/>
          </a:ln>
        </p:spPr>
      </p:sp>
      <p:sp>
        <p:nvSpPr>
          <p:cNvPr id="45" name="Shape 39"/>
          <p:cNvSpPr/>
          <p:nvPr/>
        </p:nvSpPr>
        <p:spPr>
          <a:xfrm>
            <a:off x="14630400" y="4389120"/>
            <a:ext cx="14173200" cy="822960"/>
          </a:xfrm>
          <a:prstGeom prst="rect">
            <a:avLst/>
          </a:prstGeom>
          <a:solidFill>
            <a:srgbClr val="283593"/>
          </a:solidFill>
          <a:ln/>
        </p:spPr>
      </p:sp>
      <p:sp>
        <p:nvSpPr>
          <p:cNvPr id="46" name="Text 40"/>
          <p:cNvSpPr/>
          <p:nvPr/>
        </p:nvSpPr>
        <p:spPr>
          <a:xfrm>
            <a:off x="14630400" y="4389120"/>
            <a:ext cx="1417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RESULTS: MACHINE LEARNING VALIDATION</a:t>
            </a:r>
            <a:endParaRPr lang="en-US" sz="2800" dirty="0"/>
          </a:p>
        </p:txBody>
      </p:sp>
      <p:sp>
        <p:nvSpPr>
          <p:cNvPr id="47" name="Text 41"/>
          <p:cNvSpPr/>
          <p:nvPr/>
        </p:nvSpPr>
        <p:spPr>
          <a:xfrm>
            <a:off x="14904720" y="5394960"/>
            <a:ext cx="1362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NOD2-Scout achieved AUC of 0.89 with scaffold-split cross-validation, ensuring the model generalizes to structurally novel compounds rather than memorizing similar structures.</a:t>
            </a:r>
            <a:endParaRPr lang="en-US" sz="1600" dirty="0"/>
          </a:p>
        </p:txBody>
      </p:sp>
      <p:pic>
        <p:nvPicPr>
          <p:cNvPr id="48" name="Image 4" descr="charts/ml_roc_p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87600" y="6400800"/>
            <a:ext cx="13258800" cy="3383280"/>
          </a:xfrm>
          <a:prstGeom prst="rect">
            <a:avLst/>
          </a:prstGeom>
        </p:spPr>
      </p:pic>
      <p:sp>
        <p:nvSpPr>
          <p:cNvPr id="49" name="Shape 42"/>
          <p:cNvSpPr/>
          <p:nvPr/>
        </p:nvSpPr>
        <p:spPr>
          <a:xfrm>
            <a:off x="14703552" y="10314432"/>
            <a:ext cx="14173200" cy="8686800"/>
          </a:xfrm>
          <a:prstGeom prst="rect">
            <a:avLst/>
          </a:prstGeom>
          <a:solidFill>
            <a:srgbClr val="B0BEC5"/>
          </a:solidFill>
          <a:ln/>
        </p:spPr>
      </p:sp>
      <p:sp>
        <p:nvSpPr>
          <p:cNvPr id="50" name="Shape 43"/>
          <p:cNvSpPr/>
          <p:nvPr/>
        </p:nvSpPr>
        <p:spPr>
          <a:xfrm>
            <a:off x="14630400" y="10241280"/>
            <a:ext cx="14173200" cy="8686800"/>
          </a:xfrm>
          <a:prstGeom prst="rect">
            <a:avLst/>
          </a:prstGeom>
          <a:solidFill>
            <a:srgbClr val="FFFFFF"/>
          </a:solidFill>
          <a:ln w="19050">
            <a:solidFill>
              <a:srgbClr val="90A4AE"/>
            </a:solidFill>
            <a:prstDash val="solid"/>
          </a:ln>
        </p:spPr>
      </p:sp>
      <p:sp>
        <p:nvSpPr>
          <p:cNvPr id="51" name="Shape 44"/>
          <p:cNvSpPr/>
          <p:nvPr/>
        </p:nvSpPr>
        <p:spPr>
          <a:xfrm>
            <a:off x="14630400" y="10241280"/>
            <a:ext cx="14173200" cy="82296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52" name="Text 45"/>
          <p:cNvSpPr/>
          <p:nvPr/>
        </p:nvSpPr>
        <p:spPr>
          <a:xfrm>
            <a:off x="14630400" y="10241280"/>
            <a:ext cx="1417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RESULTS: MOLECULAR DYNAMICS (WT vs R702W)</a:t>
            </a:r>
            <a:endParaRPr lang="en-US" sz="2800" dirty="0"/>
          </a:p>
        </p:txBody>
      </p:sp>
      <p:sp>
        <p:nvSpPr>
          <p:cNvPr id="53" name="Text 46"/>
          <p:cNvSpPr/>
          <p:nvPr/>
        </p:nvSpPr>
        <p:spPr>
          <a:xfrm>
            <a:off x="14904720" y="11247120"/>
            <a:ext cx="1362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RMSD measures protein movement over time. The comparison revealed a striking difference:</a:t>
            </a:r>
            <a:endParaRPr lang="en-US" sz="1600" dirty="0"/>
          </a:p>
        </p:txBody>
      </p:sp>
      <p:pic>
        <p:nvPicPr>
          <p:cNvPr id="54" name="Image 5" descr="charts/md_timeserie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087600" y="11887200"/>
            <a:ext cx="13258800" cy="3840480"/>
          </a:xfrm>
          <a:prstGeom prst="rect">
            <a:avLst/>
          </a:prstGeom>
        </p:spPr>
      </p:pic>
      <p:sp>
        <p:nvSpPr>
          <p:cNvPr id="55" name="Text 47"/>
          <p:cNvSpPr/>
          <p:nvPr/>
        </p:nvSpPr>
        <p:spPr>
          <a:xfrm>
            <a:off x="14904720" y="15819120"/>
            <a:ext cx="1362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Wild-type NOD2: RMSD 4.05 Å with large fluctuations — FLEXIBLE, multiple conformations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R702W Mutant: RMSD 3.27 Å, minimal variation — RIGID, locked in single state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mutation RIGIDIFIES NOD2. Proteins require flexibility to function; this rigidification explains both impaired bacterial sensing and why some drugs lose binding affinity.</a:t>
            </a:r>
            <a:endParaRPr lang="en-US" sz="1600" dirty="0"/>
          </a:p>
        </p:txBody>
      </p:sp>
      <p:sp>
        <p:nvSpPr>
          <p:cNvPr id="56" name="Text 48"/>
          <p:cNvSpPr/>
          <p:nvPr/>
        </p:nvSpPr>
        <p:spPr>
          <a:xfrm>
            <a:off x="15087600" y="179222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WILD-TYPE: Flexible</a:t>
            </a:r>
            <a:endParaRPr lang="en-US" sz="1400" dirty="0"/>
          </a:p>
        </p:txBody>
      </p:sp>
      <p:sp>
        <p:nvSpPr>
          <p:cNvPr id="57" name="Text 49"/>
          <p:cNvSpPr/>
          <p:nvPr/>
        </p:nvSpPr>
        <p:spPr>
          <a:xfrm>
            <a:off x="21945600" y="179222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R702W: Rigid</a:t>
            </a:r>
            <a:endParaRPr lang="en-US" sz="1400" dirty="0"/>
          </a:p>
        </p:txBody>
      </p:sp>
      <p:sp>
        <p:nvSpPr>
          <p:cNvPr id="58" name="Shape 50"/>
          <p:cNvSpPr/>
          <p:nvPr/>
        </p:nvSpPr>
        <p:spPr>
          <a:xfrm>
            <a:off x="14703552" y="19184112"/>
            <a:ext cx="14173200" cy="4572000"/>
          </a:xfrm>
          <a:prstGeom prst="rect">
            <a:avLst/>
          </a:prstGeom>
          <a:solidFill>
            <a:srgbClr val="B0BEC5"/>
          </a:solidFill>
          <a:ln/>
        </p:spPr>
      </p:sp>
      <p:sp>
        <p:nvSpPr>
          <p:cNvPr id="59" name="Shape 51"/>
          <p:cNvSpPr/>
          <p:nvPr/>
        </p:nvSpPr>
        <p:spPr>
          <a:xfrm>
            <a:off x="14630400" y="19110960"/>
            <a:ext cx="1417320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90A4AE"/>
            </a:solidFill>
            <a:prstDash val="solid"/>
          </a:ln>
        </p:spPr>
      </p:sp>
      <p:sp>
        <p:nvSpPr>
          <p:cNvPr id="60" name="Shape 52"/>
          <p:cNvSpPr/>
          <p:nvPr/>
        </p:nvSpPr>
        <p:spPr>
          <a:xfrm>
            <a:off x="14630400" y="19110960"/>
            <a:ext cx="14173200" cy="822960"/>
          </a:xfrm>
          <a:prstGeom prst="rect">
            <a:avLst/>
          </a:prstGeom>
          <a:solidFill>
            <a:srgbClr val="283593"/>
          </a:solidFill>
          <a:ln/>
        </p:spPr>
      </p:sp>
      <p:sp>
        <p:nvSpPr>
          <p:cNvPr id="61" name="Text 53"/>
          <p:cNvSpPr/>
          <p:nvPr/>
        </p:nvSpPr>
        <p:spPr>
          <a:xfrm>
            <a:off x="14630400" y="19110960"/>
            <a:ext cx="1417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RESULTS: CONFORMATIONAL LANDSCAPE (WT vs R702W)</a:t>
            </a:r>
            <a:endParaRPr lang="en-US" sz="2800" dirty="0"/>
          </a:p>
        </p:txBody>
      </p:sp>
      <p:sp>
        <p:nvSpPr>
          <p:cNvPr id="62" name="Text 54"/>
          <p:cNvSpPr/>
          <p:nvPr/>
        </p:nvSpPr>
        <p:spPr>
          <a:xfrm>
            <a:off x="14904720" y="20116800"/>
            <a:ext cx="1362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energy landscapes confirm the rigidification: wild-type samples THREE states, R702W only ONE.</a:t>
            </a:r>
            <a:endParaRPr lang="en-US" sz="1500" dirty="0"/>
          </a:p>
        </p:txBody>
      </p:sp>
      <p:pic>
        <p:nvPicPr>
          <p:cNvPr id="63" name="Image 6" descr="charts/free_energy_landscap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087600" y="20756880"/>
            <a:ext cx="13258800" cy="2743200"/>
          </a:xfrm>
          <a:prstGeom prst="rect">
            <a:avLst/>
          </a:prstGeom>
        </p:spPr>
      </p:pic>
      <p:sp>
        <p:nvSpPr>
          <p:cNvPr id="64" name="Shape 55"/>
          <p:cNvSpPr/>
          <p:nvPr/>
        </p:nvSpPr>
        <p:spPr>
          <a:xfrm>
            <a:off x="14703552" y="23938992"/>
            <a:ext cx="14173200" cy="8686800"/>
          </a:xfrm>
          <a:prstGeom prst="rect">
            <a:avLst/>
          </a:prstGeom>
          <a:solidFill>
            <a:srgbClr val="B0BEC5"/>
          </a:solidFill>
          <a:ln/>
        </p:spPr>
      </p:sp>
      <p:sp>
        <p:nvSpPr>
          <p:cNvPr id="65" name="Shape 56"/>
          <p:cNvSpPr/>
          <p:nvPr/>
        </p:nvSpPr>
        <p:spPr>
          <a:xfrm>
            <a:off x="14630400" y="23865840"/>
            <a:ext cx="14173200" cy="8686800"/>
          </a:xfrm>
          <a:prstGeom prst="rect">
            <a:avLst/>
          </a:prstGeom>
          <a:solidFill>
            <a:srgbClr val="FFFFFF"/>
          </a:solidFill>
          <a:ln w="19050">
            <a:solidFill>
              <a:srgbClr val="90A4AE"/>
            </a:solidFill>
            <a:prstDash val="solid"/>
          </a:ln>
        </p:spPr>
      </p:sp>
      <p:sp>
        <p:nvSpPr>
          <p:cNvPr id="66" name="Shape 57"/>
          <p:cNvSpPr/>
          <p:nvPr/>
        </p:nvSpPr>
        <p:spPr>
          <a:xfrm>
            <a:off x="14630400" y="23865840"/>
            <a:ext cx="14173200" cy="82296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67" name="Text 58"/>
          <p:cNvSpPr/>
          <p:nvPr/>
        </p:nvSpPr>
        <p:spPr>
          <a:xfrm>
            <a:off x="14630400" y="23865840"/>
            <a:ext cx="1417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RESULTS: FEP BINDING AFFINITY (WT vs R702W)</a:t>
            </a:r>
            <a:endParaRPr lang="en-US" sz="2800" dirty="0"/>
          </a:p>
        </p:txBody>
      </p:sp>
      <p:sp>
        <p:nvSpPr>
          <p:cNvPr id="68" name="Text 59"/>
          <p:cNvSpPr/>
          <p:nvPr/>
        </p:nvSpPr>
        <p:spPr>
          <a:xfrm>
            <a:off x="14904720" y="24871680"/>
            <a:ext cx="1362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ΔΔG measures binding difference: positive = weaker binding to mutant. Gray zone (±0.6 kcal/mol) = noise.</a:t>
            </a:r>
            <a:endParaRPr lang="en-US" sz="1500" dirty="0"/>
          </a:p>
        </p:txBody>
      </p:sp>
      <p:pic>
        <p:nvPicPr>
          <p:cNvPr id="69" name="Image 7" descr="charts/ddg_fix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087600" y="25511760"/>
            <a:ext cx="13258800" cy="3840480"/>
          </a:xfrm>
          <a:prstGeom prst="rect">
            <a:avLst/>
          </a:prstGeom>
        </p:spPr>
      </p:pic>
      <p:sp>
        <p:nvSpPr>
          <p:cNvPr id="70" name="Text 60"/>
          <p:cNvSpPr/>
          <p:nvPr/>
        </p:nvSpPr>
        <p:spPr>
          <a:xfrm>
            <a:off x="14904720" y="29443680"/>
            <a:ext cx="1362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FEBUXOSTAT: ΔΔG = +2.34 kcal/mol (p &lt; 0.001)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Binds 50× WEAKER to R702W — NOT useful for mutation carriers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BUFADIENOLIDE: ΔΔG = -0.44 kcal/mol (within noise)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Binds EQUALLY to both variants — MUTATION-AGNOSTIC candidate</a:t>
            </a:r>
            <a:endParaRPr lang="en-US" sz="1600" dirty="0"/>
          </a:p>
        </p:txBody>
      </p:sp>
      <p:sp>
        <p:nvSpPr>
          <p:cNvPr id="71" name="Text 61"/>
          <p:cNvSpPr/>
          <p:nvPr/>
        </p:nvSpPr>
        <p:spPr>
          <a:xfrm>
            <a:off x="15087600" y="315468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Works for both</a:t>
            </a:r>
            <a:endParaRPr lang="en-US" sz="1400" dirty="0"/>
          </a:p>
        </p:txBody>
      </p:sp>
      <p:sp>
        <p:nvSpPr>
          <p:cNvPr id="72" name="Text 62"/>
          <p:cNvSpPr/>
          <p:nvPr/>
        </p:nvSpPr>
        <p:spPr>
          <a:xfrm>
            <a:off x="21945600" y="315468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Lost in mutant</a:t>
            </a:r>
            <a:endParaRPr lang="en-US" sz="1400" dirty="0"/>
          </a:p>
        </p:txBody>
      </p:sp>
      <p:sp>
        <p:nvSpPr>
          <p:cNvPr id="73" name="Shape 63"/>
          <p:cNvSpPr/>
          <p:nvPr/>
        </p:nvSpPr>
        <p:spPr>
          <a:xfrm>
            <a:off x="29425392" y="4462272"/>
            <a:ext cx="14173200" cy="5943600"/>
          </a:xfrm>
          <a:prstGeom prst="rect">
            <a:avLst/>
          </a:prstGeom>
          <a:solidFill>
            <a:srgbClr val="B0BEC5"/>
          </a:solidFill>
          <a:ln/>
        </p:spPr>
      </p:sp>
      <p:sp>
        <p:nvSpPr>
          <p:cNvPr id="74" name="Shape 64"/>
          <p:cNvSpPr/>
          <p:nvPr/>
        </p:nvSpPr>
        <p:spPr>
          <a:xfrm>
            <a:off x="29352240" y="4389120"/>
            <a:ext cx="14173200" cy="5943600"/>
          </a:xfrm>
          <a:prstGeom prst="rect">
            <a:avLst/>
          </a:prstGeom>
          <a:solidFill>
            <a:srgbClr val="FFFFFF"/>
          </a:solidFill>
          <a:ln w="19050">
            <a:solidFill>
              <a:srgbClr val="90A4AE"/>
            </a:solidFill>
            <a:prstDash val="solid"/>
          </a:ln>
        </p:spPr>
      </p:sp>
      <p:sp>
        <p:nvSpPr>
          <p:cNvPr id="75" name="Shape 65"/>
          <p:cNvSpPr/>
          <p:nvPr/>
        </p:nvSpPr>
        <p:spPr>
          <a:xfrm>
            <a:off x="29352240" y="4389120"/>
            <a:ext cx="14173200" cy="822960"/>
          </a:xfrm>
          <a:prstGeom prst="rect">
            <a:avLst/>
          </a:prstGeom>
          <a:solidFill>
            <a:srgbClr val="283593"/>
          </a:solidFill>
          <a:ln/>
        </p:spPr>
      </p:sp>
      <p:sp>
        <p:nvSpPr>
          <p:cNvPr id="76" name="Text 66"/>
          <p:cNvSpPr/>
          <p:nvPr/>
        </p:nvSpPr>
        <p:spPr>
          <a:xfrm>
            <a:off x="29352240" y="4389120"/>
            <a:ext cx="1417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COMPOUNDS IDENTIFIED</a:t>
            </a:r>
            <a:endParaRPr lang="en-US" sz="2800" dirty="0"/>
          </a:p>
        </p:txBody>
      </p:sp>
      <p:pic>
        <p:nvPicPr>
          <p:cNvPr id="77" name="Image 8" descr="febuxostat_transparen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083760" y="5394960"/>
            <a:ext cx="5486400" cy="3200400"/>
          </a:xfrm>
          <a:prstGeom prst="rect">
            <a:avLst/>
          </a:prstGeom>
        </p:spPr>
      </p:pic>
      <p:sp>
        <p:nvSpPr>
          <p:cNvPr id="78" name="Text 67"/>
          <p:cNvSpPr/>
          <p:nvPr/>
        </p:nvSpPr>
        <p:spPr>
          <a:xfrm>
            <a:off x="29809440" y="868680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FEBUXOSTAT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FDA-approved (gout)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Binding LOST in R702W</a:t>
            </a:r>
            <a:endParaRPr lang="en-US" sz="1400" dirty="0"/>
          </a:p>
        </p:txBody>
      </p:sp>
      <p:pic>
        <p:nvPicPr>
          <p:cNvPr id="79" name="Image 9" descr="bufadienolide_transparent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850320" y="5394960"/>
            <a:ext cx="5486400" cy="3200400"/>
          </a:xfrm>
          <a:prstGeom prst="rect">
            <a:avLst/>
          </a:prstGeom>
        </p:spPr>
      </p:pic>
      <p:sp>
        <p:nvSpPr>
          <p:cNvPr id="80" name="Text 68"/>
          <p:cNvSpPr/>
          <p:nvPr/>
        </p:nvSpPr>
        <p:spPr>
          <a:xfrm>
            <a:off x="36667440" y="868680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BUFADIENOLIDE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NF-κB inhibitor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Binding PRESERVED!</a:t>
            </a:r>
            <a:endParaRPr lang="en-US" sz="1400" dirty="0"/>
          </a:p>
        </p:txBody>
      </p:sp>
      <p:sp>
        <p:nvSpPr>
          <p:cNvPr id="81" name="Shape 69"/>
          <p:cNvSpPr/>
          <p:nvPr/>
        </p:nvSpPr>
        <p:spPr>
          <a:xfrm>
            <a:off x="29425392" y="10588752"/>
            <a:ext cx="14173200" cy="9144000"/>
          </a:xfrm>
          <a:prstGeom prst="rect">
            <a:avLst/>
          </a:prstGeom>
          <a:solidFill>
            <a:srgbClr val="B0BEC5"/>
          </a:solidFill>
          <a:ln/>
        </p:spPr>
      </p:sp>
      <p:sp>
        <p:nvSpPr>
          <p:cNvPr id="82" name="Shape 70"/>
          <p:cNvSpPr/>
          <p:nvPr/>
        </p:nvSpPr>
        <p:spPr>
          <a:xfrm>
            <a:off x="29352240" y="10515600"/>
            <a:ext cx="14173200" cy="9144000"/>
          </a:xfrm>
          <a:prstGeom prst="rect">
            <a:avLst/>
          </a:prstGeom>
          <a:solidFill>
            <a:srgbClr val="FFFFFF"/>
          </a:solidFill>
          <a:ln w="19050">
            <a:solidFill>
              <a:srgbClr val="90A4AE"/>
            </a:solidFill>
            <a:prstDash val="solid"/>
          </a:ln>
        </p:spPr>
      </p:sp>
      <p:sp>
        <p:nvSpPr>
          <p:cNvPr id="83" name="Shape 71"/>
          <p:cNvSpPr/>
          <p:nvPr/>
        </p:nvSpPr>
        <p:spPr>
          <a:xfrm>
            <a:off x="29352240" y="10515600"/>
            <a:ext cx="14173200" cy="82296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84" name="Text 72"/>
          <p:cNvSpPr/>
          <p:nvPr/>
        </p:nvSpPr>
        <p:spPr>
          <a:xfrm>
            <a:off x="29352240" y="10515600"/>
            <a:ext cx="1417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</a:t>
            </a:r>
            <a:endParaRPr lang="en-US" sz="2800" dirty="0"/>
          </a:p>
        </p:txBody>
      </p:sp>
      <p:sp>
        <p:nvSpPr>
          <p:cNvPr id="85" name="Text 73"/>
          <p:cNvSpPr/>
          <p:nvPr/>
        </p:nvSpPr>
        <p:spPr>
          <a:xfrm>
            <a:off x="29626560" y="11521440"/>
            <a:ext cx="13624560" cy="795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study demonstrates that computational drug discovery can identify mutation-tolerant compounds for genetically heterogeneous diseases like Crohn's disease.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Findings: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The R702W mutation RIGIDIFIES NOD2, eliminating conformational flexibility required for bacterial sensing. This occurs despite the mutation being 79.4 Å from the binding site, confirming an allosteric mechanism.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Febuxostat loses 50-fold binding affinity in the R702W mutant compared to wild-type, while Bufadienolide maintains equivalent binding in both variants.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MUTATION-AGNOSTIC NOD2 therapeutics ARE ACHIEVABLE through careful computational screening, opening new possibilities for precision medicine in inflammatory bowel disease.</a:t>
            </a:r>
            <a:endParaRPr lang="en-US" sz="1700" dirty="0"/>
          </a:p>
        </p:txBody>
      </p:sp>
      <p:sp>
        <p:nvSpPr>
          <p:cNvPr id="86" name="Shape 74"/>
          <p:cNvSpPr/>
          <p:nvPr/>
        </p:nvSpPr>
        <p:spPr>
          <a:xfrm>
            <a:off x="29425392" y="19915632"/>
            <a:ext cx="14173200" cy="4114800"/>
          </a:xfrm>
          <a:prstGeom prst="rect">
            <a:avLst/>
          </a:prstGeom>
          <a:solidFill>
            <a:srgbClr val="B0BEC5"/>
          </a:solidFill>
          <a:ln/>
        </p:spPr>
      </p:sp>
      <p:sp>
        <p:nvSpPr>
          <p:cNvPr id="87" name="Shape 75"/>
          <p:cNvSpPr/>
          <p:nvPr/>
        </p:nvSpPr>
        <p:spPr>
          <a:xfrm>
            <a:off x="29352240" y="19842480"/>
            <a:ext cx="1417320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90A4AE"/>
            </a:solidFill>
            <a:prstDash val="solid"/>
          </a:ln>
        </p:spPr>
      </p:sp>
      <p:sp>
        <p:nvSpPr>
          <p:cNvPr id="88" name="Shape 76"/>
          <p:cNvSpPr/>
          <p:nvPr/>
        </p:nvSpPr>
        <p:spPr>
          <a:xfrm>
            <a:off x="29352240" y="19842480"/>
            <a:ext cx="14173200" cy="822960"/>
          </a:xfrm>
          <a:prstGeom prst="rect">
            <a:avLst/>
          </a:prstGeom>
          <a:solidFill>
            <a:srgbClr val="283593"/>
          </a:solidFill>
          <a:ln/>
        </p:spPr>
      </p:sp>
      <p:sp>
        <p:nvSpPr>
          <p:cNvPr id="89" name="Text 77"/>
          <p:cNvSpPr/>
          <p:nvPr/>
        </p:nvSpPr>
        <p:spPr>
          <a:xfrm>
            <a:off x="29352240" y="19842480"/>
            <a:ext cx="1417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STATISTICS</a:t>
            </a:r>
            <a:endParaRPr lang="en-US" sz="2800" dirty="0"/>
          </a:p>
        </p:txBody>
      </p:sp>
      <p:sp>
        <p:nvSpPr>
          <p:cNvPr id="90" name="Text 78"/>
          <p:cNvSpPr/>
          <p:nvPr/>
        </p:nvSpPr>
        <p:spPr>
          <a:xfrm>
            <a:off x="29626560" y="20848320"/>
            <a:ext cx="136245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Compounds Screened: 9,566 → 2 final candidates (99.98% reduction)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MD Simulation: 520+ nanoseconds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FEP Protocol: 20 λ-windows × 5 ns = 100 ns per compound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Classifier AUC: 0.89 (scaffold-split)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Febuxostat ΔΔG: +2.34 kcal/mol → 50× weaker in R702W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Bufadienolide ΔΔG: -0.44 kcal/mol → NO CHANGE</a:t>
            </a:r>
            <a:endParaRPr lang="en-US" sz="1500" dirty="0"/>
          </a:p>
        </p:txBody>
      </p:sp>
      <p:sp>
        <p:nvSpPr>
          <p:cNvPr id="91" name="Shape 79"/>
          <p:cNvSpPr/>
          <p:nvPr/>
        </p:nvSpPr>
        <p:spPr>
          <a:xfrm>
            <a:off x="29425392" y="24213312"/>
            <a:ext cx="14173200" cy="4754880"/>
          </a:xfrm>
          <a:prstGeom prst="rect">
            <a:avLst/>
          </a:prstGeom>
          <a:solidFill>
            <a:srgbClr val="B0BEC5"/>
          </a:solidFill>
          <a:ln/>
        </p:spPr>
      </p:sp>
      <p:sp>
        <p:nvSpPr>
          <p:cNvPr id="92" name="Shape 80"/>
          <p:cNvSpPr/>
          <p:nvPr/>
        </p:nvSpPr>
        <p:spPr>
          <a:xfrm>
            <a:off x="29352240" y="24140160"/>
            <a:ext cx="14173200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90A4AE"/>
            </a:solidFill>
            <a:prstDash val="solid"/>
          </a:ln>
        </p:spPr>
      </p:sp>
      <p:sp>
        <p:nvSpPr>
          <p:cNvPr id="93" name="Shape 81"/>
          <p:cNvSpPr/>
          <p:nvPr/>
        </p:nvSpPr>
        <p:spPr>
          <a:xfrm>
            <a:off x="29352240" y="24140160"/>
            <a:ext cx="14173200" cy="822960"/>
          </a:xfrm>
          <a:prstGeom prst="rect">
            <a:avLst/>
          </a:prstGeom>
          <a:solidFill>
            <a:srgbClr val="78909C"/>
          </a:solidFill>
          <a:ln/>
        </p:spPr>
      </p:sp>
      <p:sp>
        <p:nvSpPr>
          <p:cNvPr id="94" name="Text 82"/>
          <p:cNvSpPr/>
          <p:nvPr/>
        </p:nvSpPr>
        <p:spPr>
          <a:xfrm>
            <a:off x="29352240" y="24140160"/>
            <a:ext cx="1417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&amp; FUTURE WORK</a:t>
            </a:r>
            <a:endParaRPr lang="en-US" sz="2800" dirty="0"/>
          </a:p>
        </p:txBody>
      </p:sp>
      <p:sp>
        <p:nvSpPr>
          <p:cNvPr id="95" name="Text 83"/>
          <p:cNvSpPr/>
          <p:nvPr/>
        </p:nvSpPr>
        <p:spPr>
          <a:xfrm>
            <a:off x="29626560" y="25146000"/>
            <a:ext cx="1362456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computational predictions require experimental validation through biophysical assays (SPR, ITC) and cellular functional assays. The AlphaFold2 structure may have inaccuracies in flexible regions. Only R702W was tested; other Crohn's mutations (G908R, 1007fs) need investigation.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binding experimentally, test compounds in NOD2 reporter cell lines, and extend screening to other disease-associated mutations.</a:t>
            </a:r>
            <a:endParaRPr lang="en-US" sz="1400" dirty="0"/>
          </a:p>
        </p:txBody>
      </p:sp>
      <p:sp>
        <p:nvSpPr>
          <p:cNvPr id="96" name="Shape 84"/>
          <p:cNvSpPr/>
          <p:nvPr/>
        </p:nvSpPr>
        <p:spPr>
          <a:xfrm>
            <a:off x="29425392" y="29151072"/>
            <a:ext cx="14173200" cy="3474720"/>
          </a:xfrm>
          <a:prstGeom prst="rect">
            <a:avLst/>
          </a:prstGeom>
          <a:solidFill>
            <a:srgbClr val="B0BEC5"/>
          </a:solidFill>
          <a:ln/>
        </p:spPr>
      </p:sp>
      <p:sp>
        <p:nvSpPr>
          <p:cNvPr id="97" name="Shape 85"/>
          <p:cNvSpPr/>
          <p:nvPr/>
        </p:nvSpPr>
        <p:spPr>
          <a:xfrm>
            <a:off x="29352240" y="29077920"/>
            <a:ext cx="1417320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90A4AE"/>
            </a:solidFill>
            <a:prstDash val="solid"/>
          </a:ln>
        </p:spPr>
      </p:sp>
      <p:sp>
        <p:nvSpPr>
          <p:cNvPr id="98" name="Shape 86"/>
          <p:cNvSpPr/>
          <p:nvPr/>
        </p:nvSpPr>
        <p:spPr>
          <a:xfrm>
            <a:off x="29352240" y="29077920"/>
            <a:ext cx="14173200" cy="822960"/>
          </a:xfrm>
          <a:prstGeom prst="rect">
            <a:avLst/>
          </a:prstGeom>
          <a:solidFill>
            <a:srgbClr val="78909C"/>
          </a:solidFill>
          <a:ln/>
        </p:spPr>
      </p:sp>
      <p:sp>
        <p:nvSpPr>
          <p:cNvPr id="99" name="Text 87"/>
          <p:cNvSpPr/>
          <p:nvPr/>
        </p:nvSpPr>
        <p:spPr>
          <a:xfrm>
            <a:off x="29352240" y="29077920"/>
            <a:ext cx="1417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ACKNOWLEDGMENTS</a:t>
            </a:r>
            <a:endParaRPr lang="en-US" sz="2800" dirty="0"/>
          </a:p>
        </p:txBody>
      </p:sp>
      <p:sp>
        <p:nvSpPr>
          <p:cNvPr id="100" name="Text 88"/>
          <p:cNvSpPr/>
          <p:nvPr/>
        </p:nvSpPr>
        <p:spPr>
          <a:xfrm>
            <a:off x="29626560" y="30083760"/>
            <a:ext cx="13624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Computational resources provided by personal hardware and cloud computing services.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Software: GROMACS 2021.4, pmx, GNINA, XGBoost, AlphaFold2, PyMOL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 thanks to mentors and advisors for guidance throughout this project.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2026-01-23T17:21:30Z</dcterms:created>
  <dcterms:modified xsi:type="dcterms:W3CDTF">2026-01-23T17:21:30Z</dcterms:modified>
</cp:coreProperties>
</file>