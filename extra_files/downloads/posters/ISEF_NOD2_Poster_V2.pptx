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43891200" cy="32918400"/>
  <p:notesSz cx="32918400" cy="4389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0" cy="3291840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3891200" cy="3200400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42976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Guided Discovery and FEP Validation of NOD2 Binders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R702W Crohn's Variant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2103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Tanmay Vasudeva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1945600" y="2011680"/>
            <a:ext cx="2103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Virtual Academy at Hallsville, Texas, USA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" y="3474720"/>
            <a:ext cx="14173200" cy="5486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7A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3474720"/>
            <a:ext cx="14173200" cy="54864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3547872"/>
            <a:ext cx="1389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11480" y="4160520"/>
            <a:ext cx="138074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Crohn's disease affects over 3 million people worldwide. The NOD2 R702W variant increases disease risk by 3-fold, yet no FDA-approved drugs specifically target NOD2.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NOD2 (nucleotide-binding oligomerization domain 2) is a cytoplasmic receptor that detects bacterial muramyl dipeptide (MDP) and activates inflammatory signaling through NF-kB. The R702W mutation impairs bacterial sensing, leading to dysregulated immune responses in the gut.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study developed a computational pipeline to identify small molecules that bind NOD2 and determined how the R702W mutation affects drug binding affinity.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28600" y="9235440"/>
            <a:ext cx="141732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7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9235440"/>
            <a:ext cx="14173200" cy="54864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9308592"/>
            <a:ext cx="1389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NOD2 Signaling Pathway</a:t>
            </a:r>
            <a:endParaRPr lang="en-US" sz="2400" dirty="0"/>
          </a:p>
        </p:txBody>
      </p:sp>
      <p:pic>
        <p:nvPicPr>
          <p:cNvPr id="14" name="Image 0" descr="charts/pathway_p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875520"/>
            <a:ext cx="13716000" cy="2743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11480" y="12710160"/>
            <a:ext cx="1380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NOD2 detects bacterial MDP through its LRR domain, recruits RIPK2 via CARD-CARD interactions, and activates IKK complex to trigger NF-kB mediated inflammation. R702W mutation disrupts this sensing. Bufadienolide class compounds are known NF-kB pathway inhibitors.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228600" y="14538960"/>
            <a:ext cx="141732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7A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28600" y="14538960"/>
            <a:ext cx="14173200" cy="54864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14612112"/>
            <a:ext cx="1389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11480" y="15224760"/>
            <a:ext cx="1380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small molecules be identified that bind NOD2 with differential affinity between wild-type and R702W mutant, enabling mutation-specific therapeutic targeting?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228600" y="16824960"/>
            <a:ext cx="14173200" cy="9601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7A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28600" y="16824960"/>
            <a:ext cx="14173200" cy="54864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22" name="Text 19"/>
          <p:cNvSpPr/>
          <p:nvPr/>
        </p:nvSpPr>
        <p:spPr>
          <a:xfrm>
            <a:off x="365760" y="16898112"/>
            <a:ext cx="1389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 and Methods</a:t>
            </a:r>
            <a:endParaRPr lang="en-US" sz="2400" dirty="0"/>
          </a:p>
        </p:txBody>
      </p:sp>
      <p:pic>
        <p:nvPicPr>
          <p:cNvPr id="23" name="Image 1" descr="charts/pipeline_p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556480"/>
            <a:ext cx="13716000" cy="2560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11480" y="20299680"/>
            <a:ext cx="13807440" cy="5943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Screening: 9,566 compounds (2,152 FDA drugs + 7,414 natural products) docked against AlphaFold2 NOD2 structure using GNINA deep learning scoring.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Learning: NOD2-Scout XGBoost classifier trained on 2048-bit Morgan fingerprints with scaffold-split 5-fold cross-validation.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ADMET Filtering: Drug-likeness and toxicity screening using ADMETlab 2.0.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Molecular Dynamics: 520+ ns total simulation time in GROMACS. Apo simulations compared wild-type vs R702W conformational dynamics.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Energy Perturbation: pmx workflow with 20 lambda windows and 5 ns equilibration per window to calculate binding free energy differences (DDG).</a:t>
            </a:r>
            <a:endParaRPr lang="en-US" sz="2000" dirty="0"/>
          </a:p>
        </p:txBody>
      </p:sp>
      <p:sp>
        <p:nvSpPr>
          <p:cNvPr id="25" name="Shape 21"/>
          <p:cNvSpPr/>
          <p:nvPr/>
        </p:nvSpPr>
        <p:spPr>
          <a:xfrm>
            <a:off x="228600" y="26700480"/>
            <a:ext cx="14173200" cy="5577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7A7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228600" y="26700480"/>
            <a:ext cx="14173200" cy="54864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27" name="Text 23"/>
          <p:cNvSpPr/>
          <p:nvPr/>
        </p:nvSpPr>
        <p:spPr>
          <a:xfrm>
            <a:off x="365760" y="26773632"/>
            <a:ext cx="1389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NOD2 Structure</a:t>
            </a:r>
            <a:endParaRPr lang="en-US" sz="2400" dirty="0"/>
          </a:p>
        </p:txBody>
      </p:sp>
      <p:pic>
        <p:nvPicPr>
          <p:cNvPr id="28" name="Image 2" descr="figA1_transpar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340560"/>
            <a:ext cx="7315200" cy="45720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001000" y="27340560"/>
            <a:ext cx="5943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NOD2 Domains: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(gray): Signaling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NBD (blue): Nucleotide binding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HD2 (orange): R702W site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LRR (green): Ligand binding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R702W is 79.4 Angstrom from binding pocket (allosteric)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14630400" y="3474720"/>
            <a:ext cx="14173200" cy="2532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7A7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14630400" y="3474720"/>
            <a:ext cx="14173200" cy="54864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32" name="Text 27"/>
          <p:cNvSpPr/>
          <p:nvPr/>
        </p:nvSpPr>
        <p:spPr>
          <a:xfrm>
            <a:off x="14767560" y="3547872"/>
            <a:ext cx="1389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2400" dirty="0"/>
          </a:p>
        </p:txBody>
      </p:sp>
      <p:sp>
        <p:nvSpPr>
          <p:cNvPr id="33" name="Text 28"/>
          <p:cNvSpPr/>
          <p:nvPr/>
        </p:nvSpPr>
        <p:spPr>
          <a:xfrm>
            <a:off x="14813280" y="4160520"/>
            <a:ext cx="1280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Validation</a:t>
            </a:r>
            <a:endParaRPr lang="en-US" sz="2200" dirty="0"/>
          </a:p>
        </p:txBody>
      </p:sp>
      <p:pic>
        <p:nvPicPr>
          <p:cNvPr id="34" name="Image 3" descr="charts/ml_pr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13280" y="4663440"/>
            <a:ext cx="13716000" cy="548640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4813280" y="10241280"/>
            <a:ext cx="1380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NOD2-Scout achieved AUC 0.85-0.93 across 5-fold scaffold-split cross-validation (mean 0.89). Shuffled label controls (AUC ~0.50) confirmed genuine learning.</a:t>
            </a:r>
            <a:endParaRPr lang="en-US" sz="1800" dirty="0"/>
          </a:p>
        </p:txBody>
      </p:sp>
      <p:sp>
        <p:nvSpPr>
          <p:cNvPr id="36" name="Text 30"/>
          <p:cNvSpPr/>
          <p:nvPr/>
        </p:nvSpPr>
        <p:spPr>
          <a:xfrm>
            <a:off x="14813280" y="11338560"/>
            <a:ext cx="1280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Molecular Dynamics Analysis</a:t>
            </a:r>
            <a:endParaRPr lang="en-US" sz="2200" dirty="0"/>
          </a:p>
        </p:txBody>
      </p:sp>
      <p:pic>
        <p:nvPicPr>
          <p:cNvPr id="37" name="Image 4" descr="charts/md_pr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13280" y="11887200"/>
            <a:ext cx="13716000" cy="457200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4813280" y="16550640"/>
            <a:ext cx="1380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R702W mutation RIGIDIFIES the protein: reduced RMSD (3.27 vs 4.05 Angstrom) and eliminated conformational heterogeneity (0% vs 12.6% frames &gt;5 Angstrom).</a:t>
            </a:r>
            <a:endParaRPr lang="en-US" sz="1800" dirty="0"/>
          </a:p>
        </p:txBody>
      </p:sp>
      <p:sp>
        <p:nvSpPr>
          <p:cNvPr id="39" name="Text 32"/>
          <p:cNvSpPr/>
          <p:nvPr/>
        </p:nvSpPr>
        <p:spPr>
          <a:xfrm>
            <a:off x="14813280" y="17647920"/>
            <a:ext cx="1280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Compounds Identified</a:t>
            </a:r>
            <a:endParaRPr lang="en-US" sz="2200" dirty="0"/>
          </a:p>
        </p:txBody>
      </p:sp>
      <p:pic>
        <p:nvPicPr>
          <p:cNvPr id="40" name="Image 5" descr="febuxostat_transpar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87600" y="18196560"/>
            <a:ext cx="5943600" cy="3657600"/>
          </a:xfrm>
          <a:prstGeom prst="rect">
            <a:avLst/>
          </a:prstGeom>
        </p:spPr>
      </p:pic>
      <p:pic>
        <p:nvPicPr>
          <p:cNvPr id="41" name="Image 6" descr="bufadienolide_transpare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88400" y="18196560"/>
            <a:ext cx="6400800" cy="365760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15087600" y="218541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Febuxostat (FDA Drug)</a:t>
            </a:r>
            <a:endParaRPr lang="en-US" sz="1600" dirty="0"/>
          </a:p>
        </p:txBody>
      </p:sp>
      <p:sp>
        <p:nvSpPr>
          <p:cNvPr id="43" name="Text 34"/>
          <p:cNvSpPr/>
          <p:nvPr/>
        </p:nvSpPr>
        <p:spPr>
          <a:xfrm>
            <a:off x="21488400" y="21854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 (Natural Product)</a:t>
            </a:r>
            <a:endParaRPr lang="en-US" sz="1600" dirty="0"/>
          </a:p>
        </p:txBody>
      </p:sp>
      <p:sp>
        <p:nvSpPr>
          <p:cNvPr id="44" name="Text 35"/>
          <p:cNvSpPr/>
          <p:nvPr/>
        </p:nvSpPr>
        <p:spPr>
          <a:xfrm>
            <a:off x="14813280" y="22494240"/>
            <a:ext cx="1280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Energy Perturbation Results</a:t>
            </a:r>
            <a:endParaRPr lang="en-US" sz="2200" dirty="0"/>
          </a:p>
        </p:txBody>
      </p:sp>
      <p:pic>
        <p:nvPicPr>
          <p:cNvPr id="45" name="Image 7" descr="charts/fep_pro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13280" y="23042880"/>
            <a:ext cx="13716000" cy="5486400"/>
          </a:xfrm>
          <a:prstGeom prst="rect">
            <a:avLst/>
          </a:prstGeom>
        </p:spPr>
      </p:pic>
      <p:sp>
        <p:nvSpPr>
          <p:cNvPr id="46" name="Shape 36"/>
          <p:cNvSpPr/>
          <p:nvPr/>
        </p:nvSpPr>
        <p:spPr>
          <a:xfrm>
            <a:off x="29032200" y="3474720"/>
            <a:ext cx="14173200" cy="1143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7A7"/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29032200" y="3474720"/>
            <a:ext cx="14173200" cy="54864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48" name="Text 38"/>
          <p:cNvSpPr/>
          <p:nvPr/>
        </p:nvSpPr>
        <p:spPr>
          <a:xfrm>
            <a:off x="29169360" y="3547872"/>
            <a:ext cx="1389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2400" dirty="0"/>
          </a:p>
        </p:txBody>
      </p:sp>
      <p:sp>
        <p:nvSpPr>
          <p:cNvPr id="49" name="Text 39"/>
          <p:cNvSpPr/>
          <p:nvPr/>
        </p:nvSpPr>
        <p:spPr>
          <a:xfrm>
            <a:off x="29215080" y="4160520"/>
            <a:ext cx="13807440" cy="10515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study presents the first computational pipeline for identifying mutation-sensitive NOD2 modulators.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R702W RIGIDIFIES the protein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RMSD (3.27 vs 4.05 Angstrom) and eliminated heterogeneity (0% vs 12.6%) indicate impaired conformational flexibility.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Febuxostat is MUTATION-SENSITIVE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 = +2.34 kcal/mol (p&lt;0.001) corresponds to 50-fold weaker binding in R702W. Febuxostat-based therapies would be less effective in variant carriers.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Bufadienolide is MUTATION-RESISTANT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 = -0.44 kcal/mol (n.s.) indicates equivalent binding regardless of genotype. This is the first reported NOD2-Bufadienolide interaction.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Allosteric mechanism confirmed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79.4 Angstrom distance proves mutation affects binding through long-range conformational changes, not direct interference.</a:t>
            </a:r>
            <a:endParaRPr lang="en-US" sz="2000" dirty="0"/>
          </a:p>
        </p:txBody>
      </p:sp>
      <p:sp>
        <p:nvSpPr>
          <p:cNvPr id="50" name="Shape 40"/>
          <p:cNvSpPr/>
          <p:nvPr/>
        </p:nvSpPr>
        <p:spPr>
          <a:xfrm>
            <a:off x="29032200" y="15179040"/>
            <a:ext cx="1417320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7A7"/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29032200" y="15179040"/>
            <a:ext cx="14173200" cy="54864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52" name="Text 42"/>
          <p:cNvSpPr/>
          <p:nvPr/>
        </p:nvSpPr>
        <p:spPr>
          <a:xfrm>
            <a:off x="29169360" y="15252192"/>
            <a:ext cx="1389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2400" dirty="0"/>
          </a:p>
        </p:txBody>
      </p:sp>
      <p:sp>
        <p:nvSpPr>
          <p:cNvPr id="53" name="Text 43"/>
          <p:cNvSpPr/>
          <p:nvPr/>
        </p:nvSpPr>
        <p:spPr>
          <a:xfrm>
            <a:off x="29215080" y="15864840"/>
            <a:ext cx="13807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validation using surface plasmon resonance (SPR), isothermal titration calorimetry (ITC), and hydrogen-deuterium exchange mass spectrometry (HDX-MS).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to other Crohn's-associated variants (G908R, 1007fs).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Structure-activity relationship studies on Bufadienolide analogs.</a:t>
            </a:r>
            <a:endParaRPr lang="en-US" sz="2000" dirty="0"/>
          </a:p>
        </p:txBody>
      </p:sp>
      <p:sp>
        <p:nvSpPr>
          <p:cNvPr id="54" name="Shape 44"/>
          <p:cNvSpPr/>
          <p:nvPr/>
        </p:nvSpPr>
        <p:spPr>
          <a:xfrm>
            <a:off x="29032200" y="19568160"/>
            <a:ext cx="1417320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7A7"/>
            </a:solidFill>
            <a:prstDash val="solid"/>
          </a:ln>
        </p:spPr>
      </p:sp>
      <p:sp>
        <p:nvSpPr>
          <p:cNvPr id="55" name="Shape 45"/>
          <p:cNvSpPr/>
          <p:nvPr/>
        </p:nvSpPr>
        <p:spPr>
          <a:xfrm>
            <a:off x="29032200" y="19568160"/>
            <a:ext cx="14173200" cy="54864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56" name="Text 46"/>
          <p:cNvSpPr/>
          <p:nvPr/>
        </p:nvSpPr>
        <p:spPr>
          <a:xfrm>
            <a:off x="29169360" y="19641312"/>
            <a:ext cx="1389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the Researcher</a:t>
            </a:r>
            <a:endParaRPr lang="en-US" sz="2400" dirty="0"/>
          </a:p>
        </p:txBody>
      </p:sp>
      <p:sp>
        <p:nvSpPr>
          <p:cNvPr id="57" name="Text 47"/>
          <p:cNvSpPr/>
          <p:nvPr/>
        </p:nvSpPr>
        <p:spPr>
          <a:xfrm>
            <a:off x="29215080" y="20253960"/>
            <a:ext cx="13807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am a high school junior with a personal connection to this research: I was diagnosed with Crohn's disease and carry the R702W mutation. This project combines my interests in computational biology, machine learning, and drug discovery to address a condition that affects my daily life.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computational work was performed independently using a personal RTX 4060 Ti GPU and Google Colab Pro.</a:t>
            </a:r>
            <a:endParaRPr lang="en-US" sz="1900" dirty="0"/>
          </a:p>
        </p:txBody>
      </p:sp>
      <p:sp>
        <p:nvSpPr>
          <p:cNvPr id="58" name="Shape 48"/>
          <p:cNvSpPr/>
          <p:nvPr/>
        </p:nvSpPr>
        <p:spPr>
          <a:xfrm>
            <a:off x="29032200" y="23957280"/>
            <a:ext cx="14173200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7A7"/>
            </a:solidFill>
            <a:prstDash val="solid"/>
          </a:ln>
        </p:spPr>
      </p:sp>
      <p:sp>
        <p:nvSpPr>
          <p:cNvPr id="59" name="Shape 49"/>
          <p:cNvSpPr/>
          <p:nvPr/>
        </p:nvSpPr>
        <p:spPr>
          <a:xfrm>
            <a:off x="29032200" y="23957280"/>
            <a:ext cx="14173200" cy="54864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60" name="Text 50"/>
          <p:cNvSpPr/>
          <p:nvPr/>
        </p:nvSpPr>
        <p:spPr>
          <a:xfrm>
            <a:off x="29169360" y="24030432"/>
            <a:ext cx="1389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References</a:t>
            </a:r>
            <a:endParaRPr lang="en-US" sz="2400" dirty="0"/>
          </a:p>
        </p:txBody>
      </p:sp>
      <p:sp>
        <p:nvSpPr>
          <p:cNvPr id="61" name="Text 51"/>
          <p:cNvSpPr/>
          <p:nvPr/>
        </p:nvSpPr>
        <p:spPr>
          <a:xfrm>
            <a:off x="29215080" y="24643080"/>
            <a:ext cx="13807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Hugot JP et al. (2001) Nature 411:599-603.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Jumper J et al. (2021) Nature 596:583-589.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McNutt AT et al. (2021) J Cheminform 13:43.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Gapsys V et al. (2022) Nat Protoc 17:1114-1141.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Abraham MJ et al. (2015) SoftwareX 1-2:19-25.</a:t>
            </a:r>
            <a:endParaRPr lang="en-US" sz="1700" dirty="0"/>
          </a:p>
        </p:txBody>
      </p:sp>
      <p:pic>
        <p:nvPicPr>
          <p:cNvPr id="62" name="Image 8" descr="figE4_transparen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489400" y="28986480"/>
            <a:ext cx="4114800" cy="3200400"/>
          </a:xfrm>
          <a:prstGeom prst="rect">
            <a:avLst/>
          </a:prstGeom>
        </p:spPr>
      </p:pic>
      <p:pic>
        <p:nvPicPr>
          <p:cNvPr id="63" name="Image 9" descr="figB1_transparen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878520" y="28986480"/>
            <a:ext cx="4114800" cy="3200400"/>
          </a:xfrm>
          <a:prstGeom prst="rect">
            <a:avLst/>
          </a:prstGeom>
        </p:spPr>
      </p:pic>
      <p:pic>
        <p:nvPicPr>
          <p:cNvPr id="64" name="Image 10" descr="figE3_transparen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267640" y="2898648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2026-01-23T06:33:43Z</dcterms:created>
  <dcterms:modified xsi:type="dcterms:W3CDTF">2026-01-23T06:33:43Z</dcterms:modified>
</cp:coreProperties>
</file>