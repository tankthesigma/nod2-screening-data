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4"/>
  </p:notesMasterIdLst>
  <p:sldIdLst>
    <p:sldId id="256" r:id="rId2"/>
    <p:sldId id="257" r:id="rId3"/>
  </p:sldIdLst>
  <p:sldSz cx="43891200" cy="51206400"/>
  <p:notesSz cx="32918400" cy="4389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5ABF0-792C-4425-A774-2AF930C8DEF0}" v="56" dt="2026-01-26T19:35:04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1" autoAdjust="0"/>
  </p:normalViewPr>
  <p:slideViewPr>
    <p:cSldViewPr snapToGrid="0">
      <p:cViewPr>
        <p:scale>
          <a:sx n="37" d="100"/>
          <a:sy n="37" d="100"/>
        </p:scale>
        <p:origin x="48" y="-14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665514" y="1143000"/>
            <a:ext cx="3527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65514" y="1143000"/>
            <a:ext cx="3527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fda84c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6613" y="1143000"/>
            <a:ext cx="2644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7" name="Google Shape;117;g3bdfda84c0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bdfda84c0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3891200" cy="5974200"/>
          </a:xfrm>
          <a:prstGeom prst="rect">
            <a:avLst/>
          </a:prstGeom>
          <a:solidFill>
            <a:srgbClr val="0F2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974080"/>
            <a:ext cx="43891200" cy="2133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68960"/>
            <a:ext cx="42976800" cy="28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lang="en-US" sz="8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 Learning Guided Discovery and FEP Validation of</a:t>
            </a:r>
            <a:endParaRPr sz="8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lang="en-US" sz="8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NOD2 Binders for the R702W Crohn's Variant</a:t>
            </a:r>
            <a:endParaRPr sz="8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698256"/>
            <a:ext cx="42976800" cy="9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C107"/>
                </a:solidFill>
                <a:latin typeface="Arial"/>
                <a:ea typeface="Arial"/>
                <a:cs typeface="Arial"/>
                <a:sym typeface="Arial"/>
              </a:rPr>
              <a:t>Tanmay Vasudeva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5282367"/>
            <a:ext cx="42976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2800"/>
              <a:buFont typeface="Arial"/>
              <a:buNone/>
            </a:pPr>
            <a:r>
              <a:rPr lang="en-US" sz="2500" b="0" i="0" u="none" strike="noStrike" cap="none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rPr>
              <a:t>Texas Virtual Academy at Hallsville  |  Fort Worth Regional Science Fair 2026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38900" y="6941302"/>
            <a:ext cx="13716000" cy="73731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50" y="6827526"/>
            <a:ext cx="13716000" cy="7354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65760" y="6827520"/>
            <a:ext cx="13716000" cy="1564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65760" y="6827520"/>
            <a:ext cx="13716000" cy="1564800"/>
          </a:xfrm>
          <a:prstGeom prst="rect">
            <a:avLst/>
          </a:prstGeom>
          <a:solidFill>
            <a:srgbClr val="173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5000" b="1" dirty="0">
                <a:solidFill>
                  <a:srgbClr val="FFFFFF"/>
                </a:solidFill>
              </a:rPr>
              <a:t>INTRODUCTION</a:t>
            </a:r>
            <a:endParaRPr sz="5000" b="1" dirty="0">
              <a:solidFill>
                <a:srgbClr val="FFFFFF"/>
              </a:solidFill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84100" y="9245651"/>
            <a:ext cx="13624500" cy="44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 dirty="0">
                <a:solidFill>
                  <a:schemeClr val="dk1"/>
                </a:solidFill>
              </a:rPr>
              <a:t>Crohn's disease</a:t>
            </a:r>
            <a:r>
              <a:rPr lang="en-US" sz="2900" dirty="0">
                <a:solidFill>
                  <a:schemeClr val="dk1"/>
                </a:solidFill>
              </a:rPr>
              <a:t> affects over 3 million Americans with chronic intestinal inflammation. The </a:t>
            </a:r>
            <a:r>
              <a:rPr lang="en-US" sz="2900" b="1" dirty="0">
                <a:solidFill>
                  <a:schemeClr val="dk1"/>
                </a:solidFill>
              </a:rPr>
              <a:t>NOD2 protein</a:t>
            </a:r>
            <a:r>
              <a:rPr lang="en-US" sz="2900" dirty="0">
                <a:solidFill>
                  <a:schemeClr val="dk1"/>
                </a:solidFill>
              </a:rPr>
              <a:t> detects bacterial cell wall fragments and triggers </a:t>
            </a:r>
            <a:r>
              <a:rPr lang="en-US" sz="2900" b="1" dirty="0">
                <a:solidFill>
                  <a:schemeClr val="dk1"/>
                </a:solidFill>
              </a:rPr>
              <a:t>NF-</a:t>
            </a:r>
            <a:r>
              <a:rPr lang="en-US" sz="2900" b="1" dirty="0" err="1">
                <a:solidFill>
                  <a:schemeClr val="dk1"/>
                </a:solidFill>
              </a:rPr>
              <a:t>κB</a:t>
            </a:r>
            <a:r>
              <a:rPr lang="en-US" sz="2900" b="1" dirty="0">
                <a:solidFill>
                  <a:schemeClr val="dk1"/>
                </a:solidFill>
              </a:rPr>
              <a:t> signaling</a:t>
            </a:r>
            <a:r>
              <a:rPr lang="en-US" sz="2900" dirty="0">
                <a:solidFill>
                  <a:schemeClr val="dk1"/>
                </a:solidFill>
              </a:rPr>
              <a:t> to mount a protective immune response.</a:t>
            </a:r>
            <a:endParaRPr sz="29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dirty="0">
                <a:solidFill>
                  <a:schemeClr val="dk1"/>
                </a:solidFill>
              </a:rPr>
              <a:t>The </a:t>
            </a:r>
            <a:r>
              <a:rPr lang="en-US" sz="2900" b="1" dirty="0">
                <a:solidFill>
                  <a:schemeClr val="dk1"/>
                </a:solidFill>
              </a:rPr>
              <a:t>R702W mutation</a:t>
            </a:r>
            <a:r>
              <a:rPr lang="en-US" sz="2900" dirty="0">
                <a:solidFill>
                  <a:schemeClr val="dk1"/>
                </a:solidFill>
              </a:rPr>
              <a:t> is carried by ~15% of Crohn's patients and increases disease risk 3-fold by </a:t>
            </a:r>
            <a:r>
              <a:rPr lang="en-US" sz="2900" b="1" dirty="0">
                <a:solidFill>
                  <a:schemeClr val="dk1"/>
                </a:solidFill>
              </a:rPr>
              <a:t>impairing bacterial detection</a:t>
            </a:r>
            <a:r>
              <a:rPr lang="en-US" sz="2900" dirty="0">
                <a:solidFill>
                  <a:schemeClr val="dk1"/>
                </a:solidFill>
              </a:rPr>
              <a:t>. Most drug discovery ignores genetic variants, so compounds optimized for wild-type may fail in mutation carriers.</a:t>
            </a:r>
            <a:endParaRPr sz="29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dirty="0">
                <a:solidFill>
                  <a:schemeClr val="dk1"/>
                </a:solidFill>
              </a:rPr>
              <a:t>This project uses </a:t>
            </a:r>
            <a:r>
              <a:rPr lang="en-US" sz="2900" b="1" dirty="0">
                <a:solidFill>
                  <a:schemeClr val="dk1"/>
                </a:solidFill>
              </a:rPr>
              <a:t>computational drug discovery</a:t>
            </a:r>
            <a:r>
              <a:rPr lang="en-US" sz="2900" dirty="0">
                <a:solidFill>
                  <a:schemeClr val="dk1"/>
                </a:solidFill>
              </a:rPr>
              <a:t> to identify compounds that bind </a:t>
            </a:r>
            <a:r>
              <a:rPr lang="en-US" sz="2900" b="1" dirty="0">
                <a:solidFill>
                  <a:schemeClr val="dk1"/>
                </a:solidFill>
              </a:rPr>
              <a:t>BOTH wild-type and R702W NOD2</a:t>
            </a:r>
            <a:r>
              <a:rPr lang="en-US" sz="2900" dirty="0">
                <a:solidFill>
                  <a:schemeClr val="dk1"/>
                </a:solidFill>
              </a:rPr>
              <a:t>, enabling mutation-agnostic therapeutics.</a:t>
            </a:r>
            <a:endParaRPr sz="29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900"/>
              <a:buFont typeface="Arial"/>
              <a:buNone/>
            </a:pPr>
            <a:endParaRPr sz="2900" b="1" dirty="0">
              <a:solidFill>
                <a:schemeClr val="dk1"/>
              </a:solidFill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38912" y="14565385"/>
            <a:ext cx="13716000" cy="31296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65760" y="14451592"/>
            <a:ext cx="13716000" cy="3129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65760" y="14451592"/>
            <a:ext cx="13716000" cy="1564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65760" y="14451592"/>
            <a:ext cx="13716000" cy="1564800"/>
          </a:xfrm>
          <a:prstGeom prst="rect">
            <a:avLst/>
          </a:prstGeom>
          <a:solidFill>
            <a:srgbClr val="1F3B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16300713"/>
            <a:ext cx="13167300" cy="9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200"/>
              <a:buFont typeface="Arial"/>
              <a:buNone/>
            </a:pPr>
            <a:r>
              <a:rPr lang="en-US" sz="2800" b="1" i="1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Can computational methods identify compounds that bind NOD2 with PRESERVED affinity in both wild-type and R702W variants?</a:t>
            </a:r>
            <a:endParaRPr sz="2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36325" y="18044252"/>
            <a:ext cx="13716000" cy="57285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63175" y="17930472"/>
            <a:ext cx="13716000" cy="5728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63185" y="17930465"/>
            <a:ext cx="13716000" cy="1564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63185" y="17930465"/>
            <a:ext cx="13716000" cy="1564800"/>
          </a:xfrm>
          <a:prstGeom prst="rect">
            <a:avLst/>
          </a:prstGeom>
          <a:solidFill>
            <a:srgbClr val="2744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METHODS: SCREENING PIPELINE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105" y="22496650"/>
            <a:ext cx="131673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lang="en-US" sz="2400" b="1" i="0" u="none" strike="noStrike" cap="none">
                <a:solidFill>
                  <a:srgbClr val="212121"/>
                </a:solidFill>
              </a:rPr>
              <a:t>9,566 compounds</a:t>
            </a:r>
            <a:r>
              <a:rPr lang="en-US" sz="2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from COCONUT and </a:t>
            </a:r>
            <a:r>
              <a:rPr lang="en-US" sz="2400">
                <a:solidFill>
                  <a:srgbClr val="212121"/>
                </a:solidFill>
              </a:rPr>
              <a:t>e-Drug3D </a:t>
            </a:r>
            <a:r>
              <a:rPr lang="en-US" sz="2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libraries screened through GNINA docking, NOD2-Scout ML classifier, GROMACS MD, and pmx FEP. Pipeline achieved </a:t>
            </a:r>
            <a:r>
              <a:rPr lang="en-US" sz="2400" b="1" i="0" u="none" strike="noStrike" cap="none">
                <a:solidFill>
                  <a:srgbClr val="212121"/>
                </a:solidFill>
              </a:rPr>
              <a:t>99.98%</a:t>
            </a:r>
            <a:r>
              <a:rPr lang="en-US" sz="2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reduction to 2 candidates.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55425" y="24018300"/>
            <a:ext cx="13716000" cy="42363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82275" y="23904502"/>
            <a:ext cx="13716000" cy="4236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82285" y="23904508"/>
            <a:ext cx="13716000" cy="1564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82285" y="23904508"/>
            <a:ext cx="13716000" cy="1564800"/>
          </a:xfrm>
          <a:prstGeom prst="rect">
            <a:avLst/>
          </a:prstGeom>
          <a:solidFill>
            <a:srgbClr val="2744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FEP METHODOLOGY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0105" y="24829065"/>
            <a:ext cx="13167300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500">
                <a:solidFill>
                  <a:srgbClr val="212121"/>
                </a:solidFill>
              </a:rPr>
              <a:t>Free Energy Perturbation (FEP) is the </a:t>
            </a:r>
            <a:r>
              <a:rPr lang="en-US" sz="2500" b="1">
                <a:solidFill>
                  <a:srgbClr val="212121"/>
                </a:solidFill>
              </a:rPr>
              <a:t>gold standard</a:t>
            </a:r>
            <a:r>
              <a:rPr lang="en-US" sz="2500">
                <a:solidFill>
                  <a:srgbClr val="212121"/>
                </a:solidFill>
              </a:rPr>
              <a:t> for computing binding free energies. The method uses ligand decoupling, gradually turning off ligand-protein interactions in both WT and R702W systems, then comparing results. Each system uses </a:t>
            </a:r>
            <a:r>
              <a:rPr lang="en-US" sz="2500" b="1">
                <a:solidFill>
                  <a:srgbClr val="212121"/>
                </a:solidFill>
              </a:rPr>
              <a:t>20 lambda windows</a:t>
            </a:r>
            <a:r>
              <a:rPr lang="en-US" sz="2500">
                <a:solidFill>
                  <a:srgbClr val="212121"/>
                </a:solidFill>
              </a:rPr>
              <a:t> with</a:t>
            </a:r>
            <a:r>
              <a:rPr lang="en-US" sz="2500" b="1">
                <a:solidFill>
                  <a:srgbClr val="212121"/>
                </a:solidFill>
              </a:rPr>
              <a:t> 1 ns</a:t>
            </a:r>
            <a:r>
              <a:rPr lang="en-US" sz="2500">
                <a:solidFill>
                  <a:srgbClr val="212121"/>
                </a:solidFill>
              </a:rPr>
              <a:t> sampling per window. With 3 legs (WT complex, R702W complex, solvent) this totals </a:t>
            </a:r>
            <a:r>
              <a:rPr lang="en-US" sz="2500" b="1">
                <a:solidFill>
                  <a:srgbClr val="212121"/>
                </a:solidFill>
              </a:rPr>
              <a:t>60 ns per compound</a:t>
            </a:r>
            <a:r>
              <a:rPr lang="en-US" sz="2500">
                <a:solidFill>
                  <a:srgbClr val="212121"/>
                </a:solidFill>
              </a:rPr>
              <a:t>. Boresch restraints (7.588 kcal/mol correction) prevent ligand drift. The MBAR estimator calculates ΔΔG; positive values indicate weaker mutant binding.</a:t>
            </a:r>
            <a:endParaRPr sz="2500">
              <a:solidFill>
                <a:srgbClr val="212121"/>
              </a:solidFill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61934" y="41511843"/>
            <a:ext cx="13716000" cy="42933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288775" y="41472401"/>
            <a:ext cx="13716000" cy="959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288782" y="41452623"/>
            <a:ext cx="13716000" cy="8145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288782" y="41452623"/>
            <a:ext cx="13716000" cy="814500"/>
          </a:xfrm>
          <a:prstGeom prst="rect">
            <a:avLst/>
          </a:prstGeom>
          <a:solidFill>
            <a:srgbClr val="2F4E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NOD2 STRUCTURE &amp; MUTATION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64326" y="42459191"/>
            <a:ext cx="13167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rPr lang="en-US" sz="2500" b="1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R702W is 79.4 Å from the binding pocket, indicating an ALLOSTERIC mechanism.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3" descr="figA1_transparent.png"/>
          <p:cNvPicPr preferRelativeResize="0"/>
          <p:nvPr/>
        </p:nvPicPr>
        <p:blipFill rotWithShape="1">
          <a:blip r:embed="rId3">
            <a:alphaModFix/>
          </a:blip>
          <a:srcRect l="-1339" t="-4830" r="1339" b="4830"/>
          <a:stretch/>
        </p:blipFill>
        <p:spPr>
          <a:xfrm>
            <a:off x="-956225" y="41452625"/>
            <a:ext cx="9671202" cy="765531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 rot="10800000" flipH="1">
            <a:off x="563096" y="48037950"/>
            <a:ext cx="13167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703552" y="16471392"/>
            <a:ext cx="14173200" cy="106680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4630400" y="16357600"/>
            <a:ext cx="14173200" cy="10668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4630400" y="16357600"/>
            <a:ext cx="14173200" cy="1564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4630400" y="16357600"/>
            <a:ext cx="14173200" cy="1564800"/>
          </a:xfrm>
          <a:prstGeom prst="rect">
            <a:avLst/>
          </a:prstGeom>
          <a:solidFill>
            <a:srgbClr val="476A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FEP RESULTS: WT vs R702W BINDING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4919608" y="26501106"/>
            <a:ext cx="136245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Arial"/>
              <a:buNone/>
            </a:pPr>
            <a:r>
              <a:rPr lang="en-US" sz="2100" b="0" i="0" u="none" strike="noStrike" cap="non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Circle = Wild-Type | Square = R702W | Distance between points = binding difference (ΔΔG)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4703552" y="27423872"/>
            <a:ext cx="14173200" cy="75384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4630400" y="27310080"/>
            <a:ext cx="14173200" cy="7538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4630400" y="27310080"/>
            <a:ext cx="14173200" cy="1564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4630400" y="27310080"/>
            <a:ext cx="14173200" cy="1564800"/>
          </a:xfrm>
          <a:prstGeom prst="rect">
            <a:avLst/>
          </a:prstGeom>
          <a:solidFill>
            <a:srgbClr val="4F73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MUTATION EFFECT: ΔΔG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4904720" y="34564320"/>
            <a:ext cx="1362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Arial"/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Gray zone (±0.6 kcal/mol) = noise threshold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4703552" y="35247072"/>
            <a:ext cx="14173200" cy="155040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4630400" y="35133280"/>
            <a:ext cx="14173200" cy="15504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4630400" y="35133280"/>
            <a:ext cx="14173200" cy="1564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4630400" y="35133280"/>
            <a:ext cx="14173200" cy="1564800"/>
          </a:xfrm>
          <a:prstGeom prst="rect">
            <a:avLst/>
          </a:prstGeom>
          <a:solidFill>
            <a:srgbClr val="5F86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R702W LOSES BINDING: RIGIDIFICATION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4904720" y="36982400"/>
            <a:ext cx="136245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r>
              <a:rPr lang="en-US" sz="25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The R702W mutation causes NOD2 to become </a:t>
            </a:r>
            <a:r>
              <a:rPr lang="en-US" sz="2500" b="1" i="0" u="none" strike="noStrike" cap="none">
                <a:solidFill>
                  <a:srgbClr val="212121"/>
                </a:solidFill>
              </a:rPr>
              <a:t>RIGID</a:t>
            </a:r>
            <a:r>
              <a:rPr lang="en-US" sz="25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losing the conformational flexibility required for proper function. This occurs </a:t>
            </a:r>
            <a:r>
              <a:rPr lang="en-US" sz="2500" b="1" i="0" u="none" strike="noStrike" cap="none">
                <a:solidFill>
                  <a:srgbClr val="212121"/>
                </a:solidFill>
              </a:rPr>
              <a:t>79.4 Å </a:t>
            </a:r>
            <a:r>
              <a:rPr lang="en-US" sz="25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from the binding site (allosteric effect).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 descr="charts/free_energy_landscap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04720" y="38404800"/>
            <a:ext cx="13624559" cy="59435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14904720" y="47792640"/>
            <a:ext cx="13624500" cy="17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500">
              <a:solidFill>
                <a:srgbClr val="212121"/>
              </a:solidFill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9425400" y="19453096"/>
            <a:ext cx="14173200" cy="75459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9352250" y="19339307"/>
            <a:ext cx="14173200" cy="7545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9352240" y="19339301"/>
            <a:ext cx="14173200" cy="1564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9352240" y="19339301"/>
            <a:ext cx="14173200" cy="1564800"/>
          </a:xfrm>
          <a:prstGeom prst="rect">
            <a:avLst/>
          </a:prstGeom>
          <a:solidFill>
            <a:srgbClr val="6790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COMPOUNDS IDENTIFIED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3" descr="febuxostat_transparent.png"/>
          <p:cNvPicPr preferRelativeResize="0"/>
          <p:nvPr/>
        </p:nvPicPr>
        <p:blipFill rotWithShape="1">
          <a:blip r:embed="rId5">
            <a:alphaModFix/>
          </a:blip>
          <a:srcRect t="7960" b="-7959"/>
          <a:stretch/>
        </p:blipFill>
        <p:spPr>
          <a:xfrm>
            <a:off x="29308887" y="20361775"/>
            <a:ext cx="6716202" cy="60784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29425410" y="24389416"/>
            <a:ext cx="59436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Arial"/>
              <a:buNone/>
            </a:pPr>
            <a:r>
              <a:rPr lang="en-US" sz="2300" b="1" i="0" u="none" strike="noStrike" cap="non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FEBUXOSTAT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Arial"/>
              <a:buNone/>
            </a:pPr>
            <a:r>
              <a:rPr lang="en-US" sz="2300" b="1" i="0" u="none" strike="noStrike" cap="non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FDA-approved (gout)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Arial"/>
              <a:buNone/>
            </a:pPr>
            <a:r>
              <a:rPr lang="en-US" sz="2300" b="1" i="0" u="none" strike="noStrike" cap="non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Binding </a:t>
            </a:r>
            <a:r>
              <a:rPr lang="en-US" sz="2300" i="0" u="none" strike="noStrike" cap="none">
                <a:solidFill>
                  <a:srgbClr val="C62828"/>
                </a:solidFill>
              </a:rPr>
              <a:t>LOST </a:t>
            </a:r>
            <a:r>
              <a:rPr lang="en-US" sz="2300" b="1" i="0" u="none" strike="noStrike" cap="non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in R702W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3" descr="bufadienolide_transparen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457225" y="19770676"/>
            <a:ext cx="6419100" cy="58096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36932720" y="24389396"/>
            <a:ext cx="59436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lang="en-US" sz="23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BUFADIENOLIDE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lang="en-US" sz="23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Natural NF-</a:t>
            </a:r>
            <a:r>
              <a:rPr lang="en-US" sz="2300" b="1" i="0" u="none" strike="noStrike" cap="none" dirty="0" err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κB</a:t>
            </a:r>
            <a:r>
              <a:rPr lang="en-US" sz="23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 inhibitor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lang="en-US" sz="23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Binding PRESERVED!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9498542" y="27679909"/>
            <a:ext cx="14173200" cy="128016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9425390" y="27566117"/>
            <a:ext cx="14173200" cy="12801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9425390" y="27566117"/>
            <a:ext cx="14173200" cy="1564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9425390" y="27566117"/>
            <a:ext cx="14173200" cy="1564800"/>
          </a:xfrm>
          <a:prstGeom prst="rect">
            <a:avLst/>
          </a:prstGeom>
          <a:solidFill>
            <a:srgbClr val="6F99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9699700" y="29415241"/>
            <a:ext cx="13624500" cy="59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9571713" y="46142877"/>
            <a:ext cx="14173200" cy="44478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9498563" y="46029086"/>
            <a:ext cx="14173200" cy="4447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9498553" y="46029091"/>
            <a:ext cx="14173200" cy="15648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9498553" y="46029091"/>
            <a:ext cx="14173200" cy="1564800"/>
          </a:xfrm>
          <a:prstGeom prst="rect">
            <a:avLst/>
          </a:prstGeom>
          <a:solidFill>
            <a:srgbClr val="7FAC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sz="3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9772863" y="47878211"/>
            <a:ext cx="13624500" cy="23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Arial"/>
              <a:buNone/>
            </a:pPr>
            <a:r>
              <a:rPr lang="en-US" sz="1900" b="0" i="0" u="none" strike="noStrike" cap="non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These computational predictions require experimental validation through biophysical assays (SPR, ITC) and cellular functional assays. The AlphaFold2 structure may contain inaccuracies in flexible regions. Only R702W was tested; other Crohn's mutations (G908R, 1007fs) need investigation.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Arial"/>
              <a:buNone/>
            </a:pPr>
            <a:r>
              <a:rPr lang="en-US" sz="1900" b="0" i="0" u="none" strike="noStrike" cap="non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Future work will focus on experimental binding validation, testing in NOD2 reporter cell lines, and extending screening to additional disease-associated mutations.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31578925" y="29064506"/>
            <a:ext cx="1243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29673925" y="29330428"/>
            <a:ext cx="13716000" cy="108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 dirty="0">
                <a:solidFill>
                  <a:srgbClr val="212121"/>
                </a:solidFill>
              </a:rPr>
              <a:t>This study demonstrates that computational drug discovery can identify mutation-tolerant compounds for genetically heterogeneous diseases like Crohn's disease.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 dirty="0">
                <a:solidFill>
                  <a:srgbClr val="212121"/>
                </a:solidFill>
              </a:rPr>
              <a:t>MD simulations validated that both leads maintain stable binding (</a:t>
            </a:r>
            <a:r>
              <a:rPr lang="en-US" sz="2600" b="1" dirty="0">
                <a:solidFill>
                  <a:srgbClr val="212121"/>
                </a:solidFill>
              </a:rPr>
              <a:t>70-80% pocket occupancy)</a:t>
            </a:r>
            <a:r>
              <a:rPr lang="en-US" sz="2600" dirty="0">
                <a:solidFill>
                  <a:srgbClr val="212121"/>
                </a:solidFill>
              </a:rPr>
              <a:t> while the negative control correctly unbinds (0%), confirming assay reliability and specificity.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 dirty="0">
                <a:solidFill>
                  <a:srgbClr val="212121"/>
                </a:solidFill>
              </a:rPr>
              <a:t>FEP calculations revealed dramatically different mutation sensitivity: Febuxostat loses 50-fold binding affinity in </a:t>
            </a:r>
            <a:r>
              <a:rPr lang="en-US" sz="2600" b="1" dirty="0">
                <a:solidFill>
                  <a:srgbClr val="212121"/>
                </a:solidFill>
              </a:rPr>
              <a:t>R702W (ΔΔG = +2.34 kcal/mol, p &lt; 0.001),</a:t>
            </a:r>
            <a:r>
              <a:rPr lang="en-US" sz="2600" dirty="0">
                <a:solidFill>
                  <a:srgbClr val="212121"/>
                </a:solidFill>
              </a:rPr>
              <a:t> while Bufadienolide maintains equivalent binding </a:t>
            </a:r>
            <a:r>
              <a:rPr lang="en-US" sz="2600" b="1" dirty="0">
                <a:solidFill>
                  <a:srgbClr val="212121"/>
                </a:solidFill>
              </a:rPr>
              <a:t>(ΔΔG = -0.44 kcal/mol, not significant)</a:t>
            </a:r>
            <a:r>
              <a:rPr lang="en-US" sz="2600" dirty="0">
                <a:solidFill>
                  <a:srgbClr val="212121"/>
                </a:solidFill>
              </a:rPr>
              <a:t>, demonstrating </a:t>
            </a:r>
            <a:r>
              <a:rPr lang="en-US" sz="2600" b="1" dirty="0">
                <a:solidFill>
                  <a:srgbClr val="212121"/>
                </a:solidFill>
              </a:rPr>
              <a:t>mutation-agonistic </a:t>
            </a:r>
            <a:r>
              <a:rPr lang="en-US" sz="2600" dirty="0">
                <a:solidFill>
                  <a:srgbClr val="212121"/>
                </a:solidFill>
              </a:rPr>
              <a:t>behavior.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lang="en-US" sz="2600" dirty="0">
                <a:solidFill>
                  <a:srgbClr val="212121"/>
                </a:solidFill>
              </a:rPr>
              <a:t>The molecular mechanism was identified: R702W rigidifies NOD2 through an allosteric effect, eliminating the conformational flexibility required for certain drugs to bind.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212121"/>
                </a:solidFill>
              </a:rPr>
              <a:t>MUTATION-AGNOSTIC NOD2 therapeutics </a:t>
            </a:r>
            <a:r>
              <a:rPr lang="en-US" sz="2600" b="1" dirty="0">
                <a:solidFill>
                  <a:srgbClr val="212121"/>
                </a:solidFill>
              </a:rPr>
              <a:t>ARE ACHIEVABLE</a:t>
            </a:r>
            <a:r>
              <a:rPr lang="en-US" sz="2600" dirty="0">
                <a:solidFill>
                  <a:srgbClr val="212121"/>
                </a:solidFill>
              </a:rPr>
              <a:t> through careful computational screening.</a:t>
            </a:r>
            <a:endParaRPr sz="1600" dirty="0"/>
          </a:p>
        </p:txBody>
      </p:sp>
      <p:sp>
        <p:nvSpPr>
          <p:cNvPr id="85" name="Google Shape;85;p3"/>
          <p:cNvSpPr txBox="1"/>
          <p:nvPr/>
        </p:nvSpPr>
        <p:spPr>
          <a:xfrm>
            <a:off x="14831213" y="48105478"/>
            <a:ext cx="13917900" cy="28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Wild-type (WT):</a:t>
            </a:r>
            <a:r>
              <a:rPr lang="en-US" sz="2100" dirty="0">
                <a:solidFill>
                  <a:schemeClr val="dk1"/>
                </a:solidFill>
              </a:rPr>
              <a:t> Samples </a:t>
            </a:r>
            <a:r>
              <a:rPr lang="en-US" sz="2100" b="1" dirty="0">
                <a:solidFill>
                  <a:schemeClr val="dk1"/>
                </a:solidFill>
              </a:rPr>
              <a:t>3 distinct conformational basins</a:t>
            </a:r>
            <a:r>
              <a:rPr lang="en-US" sz="2100" dirty="0">
                <a:solidFill>
                  <a:schemeClr val="dk1"/>
                </a:solidFill>
              </a:rPr>
              <a:t> (higher flexibility; mean </a:t>
            </a:r>
            <a:r>
              <a:rPr lang="en-US" sz="2100" b="1" dirty="0">
                <a:solidFill>
                  <a:schemeClr val="dk1"/>
                </a:solidFill>
              </a:rPr>
              <a:t>RMSD ≈ 4.05 Å</a:t>
            </a:r>
            <a:r>
              <a:rPr lang="en-US" sz="2100" dirty="0">
                <a:solidFill>
                  <a:schemeClr val="dk1"/>
                </a:solidFill>
              </a:rPr>
              <a:t>)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R702W mutant:</a:t>
            </a:r>
            <a:r>
              <a:rPr lang="en-US" sz="2100" dirty="0">
                <a:solidFill>
                  <a:schemeClr val="dk1"/>
                </a:solidFill>
              </a:rPr>
              <a:t> Collapses into </a:t>
            </a:r>
            <a:r>
              <a:rPr lang="en-US" sz="2100" b="1" dirty="0">
                <a:solidFill>
                  <a:schemeClr val="dk1"/>
                </a:solidFill>
              </a:rPr>
              <a:t>1 dominant basin</a:t>
            </a:r>
            <a:r>
              <a:rPr lang="en-US" sz="2100" dirty="0">
                <a:solidFill>
                  <a:schemeClr val="dk1"/>
                </a:solidFill>
              </a:rPr>
              <a:t> (increased rigidity; mean </a:t>
            </a:r>
            <a:r>
              <a:rPr lang="en-US" sz="2100" b="1" dirty="0">
                <a:solidFill>
                  <a:schemeClr val="dk1"/>
                </a:solidFill>
              </a:rPr>
              <a:t>RMSD ≈ 3.27 Å</a:t>
            </a:r>
            <a:r>
              <a:rPr lang="en-US" sz="2100" dirty="0">
                <a:solidFill>
                  <a:schemeClr val="dk1"/>
                </a:solidFill>
              </a:rPr>
              <a:t>)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</a:rPr>
              <a:t>Binding impact:</a:t>
            </a:r>
            <a:r>
              <a:rPr lang="en-US" sz="2100" dirty="0">
                <a:solidFill>
                  <a:schemeClr val="dk1"/>
                </a:solidFill>
              </a:rPr>
              <a:t> Ligands that rely on </a:t>
            </a:r>
            <a:r>
              <a:rPr lang="en-US" sz="2100" b="1" dirty="0">
                <a:solidFill>
                  <a:schemeClr val="dk1"/>
                </a:solidFill>
              </a:rPr>
              <a:t>induced-fit / conformational adaptation</a:t>
            </a:r>
            <a:r>
              <a:rPr lang="en-US" sz="2100" dirty="0">
                <a:solidFill>
                  <a:schemeClr val="dk1"/>
                </a:solidFill>
              </a:rPr>
              <a:t> (example: </a:t>
            </a:r>
            <a:r>
              <a:rPr lang="en-US" sz="2100" b="1" dirty="0">
                <a:solidFill>
                  <a:schemeClr val="dk1"/>
                </a:solidFill>
              </a:rPr>
              <a:t>Febuxostat</a:t>
            </a:r>
            <a:r>
              <a:rPr lang="en-US" sz="2100" dirty="0">
                <a:solidFill>
                  <a:schemeClr val="dk1"/>
                </a:solidFill>
              </a:rPr>
              <a:t>) show </a:t>
            </a:r>
            <a:r>
              <a:rPr lang="en-US" sz="2100" b="1" dirty="0">
                <a:solidFill>
                  <a:schemeClr val="dk1"/>
                </a:solidFill>
              </a:rPr>
              <a:t>reduced binding</a:t>
            </a:r>
            <a:r>
              <a:rPr lang="en-US" sz="2100" dirty="0">
                <a:solidFill>
                  <a:schemeClr val="dk1"/>
                </a:solidFill>
              </a:rPr>
              <a:t>, while ligands that are </a:t>
            </a:r>
            <a:r>
              <a:rPr lang="en-US" sz="2100" b="1" dirty="0">
                <a:solidFill>
                  <a:schemeClr val="dk1"/>
                </a:solidFill>
              </a:rPr>
              <a:t>geometry-tolerant</a:t>
            </a:r>
            <a:r>
              <a:rPr lang="en-US" sz="2100" dirty="0">
                <a:solidFill>
                  <a:schemeClr val="dk1"/>
                </a:solidFill>
              </a:rPr>
              <a:t> (example: </a:t>
            </a:r>
            <a:r>
              <a:rPr lang="en-US" sz="2100" b="1" dirty="0">
                <a:solidFill>
                  <a:schemeClr val="dk1"/>
                </a:solidFill>
              </a:rPr>
              <a:t>Bufadienolide</a:t>
            </a:r>
            <a:r>
              <a:rPr lang="en-US" sz="2100" dirty="0">
                <a:solidFill>
                  <a:schemeClr val="dk1"/>
                </a:solidFill>
              </a:rPr>
              <a:t>) </a:t>
            </a:r>
            <a:r>
              <a:rPr lang="en-US" sz="2100" b="1" dirty="0">
                <a:solidFill>
                  <a:schemeClr val="dk1"/>
                </a:solidFill>
              </a:rPr>
              <a:t>retain binding</a:t>
            </a:r>
            <a:endParaRPr sz="2500" dirty="0">
              <a:solidFill>
                <a:srgbClr val="21212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6" name="Google Shape;86;p3" title="figE2_transparent.png"/>
          <p:cNvPicPr preferRelativeResize="0"/>
          <p:nvPr/>
        </p:nvPicPr>
        <p:blipFill rotWithShape="1">
          <a:blip r:embed="rId7">
            <a:alphaModFix/>
          </a:blip>
          <a:srcRect t="-5779" b="5780"/>
          <a:stretch/>
        </p:blipFill>
        <p:spPr>
          <a:xfrm>
            <a:off x="8117075" y="46207600"/>
            <a:ext cx="5303552" cy="423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805881" y="17968339"/>
            <a:ext cx="13917901" cy="523961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 txBox="1"/>
          <p:nvPr/>
        </p:nvSpPr>
        <p:spPr>
          <a:xfrm>
            <a:off x="7081725" y="49115111"/>
            <a:ext cx="26193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58900" y="42909899"/>
            <a:ext cx="5702450" cy="399542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29498550" y="7040868"/>
            <a:ext cx="14173200" cy="117348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9425400" y="6927080"/>
            <a:ext cx="14173200" cy="1173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9425400" y="6927095"/>
            <a:ext cx="14173200" cy="1564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9425400" y="6927095"/>
            <a:ext cx="14173200" cy="1564800"/>
          </a:xfrm>
          <a:prstGeom prst="rect">
            <a:avLst/>
          </a:prstGeom>
          <a:solidFill>
            <a:srgbClr val="6790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</a:rPr>
              <a:t>MACHINE LEARNING VALIDATION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9699720" y="8776215"/>
            <a:ext cx="136245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endParaRPr sz="3200" b="1">
              <a:solidFill>
                <a:srgbClr val="212121"/>
              </a:solidFill>
            </a:endParaRPr>
          </a:p>
        </p:txBody>
      </p:sp>
      <p:pic>
        <p:nvPicPr>
          <p:cNvPr id="95" name="Google Shape;95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498550" y="10184883"/>
            <a:ext cx="13944428" cy="815052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29571325" y="8574261"/>
            <a:ext cx="13624500" cy="13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212121"/>
                </a:solidFill>
              </a:rPr>
              <a:t>NOD2-Scout achieved AUC of </a:t>
            </a:r>
            <a:r>
              <a:rPr lang="en-US" sz="2300" b="1">
                <a:solidFill>
                  <a:srgbClr val="212121"/>
                </a:solidFill>
              </a:rPr>
              <a:t>0.89</a:t>
            </a:r>
            <a:r>
              <a:rPr lang="en-US" sz="2300">
                <a:solidFill>
                  <a:srgbClr val="212121"/>
                </a:solidFill>
              </a:rPr>
              <a:t> with scaffold-split cross-validation, ensuring the model generalizes to structurally novel compounds rather than memorizing similar structures.</a:t>
            </a:r>
            <a:endParaRPr sz="2300">
              <a:solidFill>
                <a:srgbClr val="21212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Arial"/>
              <a:buNone/>
            </a:pPr>
            <a:endParaRPr sz="3200" b="1">
              <a:solidFill>
                <a:srgbClr val="21212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8325" y="18914108"/>
            <a:ext cx="14003108" cy="3124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29498550" y="40791027"/>
            <a:ext cx="14173200" cy="44478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9425400" y="40677236"/>
            <a:ext cx="14173200" cy="4447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9425390" y="40677241"/>
            <a:ext cx="14173200" cy="15648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9425390" y="40677241"/>
            <a:ext cx="14173200" cy="1564800"/>
          </a:xfrm>
          <a:prstGeom prst="rect">
            <a:avLst/>
          </a:prstGeom>
          <a:solidFill>
            <a:srgbClr val="77A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</a:rPr>
              <a:t>REFERENCES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9699700" y="42526361"/>
            <a:ext cx="13624500" cy="23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546E7A"/>
                </a:solidFill>
              </a:rPr>
              <a:t>[1] Dahlhamer et al. (2016) MMWR 65:1166 | [2] Hugot et al. (2001) Nature 411:599 | [3] Jumper et al. (2021) Nature 596:583 | [4] McNutt et al. (2021) J Cheminform 13:43 | [5] Chen &amp; Guestrin (2016) KDD | [6] Eastman et al. (2017) PLOS Comput Biol | [7] Shirts &amp; Chodera (2008) J Chem Phys 129:124105 | [8] Sorokina et al. (2021) J Cheminform 13:2 | [9] Douguet (2018) Bioinformatics 34:2862</a:t>
            </a:r>
            <a:endParaRPr sz="1900">
              <a:solidFill>
                <a:srgbClr val="546E7A"/>
              </a:solidFill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5182675" y="21888492"/>
            <a:ext cx="1316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/>
              <a:t> Figure 1: Computational screening pipeline.</a:t>
            </a:r>
            <a:endParaRPr sz="1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/>
              <a:t> Diagram created by finalist using Microsoft PowerPoint, 2026.</a:t>
            </a:r>
            <a:endParaRPr sz="1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/>
          </a:p>
        </p:txBody>
      </p:sp>
      <p:sp>
        <p:nvSpPr>
          <p:cNvPr id="104" name="Google Shape;104;p3"/>
          <p:cNvSpPr txBox="1"/>
          <p:nvPr/>
        </p:nvSpPr>
        <p:spPr>
          <a:xfrm>
            <a:off x="873371" y="49107915"/>
            <a:ext cx="7365900" cy="14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Figure 2: NOD2 full protein structure with domain coloring.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Image created by finalist using PyMOL, 2026.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8058912" y="50403150"/>
            <a:ext cx="60960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Figure 3: R702W mutation site close-up.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Image created by finalist using PyMOL, 2026.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8714986" y="46835971"/>
            <a:ext cx="51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Figure 4: NOD2 domain architecture and mutation distance.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 Diagram created by finalist using Microsoft PowerPoint, 2026.</a:t>
            </a:r>
            <a:endParaRPr i="1"/>
          </a:p>
        </p:txBody>
      </p:sp>
      <p:sp>
        <p:nvSpPr>
          <p:cNvPr id="107" name="Google Shape;107;p3"/>
          <p:cNvSpPr txBox="1"/>
          <p:nvPr/>
        </p:nvSpPr>
        <p:spPr>
          <a:xfrm>
            <a:off x="18643513" y="25966928"/>
            <a:ext cx="79059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/>
              <a:t>  Figure 6: FEP binding free energies. Graph created by finalist using GraphPad Prism, 2026.</a:t>
            </a:r>
            <a:endParaRPr sz="1000" i="1"/>
          </a:p>
        </p:txBody>
      </p:sp>
      <p:sp>
        <p:nvSpPr>
          <p:cNvPr id="108" name="Google Shape;108;p3"/>
          <p:cNvSpPr txBox="1"/>
          <p:nvPr/>
        </p:nvSpPr>
        <p:spPr>
          <a:xfrm>
            <a:off x="18349975" y="34130406"/>
            <a:ext cx="79827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 Figure 7: Mutation effect on binding (ΔΔG). Graph created by finalist using Microsoft Excel, 2026.</a:t>
            </a:r>
            <a:endParaRPr sz="1000"/>
          </a:p>
        </p:txBody>
      </p:sp>
      <p:pic>
        <p:nvPicPr>
          <p:cNvPr id="109" name="Google Shape;109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977875" y="28952330"/>
            <a:ext cx="13624550" cy="333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9080225" y="46993917"/>
            <a:ext cx="79827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Figure 8: Free energy landscapes. Graph created by finalist using OriginLab, 2026.</a:t>
            </a:r>
            <a:endParaRPr sz="1000"/>
          </a:p>
        </p:txBody>
      </p:sp>
      <p:sp>
        <p:nvSpPr>
          <p:cNvPr id="111" name="Google Shape;111;p3"/>
          <p:cNvSpPr txBox="1"/>
          <p:nvPr/>
        </p:nvSpPr>
        <p:spPr>
          <a:xfrm>
            <a:off x="30039475" y="18168772"/>
            <a:ext cx="79059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Figure 9: NOD2-Scout ROC curves. Graph created by finalist using Microsoft Excel, 2026.</a:t>
            </a:r>
            <a:endParaRPr sz="1000"/>
          </a:p>
        </p:txBody>
      </p:sp>
      <p:sp>
        <p:nvSpPr>
          <p:cNvPr id="112" name="Google Shape;112;p3"/>
          <p:cNvSpPr txBox="1"/>
          <p:nvPr/>
        </p:nvSpPr>
        <p:spPr>
          <a:xfrm>
            <a:off x="37255100" y="18118139"/>
            <a:ext cx="63435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Figure 10: Precision-Recall curve. Graph created by finalist using Microsoft Excel, 2026.</a:t>
            </a:r>
            <a:endParaRPr sz="1000"/>
          </a:p>
        </p:txBody>
      </p:sp>
      <p:sp>
        <p:nvSpPr>
          <p:cNvPr id="113" name="Google Shape;113;p3"/>
          <p:cNvSpPr txBox="1"/>
          <p:nvPr/>
        </p:nvSpPr>
        <p:spPr>
          <a:xfrm>
            <a:off x="33532225" y="26430872"/>
            <a:ext cx="852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Figure 11: Lead compound 2D structures. Image created by finalist using RDKit, 2026.</a:t>
            </a:r>
            <a:endParaRPr sz="1000"/>
          </a:p>
        </p:txBody>
      </p:sp>
      <p:sp>
        <p:nvSpPr>
          <p:cNvPr id="114" name="Google Shape;114;p3"/>
          <p:cNvSpPr txBox="1"/>
          <p:nvPr/>
        </p:nvSpPr>
        <p:spPr>
          <a:xfrm>
            <a:off x="20443175" y="4597561"/>
            <a:ext cx="6016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i="1">
                <a:solidFill>
                  <a:schemeClr val="lt1"/>
                </a:solidFill>
              </a:rPr>
              <a:t> R702W Patient</a:t>
            </a:r>
            <a:endParaRPr sz="2700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43891200" cy="5029200"/>
          </a:xfrm>
          <a:prstGeom prst="rect">
            <a:avLst/>
          </a:prstGeom>
          <a:solidFill>
            <a:srgbClr val="0F2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-1821" y="5022962"/>
            <a:ext cx="43891200" cy="2133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7200" y="203783"/>
            <a:ext cx="42976800" cy="28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lang="en-US" sz="7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 Learning Guided Discovery and FEP Validation of</a:t>
            </a:r>
            <a:endParaRPr sz="7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lang="en-US" sz="7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NOD2 Binders for the R702W Crohn's Variant</a:t>
            </a:r>
            <a:endParaRPr sz="7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01775" y="2591206"/>
            <a:ext cx="42976800" cy="9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C107"/>
                </a:solidFill>
                <a:latin typeface="Arial"/>
                <a:ea typeface="Arial"/>
                <a:cs typeface="Arial"/>
                <a:sym typeface="Arial"/>
              </a:rPr>
              <a:t>Tanmay Vasudeva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4115342"/>
            <a:ext cx="42976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2800"/>
              <a:buFont typeface="Arial"/>
              <a:buNone/>
            </a:pPr>
            <a:r>
              <a:rPr lang="en-US" sz="2500" b="0" i="0" u="none" strike="noStrike" cap="none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rPr>
              <a:t>Texas Virtual Academy at Hallsville  |  Fort Worth Regional Science Fair 2026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20199375" y="3506762"/>
            <a:ext cx="6016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i="1">
                <a:solidFill>
                  <a:schemeClr val="lt1"/>
                </a:solidFill>
              </a:rPr>
              <a:t> R702W Patient</a:t>
            </a:r>
            <a:endParaRPr sz="2700" i="1">
              <a:solidFill>
                <a:schemeClr val="lt1"/>
              </a:solidFill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8923902"/>
            <a:ext cx="43891200" cy="2133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8277" y="5350032"/>
            <a:ext cx="13582800" cy="35739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-1825" y="5236249"/>
            <a:ext cx="21031200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-1825" y="5236248"/>
            <a:ext cx="13582800" cy="996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-1825" y="5236250"/>
            <a:ext cx="21031200" cy="996000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5000" b="1" dirty="0">
                <a:solidFill>
                  <a:srgbClr val="FFFFFF"/>
                </a:solidFill>
              </a:rPr>
              <a:t>BACKGROUND</a:t>
            </a:r>
            <a:endParaRPr lang="en-US" sz="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2858175" y="5236249"/>
            <a:ext cx="21031200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2858175" y="5236250"/>
            <a:ext cx="21031200" cy="996000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5000" b="1" dirty="0">
                <a:solidFill>
                  <a:srgbClr val="FFFFFF"/>
                </a:solidFill>
              </a:rPr>
              <a:t>RESEARCH QUESTION</a:t>
            </a:r>
            <a:endParaRPr sz="5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0" y="6201524"/>
            <a:ext cx="21031200" cy="26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Crohn's disease affects over </a:t>
            </a:r>
            <a:r>
              <a:rPr lang="en-US" sz="2400" b="1" dirty="0"/>
              <a:t>3 million Americans</a:t>
            </a:r>
            <a:r>
              <a:rPr lang="en-US" sz="2400" dirty="0"/>
              <a:t> with chronic intestinal inflammation. The </a:t>
            </a:r>
            <a:r>
              <a:rPr lang="en-US" sz="2400" b="1" dirty="0"/>
              <a:t>NOD2 protein</a:t>
            </a:r>
            <a:r>
              <a:rPr lang="en-US" sz="2400" dirty="0"/>
              <a:t> detects bacterial cell wall fragments (MDP) and triggers </a:t>
            </a:r>
            <a:r>
              <a:rPr lang="en-US" sz="2400" b="1" dirty="0"/>
              <a:t>NF-</a:t>
            </a:r>
            <a:r>
              <a:rPr lang="en-US" sz="2400" b="1" dirty="0" err="1"/>
              <a:t>κB</a:t>
            </a:r>
            <a:r>
              <a:rPr lang="en-US" sz="2400" b="1" dirty="0"/>
              <a:t> signaling</a:t>
            </a:r>
            <a:r>
              <a:rPr lang="en-US" sz="2400" dirty="0"/>
              <a:t> to mount an immune response. The </a:t>
            </a:r>
            <a:r>
              <a:rPr lang="en-US" sz="2400" b="1" dirty="0"/>
              <a:t>R702W mutation</a:t>
            </a:r>
            <a:r>
              <a:rPr lang="en-US" sz="2400" dirty="0"/>
              <a:t> is carried by </a:t>
            </a:r>
            <a:r>
              <a:rPr lang="en-US" sz="2400" b="1" dirty="0"/>
              <a:t>~15% of Crohn's patients</a:t>
            </a:r>
            <a:r>
              <a:rPr lang="en-US" sz="2400" dirty="0"/>
              <a:t> and increases disease risk </a:t>
            </a:r>
            <a:r>
              <a:rPr lang="en-US" sz="2400" b="1" dirty="0"/>
              <a:t>3-fold</a:t>
            </a:r>
            <a:r>
              <a:rPr lang="en-US" sz="2400" dirty="0"/>
              <a:t> by impairing bacterial detection. Most drug discovery ignores genetic variants, so compounds optimized for wild-type may fail in mutation carriers.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  NOD2 contains multiple domains: </a:t>
            </a:r>
            <a:r>
              <a:rPr lang="en-US" sz="2400" b="1" dirty="0"/>
              <a:t>CARD</a:t>
            </a:r>
            <a:r>
              <a:rPr lang="en-US" sz="2400" dirty="0"/>
              <a:t> (signaling), </a:t>
            </a:r>
            <a:r>
              <a:rPr lang="en-US" sz="2400" b="1" dirty="0"/>
              <a:t>NBD </a:t>
            </a:r>
            <a:r>
              <a:rPr lang="en-US" sz="2400" dirty="0"/>
              <a:t>(nucleotide binding), and </a:t>
            </a:r>
            <a:r>
              <a:rPr lang="en-US" sz="2400" b="1" dirty="0"/>
              <a:t>LRR </a:t>
            </a:r>
            <a:r>
              <a:rPr lang="en-US" sz="2400" dirty="0"/>
              <a:t>(ligand recognition). The R702W mutation is in the HD2 domain, </a:t>
            </a:r>
            <a:r>
              <a:rPr lang="en-US" sz="2400" b="1" dirty="0"/>
              <a:t>79.4 Å</a:t>
            </a:r>
            <a:r>
              <a:rPr lang="en-US" sz="2400" dirty="0"/>
              <a:t> from the LRR binding pocket, suggesting an </a:t>
            </a:r>
            <a:r>
              <a:rPr lang="en-US" sz="2400" b="1" dirty="0"/>
              <a:t>allosteric mechanism</a:t>
            </a:r>
            <a:r>
              <a:rPr lang="en-US" sz="2400" dirty="0"/>
              <a:t>. </a:t>
            </a:r>
            <a:r>
              <a:rPr lang="en-US" sz="2400" b="1" dirty="0"/>
              <a:t>No FDA-approved</a:t>
            </a:r>
            <a:r>
              <a:rPr lang="en-US" sz="2400" dirty="0"/>
              <a:t> drugs currently target NOD2 directly. This project uses </a:t>
            </a:r>
            <a:r>
              <a:rPr lang="en-US" sz="2400" b="1" dirty="0"/>
              <a:t>computational methods</a:t>
            </a:r>
            <a:r>
              <a:rPr lang="en-US" sz="2400" dirty="0"/>
              <a:t> to screen compounds against both </a:t>
            </a:r>
            <a:r>
              <a:rPr lang="en-US" sz="2400" b="1" dirty="0"/>
              <a:t>WT and R702W NOD2</a:t>
            </a:r>
            <a:r>
              <a:rPr lang="en-US" sz="2400" dirty="0"/>
              <a:t>.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34" name="Google Shape;134;p4"/>
          <p:cNvSpPr txBox="1"/>
          <p:nvPr/>
        </p:nvSpPr>
        <p:spPr>
          <a:xfrm>
            <a:off x="22881074" y="6259436"/>
            <a:ext cx="21031200" cy="26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Can computational methods identify compounds that bind NOD2 with </a:t>
            </a:r>
            <a:r>
              <a:rPr lang="en-US" sz="2300" b="1" dirty="0"/>
              <a:t>preserved affinity</a:t>
            </a:r>
            <a:r>
              <a:rPr lang="en-US" sz="2300" dirty="0"/>
              <a:t> in both </a:t>
            </a:r>
            <a:r>
              <a:rPr lang="en-US" sz="2300" b="1" dirty="0"/>
              <a:t>wild-type</a:t>
            </a:r>
            <a:r>
              <a:rPr lang="en-US" sz="2300" dirty="0"/>
              <a:t> and </a:t>
            </a:r>
            <a:r>
              <a:rPr lang="en-US" sz="2300" b="1" dirty="0"/>
              <a:t>R702W</a:t>
            </a:r>
            <a:r>
              <a:rPr lang="en-US" sz="2300" dirty="0"/>
              <a:t> variants?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/>
              <a:t>HYPOTHESIS</a:t>
            </a:r>
            <a:r>
              <a:rPr lang="en-US" sz="2300" dirty="0"/>
              <a:t>: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1. </a:t>
            </a:r>
            <a:r>
              <a:rPr lang="en-US" sz="2300" b="1" dirty="0"/>
              <a:t>GNINA docking</a:t>
            </a:r>
            <a:r>
              <a:rPr lang="en-US" sz="2300" dirty="0"/>
              <a:t> and </a:t>
            </a:r>
            <a:r>
              <a:rPr lang="en-US" sz="2300" b="1" dirty="0"/>
              <a:t>machine learning</a:t>
            </a:r>
            <a:r>
              <a:rPr lang="en-US" sz="2300" dirty="0"/>
              <a:t> can prioritize potential NOD2 binders from large compound libraries</a:t>
            </a: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2. </a:t>
            </a:r>
            <a:r>
              <a:rPr lang="en-US" sz="2300" b="1" dirty="0"/>
              <a:t>Molecular dynamics</a:t>
            </a:r>
            <a:r>
              <a:rPr lang="en-US" sz="2300" dirty="0"/>
              <a:t> simulations will confirm stable binding of top candidates in the LRR pocket</a:t>
            </a: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3. </a:t>
            </a:r>
            <a:r>
              <a:rPr lang="en-US" sz="2300" b="1" dirty="0"/>
              <a:t>Free Energy Perturbation (FEP)</a:t>
            </a:r>
            <a:r>
              <a:rPr lang="en-US" sz="2300" dirty="0"/>
              <a:t> can quantify how the R702W mutation affects binding affinity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</p:txBody>
      </p:sp>
      <p:sp>
        <p:nvSpPr>
          <p:cNvPr id="135" name="Google Shape;135;p4"/>
          <p:cNvSpPr/>
          <p:nvPr/>
        </p:nvSpPr>
        <p:spPr>
          <a:xfrm>
            <a:off x="26713" y="18827342"/>
            <a:ext cx="43891200" cy="2133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1475" y="9130898"/>
            <a:ext cx="43658400" cy="13485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1074" y="9137252"/>
            <a:ext cx="43891200" cy="1348500"/>
          </a:xfrm>
          <a:prstGeom prst="rect">
            <a:avLst/>
          </a:prstGeom>
          <a:solidFill>
            <a:srgbClr val="173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5800" b="1">
                <a:solidFill>
                  <a:srgbClr val="FFFFFF"/>
                </a:solidFill>
              </a:rPr>
              <a:t>METHODS </a:t>
            </a:r>
            <a:endParaRPr sz="5800" b="1">
              <a:solidFill>
                <a:srgbClr val="FFFFFF"/>
              </a:solidFill>
            </a:endParaRPr>
          </a:p>
        </p:txBody>
      </p:sp>
      <p:sp>
        <p:nvSpPr>
          <p:cNvPr id="13" name="Google Shape;130;p4">
            <a:extLst>
              <a:ext uri="{FF2B5EF4-FFF2-40B4-BE49-F238E27FC236}">
                <a16:creationId xmlns:a16="http://schemas.microsoft.com/office/drawing/2014/main" id="{D7E736DB-AFCF-FA60-D6F1-D0B8275DC020}"/>
              </a:ext>
            </a:extLst>
          </p:cNvPr>
          <p:cNvSpPr/>
          <p:nvPr/>
        </p:nvSpPr>
        <p:spPr>
          <a:xfrm>
            <a:off x="223049" y="14161626"/>
            <a:ext cx="5977105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PREPARATION</a:t>
            </a:r>
            <a:endParaRPr sz="36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31;p4">
            <a:extLst>
              <a:ext uri="{FF2B5EF4-FFF2-40B4-BE49-F238E27FC236}">
                <a16:creationId xmlns:a16="http://schemas.microsoft.com/office/drawing/2014/main" id="{A906036F-D382-1DA2-DC05-6CBDA6E8F096}"/>
              </a:ext>
            </a:extLst>
          </p:cNvPr>
          <p:cNvSpPr/>
          <p:nvPr/>
        </p:nvSpPr>
        <p:spPr>
          <a:xfrm>
            <a:off x="229741" y="14899421"/>
            <a:ext cx="5943600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dirty="0"/>
              <a:t>AlphaFold2 predicted the NOD2 LRR domain </a:t>
            </a:r>
            <a:r>
              <a:rPr lang="en-US" sz="2400" b="1" dirty="0"/>
              <a:t>(residues 744-1040)</a:t>
            </a:r>
            <a:r>
              <a:rPr lang="en-US" sz="2400" dirty="0"/>
              <a:t> from UniProt Q9HC29. Compound library assembled from </a:t>
            </a:r>
            <a:r>
              <a:rPr lang="en-US" sz="2400" b="1" dirty="0"/>
              <a:t>e-Drug3D</a:t>
            </a:r>
            <a:r>
              <a:rPr lang="en-US" sz="2400" dirty="0"/>
              <a:t> (2,152 FDA-approved drugs) and </a:t>
            </a:r>
            <a:r>
              <a:rPr lang="en-US" sz="2400" b="1" dirty="0"/>
              <a:t>COCONUT</a:t>
            </a:r>
            <a:r>
              <a:rPr lang="en-US" sz="2400" dirty="0"/>
              <a:t> (7,414 natural products) totaling </a:t>
            </a:r>
            <a:r>
              <a:rPr lang="en-US" sz="2400" b="1" dirty="0"/>
              <a:t>9,566 compounds </a:t>
            </a:r>
            <a:r>
              <a:rPr lang="en-US" sz="2400" dirty="0"/>
              <a:t>for virtual screening.</a:t>
            </a:r>
            <a:endParaRPr sz="2400" dirty="0"/>
          </a:p>
        </p:txBody>
      </p:sp>
      <p:sp>
        <p:nvSpPr>
          <p:cNvPr id="19" name="Google Shape;130;p4">
            <a:extLst>
              <a:ext uri="{FF2B5EF4-FFF2-40B4-BE49-F238E27FC236}">
                <a16:creationId xmlns:a16="http://schemas.microsoft.com/office/drawing/2014/main" id="{DC2D179E-C8A3-026A-99F9-7EF19F7C8297}"/>
              </a:ext>
            </a:extLst>
          </p:cNvPr>
          <p:cNvSpPr/>
          <p:nvPr/>
        </p:nvSpPr>
        <p:spPr>
          <a:xfrm>
            <a:off x="6786497" y="14117652"/>
            <a:ext cx="4472379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DOCKING (GNINA)</a:t>
            </a:r>
            <a:endParaRPr sz="36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31;p4">
            <a:extLst>
              <a:ext uri="{FF2B5EF4-FFF2-40B4-BE49-F238E27FC236}">
                <a16:creationId xmlns:a16="http://schemas.microsoft.com/office/drawing/2014/main" id="{2D7BE687-CA34-743E-CDC1-60C31E385F50}"/>
              </a:ext>
            </a:extLst>
          </p:cNvPr>
          <p:cNvSpPr/>
          <p:nvPr/>
        </p:nvSpPr>
        <p:spPr>
          <a:xfrm>
            <a:off x="6784602" y="14840943"/>
            <a:ext cx="4453128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600" dirty="0"/>
              <a:t>GNINA molecular docking with </a:t>
            </a:r>
            <a:r>
              <a:rPr lang="en-US" sz="2600" b="1" dirty="0"/>
              <a:t>CNN-based scoring</a:t>
            </a:r>
            <a:r>
              <a:rPr lang="en-US" sz="2600" dirty="0"/>
              <a:t>. Docking box 30×30×30 Å centered on LRR binding pocket. Exhaustiveness = </a:t>
            </a:r>
            <a:r>
              <a:rPr lang="en-US" sz="2600" b="1" dirty="0"/>
              <a:t>32</a:t>
            </a:r>
            <a:r>
              <a:rPr lang="en-US" sz="2600" dirty="0"/>
              <a:t>. All </a:t>
            </a:r>
            <a:r>
              <a:rPr lang="en-US" sz="2600" b="1" dirty="0"/>
              <a:t>9,566</a:t>
            </a:r>
            <a:r>
              <a:rPr lang="en-US" sz="2600" dirty="0"/>
              <a:t> compounds docked to AlphaFold NOD2 structure.</a:t>
            </a:r>
            <a:endParaRPr sz="2600" dirty="0"/>
          </a:p>
        </p:txBody>
      </p:sp>
      <p:sp>
        <p:nvSpPr>
          <p:cNvPr id="21" name="Google Shape;130;p4">
            <a:extLst>
              <a:ext uri="{FF2B5EF4-FFF2-40B4-BE49-F238E27FC236}">
                <a16:creationId xmlns:a16="http://schemas.microsoft.com/office/drawing/2014/main" id="{DCDE89AB-9FEA-95E3-0A57-CBD19EA7D987}"/>
              </a:ext>
            </a:extLst>
          </p:cNvPr>
          <p:cNvSpPr/>
          <p:nvPr/>
        </p:nvSpPr>
        <p:spPr>
          <a:xfrm>
            <a:off x="12113817" y="14104947"/>
            <a:ext cx="4596252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ML FILTER (NOD2-Scout)</a:t>
            </a:r>
            <a:endParaRPr lang="en-US" sz="28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1;p4">
            <a:extLst>
              <a:ext uri="{FF2B5EF4-FFF2-40B4-BE49-F238E27FC236}">
                <a16:creationId xmlns:a16="http://schemas.microsoft.com/office/drawing/2014/main" id="{C451BCA1-E27E-9D5B-7275-C8D8F8419FF2}"/>
              </a:ext>
            </a:extLst>
          </p:cNvPr>
          <p:cNvSpPr/>
          <p:nvPr/>
        </p:nvSpPr>
        <p:spPr>
          <a:xfrm>
            <a:off x="12113815" y="14828238"/>
            <a:ext cx="4572000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/>
              <a:t>Custom</a:t>
            </a:r>
            <a:r>
              <a:rPr lang="en-US" sz="2400" dirty="0"/>
              <a:t> </a:t>
            </a:r>
            <a:r>
              <a:rPr lang="en-US" sz="2400" dirty="0" err="1"/>
              <a:t>XGBoost</a:t>
            </a:r>
            <a:r>
              <a:rPr lang="en-US" sz="2400" dirty="0"/>
              <a:t> classifier trained on known NOD2 binders. AUC = </a:t>
            </a:r>
            <a:r>
              <a:rPr lang="en-US" sz="2400" b="1" dirty="0"/>
              <a:t>0.85-0.93</a:t>
            </a:r>
            <a:r>
              <a:rPr lang="en-US" sz="2400" dirty="0"/>
              <a:t> (scaffold-split cross-validation). Filtered to top </a:t>
            </a:r>
            <a:r>
              <a:rPr lang="en-US" sz="2400" b="1" dirty="0"/>
              <a:t>2,129</a:t>
            </a:r>
            <a:r>
              <a:rPr lang="en-US" sz="2400" dirty="0"/>
              <a:t> compounds with highest predicted binding probability.</a:t>
            </a:r>
            <a:endParaRPr sz="2400" dirty="0"/>
          </a:p>
        </p:txBody>
      </p:sp>
      <p:sp>
        <p:nvSpPr>
          <p:cNvPr id="23" name="Google Shape;130;p4">
            <a:extLst>
              <a:ext uri="{FF2B5EF4-FFF2-40B4-BE49-F238E27FC236}">
                <a16:creationId xmlns:a16="http://schemas.microsoft.com/office/drawing/2014/main" id="{3A796938-A12E-CB6F-3CF2-E668A2092826}"/>
              </a:ext>
            </a:extLst>
          </p:cNvPr>
          <p:cNvSpPr/>
          <p:nvPr/>
        </p:nvSpPr>
        <p:spPr>
          <a:xfrm>
            <a:off x="17505906" y="14123997"/>
            <a:ext cx="4350614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ADMET (RDKit)</a:t>
            </a:r>
            <a:endParaRPr sz="36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31;p4">
            <a:extLst>
              <a:ext uri="{FF2B5EF4-FFF2-40B4-BE49-F238E27FC236}">
                <a16:creationId xmlns:a16="http://schemas.microsoft.com/office/drawing/2014/main" id="{EF2A12D3-DC81-C6E5-D9FB-D7A0D26E4436}"/>
              </a:ext>
            </a:extLst>
          </p:cNvPr>
          <p:cNvSpPr/>
          <p:nvPr/>
        </p:nvSpPr>
        <p:spPr>
          <a:xfrm>
            <a:off x="17505905" y="14847288"/>
            <a:ext cx="4326227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Drug-likeness filtering using RDKit. Applied Lipinski's Rule of 5, PAINS, and Brenk filters. </a:t>
            </a:r>
            <a:r>
              <a:rPr lang="en-US" sz="2800" b="1" dirty="0"/>
              <a:t>148 of 150 </a:t>
            </a:r>
            <a:r>
              <a:rPr lang="en-US" sz="2800" dirty="0"/>
              <a:t>compounds passed all ADMET criteria.</a:t>
            </a:r>
            <a:endParaRPr sz="2800" dirty="0"/>
          </a:p>
        </p:txBody>
      </p:sp>
      <p:sp>
        <p:nvSpPr>
          <p:cNvPr id="25" name="Google Shape;130;p4">
            <a:extLst>
              <a:ext uri="{FF2B5EF4-FFF2-40B4-BE49-F238E27FC236}">
                <a16:creationId xmlns:a16="http://schemas.microsoft.com/office/drawing/2014/main" id="{5DE3C755-7C2D-EA4D-C85A-DA4E6DD3111D}"/>
              </a:ext>
            </a:extLst>
          </p:cNvPr>
          <p:cNvSpPr/>
          <p:nvPr/>
        </p:nvSpPr>
        <p:spPr>
          <a:xfrm>
            <a:off x="22849592" y="14054281"/>
            <a:ext cx="4326227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TIER-1 (Manual)</a:t>
            </a:r>
            <a:endParaRPr sz="36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31;p4">
            <a:extLst>
              <a:ext uri="{FF2B5EF4-FFF2-40B4-BE49-F238E27FC236}">
                <a16:creationId xmlns:a16="http://schemas.microsoft.com/office/drawing/2014/main" id="{0936D0C8-8AB9-469F-1185-39FC6855EDF1}"/>
              </a:ext>
            </a:extLst>
          </p:cNvPr>
          <p:cNvSpPr/>
          <p:nvPr/>
        </p:nvSpPr>
        <p:spPr>
          <a:xfrm>
            <a:off x="22846275" y="14777572"/>
            <a:ext cx="4301976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 Expert </a:t>
            </a:r>
            <a:r>
              <a:rPr lang="en-US" sz="2800" b="1" dirty="0"/>
              <a:t>curation</a:t>
            </a:r>
            <a:r>
              <a:rPr lang="en-US" sz="2800" dirty="0"/>
              <a:t> for structural diversity, binding pose quality, and synthetic accessibility. </a:t>
            </a:r>
            <a:r>
              <a:rPr lang="en-US" sz="2800" b="1" dirty="0"/>
              <a:t>8 top candidates</a:t>
            </a:r>
            <a:r>
              <a:rPr lang="en-US" sz="2800" dirty="0"/>
              <a:t> selected for molecular dynamics validation.</a:t>
            </a:r>
            <a:endParaRPr sz="2800" dirty="0"/>
          </a:p>
        </p:txBody>
      </p:sp>
      <p:sp>
        <p:nvSpPr>
          <p:cNvPr id="27" name="Google Shape;130;p4">
            <a:extLst>
              <a:ext uri="{FF2B5EF4-FFF2-40B4-BE49-F238E27FC236}">
                <a16:creationId xmlns:a16="http://schemas.microsoft.com/office/drawing/2014/main" id="{F0587FA0-C937-ED50-B4FA-497121BB7B0B}"/>
              </a:ext>
            </a:extLst>
          </p:cNvPr>
          <p:cNvSpPr/>
          <p:nvPr/>
        </p:nvSpPr>
        <p:spPr>
          <a:xfrm>
            <a:off x="28168891" y="14042496"/>
            <a:ext cx="4350615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MD SIM (</a:t>
            </a:r>
            <a:r>
              <a:rPr lang="en-US" sz="3600" b="1" dirty="0" err="1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OpenMM</a:t>
            </a: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)</a:t>
            </a:r>
            <a:endParaRPr sz="36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31;p4">
            <a:extLst>
              <a:ext uri="{FF2B5EF4-FFF2-40B4-BE49-F238E27FC236}">
                <a16:creationId xmlns:a16="http://schemas.microsoft.com/office/drawing/2014/main" id="{041728B0-3BF0-BBEF-1AC5-FEE4F7049FC3}"/>
              </a:ext>
            </a:extLst>
          </p:cNvPr>
          <p:cNvSpPr/>
          <p:nvPr/>
        </p:nvSpPr>
        <p:spPr>
          <a:xfrm>
            <a:off x="28168891" y="14765787"/>
            <a:ext cx="4326227" cy="368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600" b="1" dirty="0"/>
              <a:t>520 ns </a:t>
            </a:r>
            <a:r>
              <a:rPr lang="en-US" sz="2600" dirty="0"/>
              <a:t>total molecular dynamics simulation. AMBER14 protein + </a:t>
            </a:r>
            <a:r>
              <a:rPr lang="en-US" sz="2600" dirty="0" err="1"/>
              <a:t>OpenFF</a:t>
            </a:r>
            <a:r>
              <a:rPr lang="en-US" sz="2600" dirty="0"/>
              <a:t> 2.1.0 ligand force fields. </a:t>
            </a:r>
            <a:r>
              <a:rPr lang="en-US" sz="2600" b="1" dirty="0"/>
              <a:t>310 K</a:t>
            </a:r>
            <a:r>
              <a:rPr lang="en-US" sz="2600" dirty="0"/>
              <a:t>, explicit solvent. Validated stable pocket occupancy </a:t>
            </a:r>
            <a:r>
              <a:rPr lang="en-US" sz="2600" b="1" dirty="0"/>
              <a:t>(70-80%).</a:t>
            </a:r>
            <a:endParaRPr sz="2600" b="1" dirty="0"/>
          </a:p>
        </p:txBody>
      </p:sp>
      <p:sp>
        <p:nvSpPr>
          <p:cNvPr id="29" name="Google Shape;130;p4">
            <a:extLst>
              <a:ext uri="{FF2B5EF4-FFF2-40B4-BE49-F238E27FC236}">
                <a16:creationId xmlns:a16="http://schemas.microsoft.com/office/drawing/2014/main" id="{C14E6ED5-40B5-C34D-5810-F8067D7F1E14}"/>
              </a:ext>
            </a:extLst>
          </p:cNvPr>
          <p:cNvSpPr/>
          <p:nvPr/>
        </p:nvSpPr>
        <p:spPr>
          <a:xfrm>
            <a:off x="33401012" y="13991909"/>
            <a:ext cx="4350615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FEP (OpenMMTools)</a:t>
            </a:r>
            <a:endParaRPr sz="32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31;p4">
            <a:extLst>
              <a:ext uri="{FF2B5EF4-FFF2-40B4-BE49-F238E27FC236}">
                <a16:creationId xmlns:a16="http://schemas.microsoft.com/office/drawing/2014/main" id="{E1940755-F368-3D90-4D4E-C8E5DD157E84}"/>
              </a:ext>
            </a:extLst>
          </p:cNvPr>
          <p:cNvSpPr/>
          <p:nvPr/>
        </p:nvSpPr>
        <p:spPr>
          <a:xfrm>
            <a:off x="33401012" y="14715200"/>
            <a:ext cx="4326227" cy="374654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Free Energy Perturbation - gold standard for binding affinity. </a:t>
            </a:r>
            <a:r>
              <a:rPr lang="en-US" sz="2800" b="1" dirty="0"/>
              <a:t>120 lambda </a:t>
            </a:r>
            <a:r>
              <a:rPr lang="en-US" sz="2800" dirty="0"/>
              <a:t>windows (80 complex + 40 solvent). Calculated ΔΔG between </a:t>
            </a:r>
            <a:r>
              <a:rPr lang="en-US" sz="2800" b="1" dirty="0"/>
              <a:t>WT and R702W NOD2</a:t>
            </a:r>
            <a:r>
              <a:rPr lang="en-US" sz="2800" dirty="0"/>
              <a:t>.</a:t>
            </a:r>
            <a:endParaRPr sz="2800" dirty="0"/>
          </a:p>
        </p:txBody>
      </p:sp>
      <p:sp>
        <p:nvSpPr>
          <p:cNvPr id="34" name="Google Shape;130;p4">
            <a:extLst>
              <a:ext uri="{FF2B5EF4-FFF2-40B4-BE49-F238E27FC236}">
                <a16:creationId xmlns:a16="http://schemas.microsoft.com/office/drawing/2014/main" id="{A9F18867-AA3D-5D74-0907-84D99EEAF5E1}"/>
              </a:ext>
            </a:extLst>
          </p:cNvPr>
          <p:cNvSpPr/>
          <p:nvPr/>
        </p:nvSpPr>
        <p:spPr>
          <a:xfrm>
            <a:off x="38772267" y="13991909"/>
            <a:ext cx="4350615" cy="729645"/>
          </a:xfrm>
          <a:prstGeom prst="rect">
            <a:avLst/>
          </a:prstGeom>
          <a:solidFill>
            <a:srgbClr val="3F61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3400"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2 LEADS (Final)</a:t>
            </a:r>
            <a:endParaRPr sz="3600" b="1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31;p4">
            <a:extLst>
              <a:ext uri="{FF2B5EF4-FFF2-40B4-BE49-F238E27FC236}">
                <a16:creationId xmlns:a16="http://schemas.microsoft.com/office/drawing/2014/main" id="{F118F652-359F-A30E-8979-DAF5176CC31C}"/>
              </a:ext>
            </a:extLst>
          </p:cNvPr>
          <p:cNvSpPr/>
          <p:nvPr/>
        </p:nvSpPr>
        <p:spPr>
          <a:xfrm>
            <a:off x="38772267" y="14715200"/>
            <a:ext cx="4326227" cy="374654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0A4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600" b="1" dirty="0"/>
              <a:t>99.98%</a:t>
            </a:r>
            <a:r>
              <a:rPr lang="en-US" sz="2600" dirty="0"/>
              <a:t> reduction from 9,566 → 2 validated leads. Febuxostat (</a:t>
            </a:r>
            <a:r>
              <a:rPr lang="en-US" sz="2600" b="1" dirty="0"/>
              <a:t>ΔΔG = +2.34</a:t>
            </a:r>
            <a:r>
              <a:rPr lang="en-US" sz="2600" dirty="0"/>
              <a:t>, mutation-sensitive) and Bufadienolide (</a:t>
            </a:r>
            <a:r>
              <a:rPr lang="en-US" sz="2600" b="1" dirty="0"/>
              <a:t>ΔΔG = -0.44</a:t>
            </a:r>
            <a:r>
              <a:rPr lang="en-US" sz="2600" dirty="0"/>
              <a:t>, mutation-insensitive).</a:t>
            </a:r>
            <a:endParaRPr sz="2600" dirty="0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756DA1AC-63B0-9BDC-D772-A1200D629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825" y="10387227"/>
            <a:ext cx="45720000" cy="3894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1503</Words>
  <Application>Microsoft Office PowerPoint</Application>
  <PresentationFormat>Custom</PresentationFormat>
  <Paragraphs>101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Tanmay Vasudeva</dc:creator>
  <cp:lastModifiedBy>Tanmay Vasudeva</cp:lastModifiedBy>
  <cp:revision>2</cp:revision>
  <dcterms:modified xsi:type="dcterms:W3CDTF">2026-01-26T19:47:34Z</dcterms:modified>
</cp:coreProperties>
</file>