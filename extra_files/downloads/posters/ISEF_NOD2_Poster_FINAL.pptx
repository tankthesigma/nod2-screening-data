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3891200" cy="32918400"/>
          </a:xfrm>
          <a:prstGeom prst="rect">
            <a:avLst/>
          </a:prstGeom>
          <a:solidFill>
            <a:srgbClr val="F0F4F8"/>
          </a:solidFill>
          <a:ln/>
        </p:spPr>
      </p:sp>
      <p:sp>
        <p:nvSpPr>
          <p:cNvPr id="3" name="Shape 1"/>
          <p:cNvSpPr/>
          <p:nvPr/>
        </p:nvSpPr>
        <p:spPr>
          <a:xfrm>
            <a:off x="0" y="0"/>
            <a:ext cx="43891200" cy="2926080"/>
          </a:xfrm>
          <a:prstGeom prst="rect">
            <a:avLst/>
          </a:prstGeom>
          <a:solidFill>
            <a:srgbClr val="0D1B2A"/>
          </a:solidFill>
          <a:ln/>
        </p:spPr>
      </p:sp>
      <p:sp>
        <p:nvSpPr>
          <p:cNvPr id="4" name="Text 2"/>
          <p:cNvSpPr/>
          <p:nvPr/>
        </p:nvSpPr>
        <p:spPr>
          <a:xfrm>
            <a:off x="457200" y="320040"/>
            <a:ext cx="42976800" cy="1188720"/>
          </a:xfrm>
          <a:prstGeom prst="rect">
            <a:avLst/>
          </a:prstGeom>
          <a:noFill/>
          <a:ln/>
        </p:spPr>
        <p:txBody>
          <a:bodyPr wrap="square" rtlCol="0" anchor="ctr"/>
          <a:lstStyle/>
          <a:p>
            <a:pPr algn="ctr" indent="0" marL="0">
              <a:buNone/>
            </a:pPr>
            <a:r>
              <a:rPr lang="en-US" sz="5200" b="1" dirty="0">
                <a:solidFill>
                  <a:srgbClr val="FFFFFF"/>
                </a:solidFill>
                <a:latin typeface="Arial" pitchFamily="34" charset="0"/>
                <a:ea typeface="Arial" pitchFamily="34" charset="-122"/>
                <a:cs typeface="Arial" pitchFamily="34" charset="-120"/>
              </a:rPr>
              <a:t>Deep Learning Guided Discovery and FEP Validation of NOD2 Binders for the R702W Crohn's Variant</a:t>
            </a:r>
            <a:endParaRPr lang="en-US" sz="5200" dirty="0"/>
          </a:p>
        </p:txBody>
      </p:sp>
      <p:sp>
        <p:nvSpPr>
          <p:cNvPr id="5" name="Text 3"/>
          <p:cNvSpPr/>
          <p:nvPr/>
        </p:nvSpPr>
        <p:spPr>
          <a:xfrm>
            <a:off x="457200" y="1645920"/>
            <a:ext cx="42976800" cy="548640"/>
          </a:xfrm>
          <a:prstGeom prst="rect">
            <a:avLst/>
          </a:prstGeom>
          <a:noFill/>
          <a:ln/>
        </p:spPr>
        <p:txBody>
          <a:bodyPr wrap="square" rtlCol="0" anchor="ctr"/>
          <a:lstStyle/>
          <a:p>
            <a:pPr algn="ctr" indent="0" marL="0">
              <a:buNone/>
            </a:pPr>
            <a:r>
              <a:rPr lang="en-US" sz="2800" b="1" dirty="0">
                <a:solidFill>
                  <a:srgbClr val="FBBF24"/>
                </a:solidFill>
                <a:latin typeface="Arial" pitchFamily="34" charset="0"/>
                <a:ea typeface="Arial" pitchFamily="34" charset="-122"/>
                <a:cs typeface="Arial" pitchFamily="34" charset="-120"/>
              </a:rPr>
              <a:t>Tanmay Vasudeva  |  Texas Virtual Academy at Hallsville, Texas, USA</a:t>
            </a:r>
            <a:endParaRPr lang="en-US" sz="2800" dirty="0"/>
          </a:p>
        </p:txBody>
      </p:sp>
      <p:sp>
        <p:nvSpPr>
          <p:cNvPr id="6" name="Shape 4"/>
          <p:cNvSpPr/>
          <p:nvPr/>
        </p:nvSpPr>
        <p:spPr>
          <a:xfrm>
            <a:off x="265176" y="3236976"/>
            <a:ext cx="14173200" cy="4389120"/>
          </a:xfrm>
          <a:prstGeom prst="rect">
            <a:avLst/>
          </a:prstGeom>
          <a:solidFill>
            <a:srgbClr val="94A3B8"/>
          </a:solidFill>
          <a:ln/>
        </p:spPr>
      </p:sp>
      <p:sp>
        <p:nvSpPr>
          <p:cNvPr id="7" name="Shape 5"/>
          <p:cNvSpPr/>
          <p:nvPr/>
        </p:nvSpPr>
        <p:spPr>
          <a:xfrm>
            <a:off x="228600" y="3200400"/>
            <a:ext cx="14173200" cy="4389120"/>
          </a:xfrm>
          <a:prstGeom prst="rect">
            <a:avLst/>
          </a:prstGeom>
          <a:solidFill>
            <a:srgbClr val="FFFFFF"/>
          </a:solidFill>
          <a:ln w="25400">
            <a:solidFill>
              <a:srgbClr val="1B3A5F"/>
            </a:solidFill>
            <a:prstDash val="solid"/>
          </a:ln>
        </p:spPr>
      </p:sp>
      <p:sp>
        <p:nvSpPr>
          <p:cNvPr id="8" name="Shape 6"/>
          <p:cNvSpPr/>
          <p:nvPr/>
        </p:nvSpPr>
        <p:spPr>
          <a:xfrm>
            <a:off x="228600" y="3200400"/>
            <a:ext cx="14173200" cy="640080"/>
          </a:xfrm>
          <a:prstGeom prst="rect">
            <a:avLst/>
          </a:prstGeom>
          <a:solidFill>
            <a:srgbClr val="1B3A5F"/>
          </a:solidFill>
          <a:ln/>
        </p:spPr>
      </p:sp>
      <p:sp>
        <p:nvSpPr>
          <p:cNvPr id="9" name="Text 7"/>
          <p:cNvSpPr/>
          <p:nvPr/>
        </p:nvSpPr>
        <p:spPr>
          <a:xfrm>
            <a:off x="411480" y="329184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Purpose</a:t>
            </a:r>
            <a:endParaRPr lang="en-US" sz="2800" dirty="0"/>
          </a:p>
        </p:txBody>
      </p:sp>
      <p:sp>
        <p:nvSpPr>
          <p:cNvPr id="10" name="Text 8"/>
          <p:cNvSpPr/>
          <p:nvPr/>
        </p:nvSpPr>
        <p:spPr>
          <a:xfrm>
            <a:off x="411480" y="3977640"/>
            <a:ext cx="13807440" cy="3474720"/>
          </a:xfrm>
          <a:prstGeom prst="rect">
            <a:avLst/>
          </a:prstGeom>
          <a:noFill/>
          <a:ln/>
        </p:spPr>
        <p:txBody>
          <a:bodyPr wrap="square" rtlCol="0" anchor="t"/>
          <a:lstStyle/>
          <a:p>
            <a:pPr indent="0" marL="0">
              <a:buNone/>
            </a:pPr>
            <a:r>
              <a:rPr lang="en-US" sz="2200" dirty="0">
                <a:solidFill>
                  <a:srgbClr val="1E293B"/>
                </a:solidFill>
                <a:latin typeface="Arial" pitchFamily="34" charset="0"/>
                <a:ea typeface="Arial" pitchFamily="34" charset="-122"/>
                <a:cs typeface="Arial" pitchFamily="34" charset="-120"/>
              </a:rPr>
              <a:t>Crohn's disease affects over 3 million people worldwide, with the NOD2 R702W variant conferring a 3-fold increased disease risk. Despite this strong genetic link, no FDA-approved therapeutics specifically target NOD2. This study developed a computational pipeline integrating deep learning-based molecular docking with free energy perturbation (FEP) calculations to identify small molecules that bind NOD2's LRR domain and determine whether the R702W mutation differentially affects binding affinity.</a:t>
            </a:r>
            <a:endParaRPr lang="en-US" sz="2200" dirty="0"/>
          </a:p>
        </p:txBody>
      </p:sp>
      <p:sp>
        <p:nvSpPr>
          <p:cNvPr id="11" name="Shape 9"/>
          <p:cNvSpPr/>
          <p:nvPr/>
        </p:nvSpPr>
        <p:spPr>
          <a:xfrm>
            <a:off x="265176" y="7900416"/>
            <a:ext cx="14173200" cy="2560320"/>
          </a:xfrm>
          <a:prstGeom prst="rect">
            <a:avLst/>
          </a:prstGeom>
          <a:solidFill>
            <a:srgbClr val="94A3B8"/>
          </a:solidFill>
          <a:ln/>
        </p:spPr>
      </p:sp>
      <p:sp>
        <p:nvSpPr>
          <p:cNvPr id="12" name="Shape 10"/>
          <p:cNvSpPr/>
          <p:nvPr/>
        </p:nvSpPr>
        <p:spPr>
          <a:xfrm>
            <a:off x="228600" y="7863840"/>
            <a:ext cx="14173200" cy="2560320"/>
          </a:xfrm>
          <a:prstGeom prst="rect">
            <a:avLst/>
          </a:prstGeom>
          <a:solidFill>
            <a:srgbClr val="FFFFFF"/>
          </a:solidFill>
          <a:ln w="25400">
            <a:solidFill>
              <a:srgbClr val="1B3A5F"/>
            </a:solidFill>
            <a:prstDash val="solid"/>
          </a:ln>
        </p:spPr>
      </p:sp>
      <p:sp>
        <p:nvSpPr>
          <p:cNvPr id="13" name="Shape 11"/>
          <p:cNvSpPr/>
          <p:nvPr/>
        </p:nvSpPr>
        <p:spPr>
          <a:xfrm>
            <a:off x="228600" y="7863840"/>
            <a:ext cx="14173200" cy="640080"/>
          </a:xfrm>
          <a:prstGeom prst="rect">
            <a:avLst/>
          </a:prstGeom>
          <a:solidFill>
            <a:srgbClr val="1B3A5F"/>
          </a:solidFill>
          <a:ln/>
        </p:spPr>
      </p:sp>
      <p:sp>
        <p:nvSpPr>
          <p:cNvPr id="14" name="Text 12"/>
          <p:cNvSpPr/>
          <p:nvPr/>
        </p:nvSpPr>
        <p:spPr>
          <a:xfrm>
            <a:off x="411480" y="795528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Research Question</a:t>
            </a:r>
            <a:endParaRPr lang="en-US" sz="2800" dirty="0"/>
          </a:p>
        </p:txBody>
      </p:sp>
      <p:sp>
        <p:nvSpPr>
          <p:cNvPr id="15" name="Text 13"/>
          <p:cNvSpPr/>
          <p:nvPr/>
        </p:nvSpPr>
        <p:spPr>
          <a:xfrm>
            <a:off x="411480" y="8641080"/>
            <a:ext cx="13807440" cy="1645920"/>
          </a:xfrm>
          <a:prstGeom prst="rect">
            <a:avLst/>
          </a:prstGeom>
          <a:noFill/>
          <a:ln/>
        </p:spPr>
        <p:txBody>
          <a:bodyPr wrap="square" rtlCol="0" anchor="t"/>
          <a:lstStyle/>
          <a:p>
            <a:pPr indent="0" marL="0">
              <a:buNone/>
            </a:pPr>
            <a:r>
              <a:rPr lang="en-US" sz="2400" i="1" dirty="0">
                <a:solidFill>
                  <a:srgbClr val="1E293B"/>
                </a:solidFill>
                <a:latin typeface="Arial" pitchFamily="34" charset="0"/>
                <a:ea typeface="Arial" pitchFamily="34" charset="-122"/>
                <a:cs typeface="Arial" pitchFamily="34" charset="-120"/>
              </a:rPr>
              <a:t>Can small molecules be identified that bind NOD2's LRR domain with differential affinity between wild-type and R702W mutant protein, enabling mutation-specific therapeutic targeting?</a:t>
            </a:r>
            <a:endParaRPr lang="en-US" sz="2400" dirty="0"/>
          </a:p>
        </p:txBody>
      </p:sp>
      <p:sp>
        <p:nvSpPr>
          <p:cNvPr id="16" name="Shape 14"/>
          <p:cNvSpPr/>
          <p:nvPr/>
        </p:nvSpPr>
        <p:spPr>
          <a:xfrm>
            <a:off x="265176" y="10735056"/>
            <a:ext cx="14173200" cy="9601200"/>
          </a:xfrm>
          <a:prstGeom prst="rect">
            <a:avLst/>
          </a:prstGeom>
          <a:solidFill>
            <a:srgbClr val="94A3B8"/>
          </a:solidFill>
          <a:ln/>
        </p:spPr>
      </p:sp>
      <p:sp>
        <p:nvSpPr>
          <p:cNvPr id="17" name="Shape 15"/>
          <p:cNvSpPr/>
          <p:nvPr/>
        </p:nvSpPr>
        <p:spPr>
          <a:xfrm>
            <a:off x="228600" y="10698480"/>
            <a:ext cx="14173200" cy="9601200"/>
          </a:xfrm>
          <a:prstGeom prst="rect">
            <a:avLst/>
          </a:prstGeom>
          <a:solidFill>
            <a:srgbClr val="FFFFFF"/>
          </a:solidFill>
          <a:ln w="25400">
            <a:solidFill>
              <a:srgbClr val="1B3A5F"/>
            </a:solidFill>
            <a:prstDash val="solid"/>
          </a:ln>
        </p:spPr>
      </p:sp>
      <p:sp>
        <p:nvSpPr>
          <p:cNvPr id="18" name="Shape 16"/>
          <p:cNvSpPr/>
          <p:nvPr/>
        </p:nvSpPr>
        <p:spPr>
          <a:xfrm>
            <a:off x="228600" y="10698480"/>
            <a:ext cx="14173200" cy="640080"/>
          </a:xfrm>
          <a:prstGeom prst="rect">
            <a:avLst/>
          </a:prstGeom>
          <a:solidFill>
            <a:srgbClr val="1B3A5F"/>
          </a:solidFill>
          <a:ln/>
        </p:spPr>
      </p:sp>
      <p:sp>
        <p:nvSpPr>
          <p:cNvPr id="19" name="Text 17"/>
          <p:cNvSpPr/>
          <p:nvPr/>
        </p:nvSpPr>
        <p:spPr>
          <a:xfrm>
            <a:off x="411480" y="1078992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Methods and Procedures</a:t>
            </a:r>
            <a:endParaRPr lang="en-US" sz="2800" dirty="0"/>
          </a:p>
        </p:txBody>
      </p:sp>
      <p:pic>
        <p:nvPicPr>
          <p:cNvPr id="20" name="Image 0" descr="charts/pipeline_circles.png">    </p:cNvPr>
          <p:cNvPicPr>
            <a:picLocks noChangeAspect="1"/>
          </p:cNvPicPr>
          <p:nvPr/>
        </p:nvPicPr>
        <p:blipFill>
          <a:blip r:embed="rId1"/>
          <a:stretch>
            <a:fillRect/>
          </a:stretch>
        </p:blipFill>
        <p:spPr>
          <a:xfrm>
            <a:off x="411480" y="11521440"/>
            <a:ext cx="13716000" cy="3200400"/>
          </a:xfrm>
          <a:prstGeom prst="rect">
            <a:avLst/>
          </a:prstGeom>
        </p:spPr>
      </p:pic>
      <p:sp>
        <p:nvSpPr>
          <p:cNvPr id="21" name="Text 18"/>
          <p:cNvSpPr/>
          <p:nvPr/>
        </p:nvSpPr>
        <p:spPr>
          <a:xfrm>
            <a:off x="411480" y="14904720"/>
            <a:ext cx="13807440" cy="5029200"/>
          </a:xfrm>
          <a:prstGeom prst="rect">
            <a:avLst/>
          </a:prstGeom>
          <a:noFill/>
          <a:ln/>
        </p:spPr>
        <p:txBody>
          <a:bodyPr wrap="square" rtlCol="0" anchor="t"/>
          <a:lstStyle/>
          <a:p>
            <a:pPr indent="0" marL="0">
              <a:buNone/>
            </a:pPr>
            <a:r>
              <a:rPr lang="en-US" sz="2100" dirty="0">
                <a:solidFill>
                  <a:srgbClr val="1E293B"/>
                </a:solidFill>
                <a:latin typeface="Arial" pitchFamily="34" charset="0"/>
                <a:ea typeface="Arial" pitchFamily="34" charset="-122"/>
                <a:cs typeface="Arial" pitchFamily="34" charset="-120"/>
              </a:rPr>
              <a:t>Virtual screening was performed on 9,566 compounds (2,152 FDA-approved drugs + 7,414 natural products) using GNINA deep learning-based docking against an AlphaFold2 NOD2 structure. NOD2-Scout, an XGBoost classifier trained on Morgan fingerprints, was validated using scaffold-split 5-fold cross-validation. Top candidates underwent ADMET filtering, 520+ ns of molecular dynamics simulations, and free energy perturbation calculations (20 λ windows, 5 ns/window) to quantify ΔΔG values between wild-type and R702W protein.</a:t>
            </a:r>
            <a:endParaRPr lang="en-US" sz="2100" dirty="0"/>
          </a:p>
        </p:txBody>
      </p:sp>
      <p:sp>
        <p:nvSpPr>
          <p:cNvPr id="22" name="Shape 19"/>
          <p:cNvSpPr/>
          <p:nvPr/>
        </p:nvSpPr>
        <p:spPr>
          <a:xfrm>
            <a:off x="265176" y="20610576"/>
            <a:ext cx="14173200" cy="11430000"/>
          </a:xfrm>
          <a:prstGeom prst="rect">
            <a:avLst/>
          </a:prstGeom>
          <a:solidFill>
            <a:srgbClr val="94A3B8"/>
          </a:solidFill>
          <a:ln/>
        </p:spPr>
      </p:sp>
      <p:sp>
        <p:nvSpPr>
          <p:cNvPr id="23" name="Shape 20"/>
          <p:cNvSpPr/>
          <p:nvPr/>
        </p:nvSpPr>
        <p:spPr>
          <a:xfrm>
            <a:off x="228600" y="20574000"/>
            <a:ext cx="14173200" cy="11430000"/>
          </a:xfrm>
          <a:prstGeom prst="rect">
            <a:avLst/>
          </a:prstGeom>
          <a:solidFill>
            <a:srgbClr val="FFFFFF"/>
          </a:solidFill>
          <a:ln w="25400">
            <a:solidFill>
              <a:srgbClr val="1B3A5F"/>
            </a:solidFill>
            <a:prstDash val="solid"/>
          </a:ln>
        </p:spPr>
      </p:sp>
      <p:sp>
        <p:nvSpPr>
          <p:cNvPr id="24" name="Shape 21"/>
          <p:cNvSpPr/>
          <p:nvPr/>
        </p:nvSpPr>
        <p:spPr>
          <a:xfrm>
            <a:off x="228600" y="20574000"/>
            <a:ext cx="14173200" cy="640080"/>
          </a:xfrm>
          <a:prstGeom prst="rect">
            <a:avLst/>
          </a:prstGeom>
          <a:solidFill>
            <a:srgbClr val="1B3A5F"/>
          </a:solidFill>
          <a:ln/>
        </p:spPr>
      </p:sp>
      <p:sp>
        <p:nvSpPr>
          <p:cNvPr id="25" name="Text 22"/>
          <p:cNvSpPr/>
          <p:nvPr/>
        </p:nvSpPr>
        <p:spPr>
          <a:xfrm>
            <a:off x="411480" y="2066544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Structural Analysis</a:t>
            </a:r>
            <a:endParaRPr lang="en-US" sz="2800" dirty="0"/>
          </a:p>
        </p:txBody>
      </p:sp>
      <p:pic>
        <p:nvPicPr>
          <p:cNvPr id="26" name="Image 1" descr="figA1_transparent.png">    </p:cNvPr>
          <p:cNvPicPr>
            <a:picLocks noChangeAspect="1"/>
          </p:cNvPicPr>
          <p:nvPr/>
        </p:nvPicPr>
        <p:blipFill>
          <a:blip r:embed="rId2"/>
          <a:stretch>
            <a:fillRect/>
          </a:stretch>
        </p:blipFill>
        <p:spPr>
          <a:xfrm>
            <a:off x="502920" y="21396960"/>
            <a:ext cx="8229600" cy="8229600"/>
          </a:xfrm>
          <a:prstGeom prst="rect">
            <a:avLst/>
          </a:prstGeom>
        </p:spPr>
      </p:pic>
      <p:sp>
        <p:nvSpPr>
          <p:cNvPr id="27" name="Text 23"/>
          <p:cNvSpPr/>
          <p:nvPr/>
        </p:nvSpPr>
        <p:spPr>
          <a:xfrm>
            <a:off x="8732520" y="21488400"/>
            <a:ext cx="5303520" cy="7772400"/>
          </a:xfrm>
          <a:prstGeom prst="rect">
            <a:avLst/>
          </a:prstGeom>
          <a:noFill/>
          <a:ln/>
        </p:spPr>
        <p:txBody>
          <a:bodyPr wrap="square" rtlCol="0" anchor="t"/>
          <a:lstStyle/>
          <a:p>
            <a:pPr indent="0" marL="0">
              <a:buNone/>
            </a:pPr>
            <a:r>
              <a:rPr lang="en-US" sz="2000" dirty="0">
                <a:solidFill>
                  <a:srgbClr val="1E293B"/>
                </a:solidFill>
                <a:latin typeface="Arial" pitchFamily="34" charset="0"/>
                <a:ea typeface="Arial" pitchFamily="34" charset="-122"/>
                <a:cs typeface="Arial" pitchFamily="34" charset="-120"/>
              </a:rPr>
              <a:t>NOD2 Domain Architecture:</a:t>
            </a:r>
            <a:endParaRPr lang="en-US" sz="2000" dirty="0"/>
          </a:p>
          <a:p>
            <a:pPr indent="0" marL="0">
              <a:buNone/>
            </a:pPr>
            <a:endParaRPr lang="en-US" sz="2000" dirty="0"/>
          </a:p>
          <a:p>
            <a:pPr indent="0" marL="0">
              <a:buNone/>
            </a:pPr>
            <a:r>
              <a:rPr lang="en-US" sz="2000" dirty="0">
                <a:solidFill>
                  <a:srgbClr val="1E293B"/>
                </a:solidFill>
                <a:latin typeface="Arial" pitchFamily="34" charset="0"/>
                <a:ea typeface="Arial" pitchFamily="34" charset="-122"/>
                <a:cs typeface="Arial" pitchFamily="34" charset="-120"/>
              </a:rPr>
              <a:t>• CARD (gray): Signaling</a:t>
            </a:r>
            <a:endParaRPr lang="en-US" sz="2000" dirty="0"/>
          </a:p>
          <a:p>
            <a:pPr indent="0" marL="0">
              <a:buNone/>
            </a:pPr>
            <a:r>
              <a:rPr lang="en-US" sz="2000" dirty="0">
                <a:solidFill>
                  <a:srgbClr val="1E293B"/>
                </a:solidFill>
                <a:latin typeface="Arial" pitchFamily="34" charset="0"/>
                <a:ea typeface="Arial" pitchFamily="34" charset="-122"/>
                <a:cs typeface="Arial" pitchFamily="34" charset="-120"/>
              </a:rPr>
              <a:t>• NBD (blue): Nucleotide binding</a:t>
            </a:r>
            <a:endParaRPr lang="en-US" sz="2000" dirty="0"/>
          </a:p>
          <a:p>
            <a:pPr indent="0" marL="0">
              <a:buNone/>
            </a:pPr>
            <a:r>
              <a:rPr lang="en-US" sz="2000" dirty="0">
                <a:solidFill>
                  <a:srgbClr val="1E293B"/>
                </a:solidFill>
                <a:latin typeface="Arial" pitchFamily="34" charset="0"/>
                <a:ea typeface="Arial" pitchFamily="34" charset="-122"/>
                <a:cs typeface="Arial" pitchFamily="34" charset="-120"/>
              </a:rPr>
              <a:t>• HD2 (orange): R702W site</a:t>
            </a:r>
            <a:endParaRPr lang="en-US" sz="2000" dirty="0"/>
          </a:p>
          <a:p>
            <a:pPr indent="0" marL="0">
              <a:buNone/>
            </a:pPr>
            <a:r>
              <a:rPr lang="en-US" sz="2000" dirty="0">
                <a:solidFill>
                  <a:srgbClr val="1E293B"/>
                </a:solidFill>
                <a:latin typeface="Arial" pitchFamily="34" charset="0"/>
                <a:ea typeface="Arial" pitchFamily="34" charset="-122"/>
                <a:cs typeface="Arial" pitchFamily="34" charset="-120"/>
              </a:rPr>
              <a:t>• LRR (green): Ligand recognition</a:t>
            </a:r>
            <a:endParaRPr lang="en-US" sz="2000" dirty="0"/>
          </a:p>
          <a:p>
            <a:pPr indent="0" marL="0">
              <a:buNone/>
            </a:pPr>
            <a:endParaRPr lang="en-US" sz="2000" dirty="0"/>
          </a:p>
          <a:p>
            <a:pPr indent="0" marL="0">
              <a:buNone/>
            </a:pPr>
            <a:r>
              <a:rPr lang="en-US" sz="2000" dirty="0">
                <a:solidFill>
                  <a:srgbClr val="1E293B"/>
                </a:solidFill>
                <a:latin typeface="Arial" pitchFamily="34" charset="0"/>
                <a:ea typeface="Arial" pitchFamily="34" charset="-122"/>
                <a:cs typeface="Arial" pitchFamily="34" charset="-120"/>
              </a:rPr>
              <a:t>The R702W mutation is located 79.4Å from the binding pocket, suggesting an allosteric mechanism.</a:t>
            </a:r>
            <a:endParaRPr lang="en-US" sz="2000" dirty="0"/>
          </a:p>
        </p:txBody>
      </p:sp>
      <p:pic>
        <p:nvPicPr>
          <p:cNvPr id="28" name="Image 2" descr="figE2_transparent.png">    </p:cNvPr>
          <p:cNvPicPr>
            <a:picLocks noChangeAspect="1"/>
          </p:cNvPicPr>
          <p:nvPr/>
        </p:nvPicPr>
        <p:blipFill>
          <a:blip r:embed="rId3"/>
          <a:stretch>
            <a:fillRect/>
          </a:stretch>
        </p:blipFill>
        <p:spPr>
          <a:xfrm>
            <a:off x="8915400" y="28346400"/>
            <a:ext cx="5029200" cy="3200400"/>
          </a:xfrm>
          <a:prstGeom prst="rect">
            <a:avLst/>
          </a:prstGeom>
        </p:spPr>
      </p:pic>
      <p:sp>
        <p:nvSpPr>
          <p:cNvPr id="29" name="Shape 24"/>
          <p:cNvSpPr/>
          <p:nvPr/>
        </p:nvSpPr>
        <p:spPr>
          <a:xfrm>
            <a:off x="14666976" y="3236976"/>
            <a:ext cx="14173200" cy="18288000"/>
          </a:xfrm>
          <a:prstGeom prst="rect">
            <a:avLst/>
          </a:prstGeom>
          <a:solidFill>
            <a:srgbClr val="94A3B8"/>
          </a:solidFill>
          <a:ln/>
        </p:spPr>
      </p:sp>
      <p:sp>
        <p:nvSpPr>
          <p:cNvPr id="30" name="Shape 25"/>
          <p:cNvSpPr/>
          <p:nvPr/>
        </p:nvSpPr>
        <p:spPr>
          <a:xfrm>
            <a:off x="14630400" y="3200400"/>
            <a:ext cx="14173200" cy="18288000"/>
          </a:xfrm>
          <a:prstGeom prst="rect">
            <a:avLst/>
          </a:prstGeom>
          <a:solidFill>
            <a:srgbClr val="FFFFFF"/>
          </a:solidFill>
          <a:ln w="25400">
            <a:solidFill>
              <a:srgbClr val="1B3A5F"/>
            </a:solidFill>
            <a:prstDash val="solid"/>
          </a:ln>
        </p:spPr>
      </p:sp>
      <p:sp>
        <p:nvSpPr>
          <p:cNvPr id="31" name="Shape 26"/>
          <p:cNvSpPr/>
          <p:nvPr/>
        </p:nvSpPr>
        <p:spPr>
          <a:xfrm>
            <a:off x="14630400" y="3200400"/>
            <a:ext cx="14173200" cy="640080"/>
          </a:xfrm>
          <a:prstGeom prst="rect">
            <a:avLst/>
          </a:prstGeom>
          <a:solidFill>
            <a:srgbClr val="1B3A5F"/>
          </a:solidFill>
          <a:ln/>
        </p:spPr>
      </p:sp>
      <p:sp>
        <p:nvSpPr>
          <p:cNvPr id="32" name="Text 27"/>
          <p:cNvSpPr/>
          <p:nvPr/>
        </p:nvSpPr>
        <p:spPr>
          <a:xfrm>
            <a:off x="14813280" y="329184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Results</a:t>
            </a:r>
            <a:endParaRPr lang="en-US" sz="2800" dirty="0"/>
          </a:p>
        </p:txBody>
      </p:sp>
      <p:sp>
        <p:nvSpPr>
          <p:cNvPr id="33" name="Text 28"/>
          <p:cNvSpPr/>
          <p:nvPr/>
        </p:nvSpPr>
        <p:spPr>
          <a:xfrm>
            <a:off x="14813280" y="3977640"/>
            <a:ext cx="13716000" cy="457200"/>
          </a:xfrm>
          <a:prstGeom prst="rect">
            <a:avLst/>
          </a:prstGeom>
          <a:noFill/>
          <a:ln/>
        </p:spPr>
        <p:txBody>
          <a:bodyPr wrap="square" rtlCol="0" anchor="ctr"/>
          <a:lstStyle/>
          <a:p>
            <a:pPr indent="0" marL="0">
              <a:buNone/>
            </a:pPr>
            <a:r>
              <a:rPr lang="en-US" sz="2200" b="1" dirty="0">
                <a:solidFill>
                  <a:srgbClr val="1B3A5F"/>
                </a:solidFill>
                <a:latin typeface="Arial" pitchFamily="34" charset="0"/>
                <a:ea typeface="Arial" pitchFamily="34" charset="-122"/>
                <a:cs typeface="Arial" pitchFamily="34" charset="-120"/>
              </a:rPr>
              <a:t>Machine Learning Performance</a:t>
            </a:r>
            <a:endParaRPr lang="en-US" sz="2200" dirty="0"/>
          </a:p>
        </p:txBody>
      </p:sp>
      <p:pic>
        <p:nvPicPr>
          <p:cNvPr id="34" name="Image 3" descr="charts/ml_radar.png">    </p:cNvPr>
          <p:cNvPicPr>
            <a:picLocks noChangeAspect="1"/>
          </p:cNvPicPr>
          <p:nvPr/>
        </p:nvPicPr>
        <p:blipFill>
          <a:blip r:embed="rId4"/>
          <a:stretch>
            <a:fillRect/>
          </a:stretch>
        </p:blipFill>
        <p:spPr>
          <a:xfrm>
            <a:off x="17830800" y="4480560"/>
            <a:ext cx="7315200" cy="7315200"/>
          </a:xfrm>
          <a:prstGeom prst="rect">
            <a:avLst/>
          </a:prstGeom>
        </p:spPr>
      </p:pic>
      <p:sp>
        <p:nvSpPr>
          <p:cNvPr id="35" name="Text 29"/>
          <p:cNvSpPr/>
          <p:nvPr/>
        </p:nvSpPr>
        <p:spPr>
          <a:xfrm>
            <a:off x="14813280" y="11887200"/>
            <a:ext cx="13807440" cy="1280160"/>
          </a:xfrm>
          <a:prstGeom prst="rect">
            <a:avLst/>
          </a:prstGeom>
          <a:noFill/>
          <a:ln/>
        </p:spPr>
        <p:txBody>
          <a:bodyPr wrap="square" rtlCol="0" anchor="t"/>
          <a:lstStyle/>
          <a:p>
            <a:pPr indent="0" marL="0">
              <a:buNone/>
            </a:pPr>
            <a:r>
              <a:rPr lang="en-US" sz="2000" dirty="0">
                <a:solidFill>
                  <a:srgbClr val="1E293B"/>
                </a:solidFill>
                <a:latin typeface="Arial" pitchFamily="34" charset="0"/>
                <a:ea typeface="Arial" pitchFamily="34" charset="-122"/>
                <a:cs typeface="Arial" pitchFamily="34" charset="-120"/>
              </a:rPr>
              <a:t>NOD2-Scout achieved AUC 0.85-0.93 across 5-fold scaffold-split cross-validation (mean 0.89±0.03). Shuffled label controls (AUC ~0.50) confirmed genuine learning.</a:t>
            </a:r>
            <a:endParaRPr lang="en-US" sz="2000" dirty="0"/>
          </a:p>
        </p:txBody>
      </p:sp>
      <p:sp>
        <p:nvSpPr>
          <p:cNvPr id="36" name="Text 30"/>
          <p:cNvSpPr/>
          <p:nvPr/>
        </p:nvSpPr>
        <p:spPr>
          <a:xfrm>
            <a:off x="14813280" y="13350240"/>
            <a:ext cx="13716000" cy="457200"/>
          </a:xfrm>
          <a:prstGeom prst="rect">
            <a:avLst/>
          </a:prstGeom>
          <a:noFill/>
          <a:ln/>
        </p:spPr>
        <p:txBody>
          <a:bodyPr wrap="square" rtlCol="0" anchor="ctr"/>
          <a:lstStyle/>
          <a:p>
            <a:pPr indent="0" marL="0">
              <a:buNone/>
            </a:pPr>
            <a:r>
              <a:rPr lang="en-US" sz="2200" b="1" dirty="0">
                <a:solidFill>
                  <a:srgbClr val="1B3A5F"/>
                </a:solidFill>
                <a:latin typeface="Arial" pitchFamily="34" charset="0"/>
                <a:ea typeface="Arial" pitchFamily="34" charset="-122"/>
                <a:cs typeface="Arial" pitchFamily="34" charset="-120"/>
              </a:rPr>
              <a:t>Molecular Dynamics Analysis</a:t>
            </a:r>
            <a:endParaRPr lang="en-US" sz="2200" dirty="0"/>
          </a:p>
        </p:txBody>
      </p:sp>
      <p:pic>
        <p:nvPicPr>
          <p:cNvPr id="37" name="Image 4" descr="charts/md_diverging.png">    </p:cNvPr>
          <p:cNvPicPr>
            <a:picLocks noChangeAspect="1"/>
          </p:cNvPicPr>
          <p:nvPr/>
        </p:nvPicPr>
        <p:blipFill>
          <a:blip r:embed="rId5"/>
          <a:stretch>
            <a:fillRect/>
          </a:stretch>
        </p:blipFill>
        <p:spPr>
          <a:xfrm>
            <a:off x="14813280" y="13898880"/>
            <a:ext cx="13716000" cy="3657600"/>
          </a:xfrm>
          <a:prstGeom prst="rect">
            <a:avLst/>
          </a:prstGeom>
        </p:spPr>
      </p:pic>
      <p:sp>
        <p:nvSpPr>
          <p:cNvPr id="38" name="Text 31"/>
          <p:cNvSpPr/>
          <p:nvPr/>
        </p:nvSpPr>
        <p:spPr>
          <a:xfrm>
            <a:off x="14813280" y="17739360"/>
            <a:ext cx="13807440" cy="1097280"/>
          </a:xfrm>
          <a:prstGeom prst="rect">
            <a:avLst/>
          </a:prstGeom>
          <a:noFill/>
          <a:ln/>
        </p:spPr>
        <p:txBody>
          <a:bodyPr wrap="square" rtlCol="0" anchor="t"/>
          <a:lstStyle/>
          <a:p>
            <a:pPr indent="0" marL="0">
              <a:buNone/>
            </a:pPr>
            <a:r>
              <a:rPr lang="en-US" sz="2000" dirty="0">
                <a:solidFill>
                  <a:srgbClr val="1E293B"/>
                </a:solidFill>
                <a:latin typeface="Arial" pitchFamily="34" charset="0"/>
                <a:ea typeface="Arial" pitchFamily="34" charset="-122"/>
                <a:cs typeface="Arial" pitchFamily="34" charset="-120"/>
              </a:rPr>
              <a:t>The R702W mutation RIGIDIFIES the protein: reduced RMSD (3.27Å vs 4.05Å) and eliminated conformational heterogeneity (0% vs 12.6% frames &gt;5Å).</a:t>
            </a:r>
            <a:endParaRPr lang="en-US" sz="2000" dirty="0"/>
          </a:p>
        </p:txBody>
      </p:sp>
      <p:sp>
        <p:nvSpPr>
          <p:cNvPr id="39" name="Text 32"/>
          <p:cNvSpPr/>
          <p:nvPr/>
        </p:nvSpPr>
        <p:spPr>
          <a:xfrm>
            <a:off x="14813280" y="19019520"/>
            <a:ext cx="13716000" cy="457200"/>
          </a:xfrm>
          <a:prstGeom prst="rect">
            <a:avLst/>
          </a:prstGeom>
          <a:noFill/>
          <a:ln/>
        </p:spPr>
        <p:txBody>
          <a:bodyPr wrap="square" rtlCol="0" anchor="ctr"/>
          <a:lstStyle/>
          <a:p>
            <a:pPr indent="0" marL="0">
              <a:buNone/>
            </a:pPr>
            <a:r>
              <a:rPr lang="en-US" sz="2200" b="1" dirty="0">
                <a:solidFill>
                  <a:srgbClr val="1B3A5F"/>
                </a:solidFill>
                <a:latin typeface="Arial" pitchFamily="34" charset="0"/>
                <a:ea typeface="Arial" pitchFamily="34" charset="-122"/>
                <a:cs typeface="Arial" pitchFamily="34" charset="-120"/>
              </a:rPr>
              <a:t>Lead Compounds</a:t>
            </a:r>
            <a:endParaRPr lang="en-US" sz="2200" dirty="0"/>
          </a:p>
        </p:txBody>
      </p:sp>
      <p:pic>
        <p:nvPicPr>
          <p:cNvPr id="40" name="Image 5" descr="febuxostat_transparent.png">    </p:cNvPr>
          <p:cNvPicPr>
            <a:picLocks noChangeAspect="1"/>
          </p:cNvPicPr>
          <p:nvPr/>
        </p:nvPicPr>
        <p:blipFill>
          <a:blip r:embed="rId6"/>
          <a:stretch>
            <a:fillRect/>
          </a:stretch>
        </p:blipFill>
        <p:spPr>
          <a:xfrm>
            <a:off x="15087600" y="19568160"/>
            <a:ext cx="5943600" cy="4114800"/>
          </a:xfrm>
          <a:prstGeom prst="rect">
            <a:avLst/>
          </a:prstGeom>
        </p:spPr>
      </p:pic>
      <p:pic>
        <p:nvPicPr>
          <p:cNvPr id="41" name="Image 6" descr="bufadienolide_transparent.png">    </p:cNvPr>
          <p:cNvPicPr>
            <a:picLocks noChangeAspect="1"/>
          </p:cNvPicPr>
          <p:nvPr/>
        </p:nvPicPr>
        <p:blipFill>
          <a:blip r:embed="rId7"/>
          <a:stretch>
            <a:fillRect/>
          </a:stretch>
        </p:blipFill>
        <p:spPr>
          <a:xfrm>
            <a:off x="21488400" y="19568160"/>
            <a:ext cx="6400800" cy="4114800"/>
          </a:xfrm>
          <a:prstGeom prst="rect">
            <a:avLst/>
          </a:prstGeom>
        </p:spPr>
      </p:pic>
      <p:sp>
        <p:nvSpPr>
          <p:cNvPr id="42" name="Shape 33"/>
          <p:cNvSpPr/>
          <p:nvPr/>
        </p:nvSpPr>
        <p:spPr>
          <a:xfrm>
            <a:off x="14666976" y="21799296"/>
            <a:ext cx="14173200" cy="10241280"/>
          </a:xfrm>
          <a:prstGeom prst="rect">
            <a:avLst/>
          </a:prstGeom>
          <a:solidFill>
            <a:srgbClr val="94A3B8"/>
          </a:solidFill>
          <a:ln/>
        </p:spPr>
      </p:sp>
      <p:sp>
        <p:nvSpPr>
          <p:cNvPr id="43" name="Shape 34"/>
          <p:cNvSpPr/>
          <p:nvPr/>
        </p:nvSpPr>
        <p:spPr>
          <a:xfrm>
            <a:off x="14630400" y="21762720"/>
            <a:ext cx="14173200" cy="10241280"/>
          </a:xfrm>
          <a:prstGeom prst="rect">
            <a:avLst/>
          </a:prstGeom>
          <a:solidFill>
            <a:srgbClr val="FFFFFF"/>
          </a:solidFill>
          <a:ln w="25400">
            <a:solidFill>
              <a:srgbClr val="1B3A5F"/>
            </a:solidFill>
            <a:prstDash val="solid"/>
          </a:ln>
        </p:spPr>
      </p:sp>
      <p:sp>
        <p:nvSpPr>
          <p:cNvPr id="44" name="Shape 35"/>
          <p:cNvSpPr/>
          <p:nvPr/>
        </p:nvSpPr>
        <p:spPr>
          <a:xfrm>
            <a:off x="14630400" y="21762720"/>
            <a:ext cx="14173200" cy="640080"/>
          </a:xfrm>
          <a:prstGeom prst="rect">
            <a:avLst/>
          </a:prstGeom>
          <a:solidFill>
            <a:srgbClr val="1B3A5F"/>
          </a:solidFill>
          <a:ln/>
        </p:spPr>
      </p:sp>
      <p:sp>
        <p:nvSpPr>
          <p:cNvPr id="45" name="Text 36"/>
          <p:cNvSpPr/>
          <p:nvPr/>
        </p:nvSpPr>
        <p:spPr>
          <a:xfrm>
            <a:off x="14813280" y="2185416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Free Energy Perturbation Results</a:t>
            </a:r>
            <a:endParaRPr lang="en-US" sz="2800" dirty="0"/>
          </a:p>
        </p:txBody>
      </p:sp>
      <p:pic>
        <p:nvPicPr>
          <p:cNvPr id="46" name="Image 7" descr="charts/fep_table.png">    </p:cNvPr>
          <p:cNvPicPr>
            <a:picLocks noChangeAspect="1"/>
          </p:cNvPicPr>
          <p:nvPr/>
        </p:nvPicPr>
        <p:blipFill>
          <a:blip r:embed="rId8"/>
          <a:stretch>
            <a:fillRect/>
          </a:stretch>
        </p:blipFill>
        <p:spPr>
          <a:xfrm>
            <a:off x="14904720" y="22585680"/>
            <a:ext cx="13533120" cy="5029200"/>
          </a:xfrm>
          <a:prstGeom prst="rect">
            <a:avLst/>
          </a:prstGeom>
        </p:spPr>
      </p:pic>
      <p:sp>
        <p:nvSpPr>
          <p:cNvPr id="47" name="Text 37"/>
          <p:cNvSpPr/>
          <p:nvPr/>
        </p:nvSpPr>
        <p:spPr>
          <a:xfrm>
            <a:off x="14904720" y="27797760"/>
            <a:ext cx="13533120" cy="1645920"/>
          </a:xfrm>
          <a:prstGeom prst="rect">
            <a:avLst/>
          </a:prstGeom>
          <a:noFill/>
          <a:ln/>
        </p:spPr>
        <p:txBody>
          <a:bodyPr wrap="square" rtlCol="0" anchor="t"/>
          <a:lstStyle/>
          <a:p>
            <a:pPr indent="0" marL="0">
              <a:buNone/>
            </a:pPr>
            <a:r>
              <a:rPr lang="en-US" sz="2100" b="1" dirty="0">
                <a:solidFill>
                  <a:srgbClr val="1E293B"/>
                </a:solidFill>
                <a:latin typeface="Arial" pitchFamily="34" charset="0"/>
                <a:ea typeface="Arial" pitchFamily="34" charset="-122"/>
                <a:cs typeface="Arial" pitchFamily="34" charset="-120"/>
              </a:rPr>
              <a:t>Febuxostat: ΔΔG = +2.34 kcal/mol (8σ, p&lt;0.001) → 50× weaker binding in R702W</a:t>
            </a:r>
            <a:endParaRPr lang="en-US" sz="2100" dirty="0"/>
          </a:p>
          <a:p>
            <a:pPr indent="0" marL="0">
              <a:buNone/>
            </a:pPr>
            <a:r>
              <a:rPr lang="en-US" sz="2100" b="1" dirty="0">
                <a:solidFill>
                  <a:srgbClr val="1E293B"/>
                </a:solidFill>
                <a:latin typeface="Arial" pitchFamily="34" charset="0"/>
                <a:ea typeface="Arial" pitchFamily="34" charset="-122"/>
                <a:cs typeface="Arial" pitchFamily="34" charset="-120"/>
              </a:rPr>
              <a:t>Bufadienolide: ΔΔG = -0.44 kcal/mol (n.s.) → Mutation-resistant binding</a:t>
            </a:r>
            <a:endParaRPr lang="en-US" sz="2100" dirty="0"/>
          </a:p>
        </p:txBody>
      </p:sp>
      <p:pic>
        <p:nvPicPr>
          <p:cNvPr id="48" name="Image 8" descr="figE4_transparent.png">    </p:cNvPr>
          <p:cNvPicPr>
            <a:picLocks noChangeAspect="1"/>
          </p:cNvPicPr>
          <p:nvPr/>
        </p:nvPicPr>
        <p:blipFill>
          <a:blip r:embed="rId9"/>
          <a:stretch>
            <a:fillRect/>
          </a:stretch>
        </p:blipFill>
        <p:spPr>
          <a:xfrm>
            <a:off x="15087600" y="29535120"/>
            <a:ext cx="4114800" cy="2286000"/>
          </a:xfrm>
          <a:prstGeom prst="rect">
            <a:avLst/>
          </a:prstGeom>
        </p:spPr>
      </p:pic>
      <p:pic>
        <p:nvPicPr>
          <p:cNvPr id="49" name="Image 9" descr="figB1_transparent.png">    </p:cNvPr>
          <p:cNvPicPr>
            <a:picLocks noChangeAspect="1"/>
          </p:cNvPicPr>
          <p:nvPr/>
        </p:nvPicPr>
        <p:blipFill>
          <a:blip r:embed="rId10"/>
          <a:stretch>
            <a:fillRect/>
          </a:stretch>
        </p:blipFill>
        <p:spPr>
          <a:xfrm>
            <a:off x="19476720" y="29535120"/>
            <a:ext cx="4114800" cy="2286000"/>
          </a:xfrm>
          <a:prstGeom prst="rect">
            <a:avLst/>
          </a:prstGeom>
        </p:spPr>
      </p:pic>
      <p:pic>
        <p:nvPicPr>
          <p:cNvPr id="50" name="Image 10" descr="figE3_transparent.png">    </p:cNvPr>
          <p:cNvPicPr>
            <a:picLocks noChangeAspect="1"/>
          </p:cNvPicPr>
          <p:nvPr/>
        </p:nvPicPr>
        <p:blipFill>
          <a:blip r:embed="rId11"/>
          <a:stretch>
            <a:fillRect/>
          </a:stretch>
        </p:blipFill>
        <p:spPr>
          <a:xfrm>
            <a:off x="23865840" y="29535120"/>
            <a:ext cx="4114800" cy="2286000"/>
          </a:xfrm>
          <a:prstGeom prst="rect">
            <a:avLst/>
          </a:prstGeom>
        </p:spPr>
      </p:pic>
      <p:sp>
        <p:nvSpPr>
          <p:cNvPr id="51" name="Shape 38"/>
          <p:cNvSpPr/>
          <p:nvPr/>
        </p:nvSpPr>
        <p:spPr>
          <a:xfrm>
            <a:off x="29068776" y="3236976"/>
            <a:ext cx="14173200" cy="10972800"/>
          </a:xfrm>
          <a:prstGeom prst="rect">
            <a:avLst/>
          </a:prstGeom>
          <a:solidFill>
            <a:srgbClr val="94A3B8"/>
          </a:solidFill>
          <a:ln/>
        </p:spPr>
      </p:sp>
      <p:sp>
        <p:nvSpPr>
          <p:cNvPr id="52" name="Shape 39"/>
          <p:cNvSpPr/>
          <p:nvPr/>
        </p:nvSpPr>
        <p:spPr>
          <a:xfrm>
            <a:off x="29032200" y="3200400"/>
            <a:ext cx="14173200" cy="10972800"/>
          </a:xfrm>
          <a:prstGeom prst="rect">
            <a:avLst/>
          </a:prstGeom>
          <a:solidFill>
            <a:srgbClr val="FFFFFF"/>
          </a:solidFill>
          <a:ln w="25400">
            <a:solidFill>
              <a:srgbClr val="1B3A5F"/>
            </a:solidFill>
            <a:prstDash val="solid"/>
          </a:ln>
        </p:spPr>
      </p:sp>
      <p:sp>
        <p:nvSpPr>
          <p:cNvPr id="53" name="Shape 40"/>
          <p:cNvSpPr/>
          <p:nvPr/>
        </p:nvSpPr>
        <p:spPr>
          <a:xfrm>
            <a:off x="29032200" y="3200400"/>
            <a:ext cx="14173200" cy="640080"/>
          </a:xfrm>
          <a:prstGeom prst="rect">
            <a:avLst/>
          </a:prstGeom>
          <a:solidFill>
            <a:srgbClr val="1B3A5F"/>
          </a:solidFill>
          <a:ln/>
        </p:spPr>
      </p:sp>
      <p:sp>
        <p:nvSpPr>
          <p:cNvPr id="54" name="Text 41"/>
          <p:cNvSpPr/>
          <p:nvPr/>
        </p:nvSpPr>
        <p:spPr>
          <a:xfrm>
            <a:off x="29215080" y="329184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Conclusion and Discussion</a:t>
            </a:r>
            <a:endParaRPr lang="en-US" sz="2800" dirty="0"/>
          </a:p>
        </p:txBody>
      </p:sp>
      <p:sp>
        <p:nvSpPr>
          <p:cNvPr id="55" name="Text 42"/>
          <p:cNvSpPr/>
          <p:nvPr/>
        </p:nvSpPr>
        <p:spPr>
          <a:xfrm>
            <a:off x="29215080" y="3977640"/>
            <a:ext cx="13807440" cy="9875520"/>
          </a:xfrm>
          <a:prstGeom prst="rect">
            <a:avLst/>
          </a:prstGeom>
          <a:noFill/>
          <a:ln/>
        </p:spPr>
        <p:txBody>
          <a:bodyPr wrap="square" rtlCol="0" anchor="t"/>
          <a:lstStyle/>
          <a:p>
            <a:pPr indent="0" marL="0">
              <a:buNone/>
            </a:pPr>
            <a:r>
              <a:rPr lang="en-US" sz="2100" dirty="0">
                <a:solidFill>
                  <a:srgbClr val="1E293B"/>
                </a:solidFill>
                <a:latin typeface="Arial" pitchFamily="34" charset="0"/>
                <a:ea typeface="Arial" pitchFamily="34" charset="-122"/>
                <a:cs typeface="Arial" pitchFamily="34" charset="-120"/>
              </a:rPr>
              <a:t>This study presents the first computational pipeline for identifying mutation-sensitive NOD2 modulators.</a:t>
            </a:r>
            <a:endParaRPr lang="en-US" sz="2100" dirty="0"/>
          </a:p>
          <a:p>
            <a:pPr indent="0" marL="0">
              <a:buNone/>
            </a:pP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1. R702W RIGIDIFIES the protein</a:t>
            </a: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Reduced RMSD (3.27Å vs 4.05Å) and eliminated heterogeneity (0% vs 12.6%) indicate impaired conformational flexibility.</a:t>
            </a:r>
            <a:endParaRPr lang="en-US" sz="2100" dirty="0"/>
          </a:p>
          <a:p>
            <a:pPr indent="0" marL="0">
              <a:buNone/>
            </a:pP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2. Febuxostat is MUTATION-SENSITIVE</a:t>
            </a: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ΔΔG = +2.34 kcal/mol (p&lt;0.001) corresponds to 50× weaker binding in R702W. Febuxostat-based therapies would be less effective in variant carriers.</a:t>
            </a:r>
            <a:endParaRPr lang="en-US" sz="2100" dirty="0"/>
          </a:p>
          <a:p>
            <a:pPr indent="0" marL="0">
              <a:buNone/>
            </a:pP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3. Bufadienolide is MUTATION-RESISTANT</a:t>
            </a: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ΔΔG = -0.44 kcal/mol (n.s.) indicates equivalent binding regardless of genotype. This is the first reported NOD2-Bufadienolide interaction.</a:t>
            </a:r>
            <a:endParaRPr lang="en-US" sz="2100" dirty="0"/>
          </a:p>
          <a:p>
            <a:pPr indent="0" marL="0">
              <a:buNone/>
            </a:pP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4. Allosteric mechanism confirmed</a:t>
            </a: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The 79.4Å distance proves mutation affects binding through long-range conformational changes.</a:t>
            </a:r>
            <a:endParaRPr lang="en-US" sz="2100" dirty="0"/>
          </a:p>
        </p:txBody>
      </p:sp>
      <p:sp>
        <p:nvSpPr>
          <p:cNvPr id="56" name="Shape 43"/>
          <p:cNvSpPr/>
          <p:nvPr/>
        </p:nvSpPr>
        <p:spPr>
          <a:xfrm>
            <a:off x="29068776" y="14484096"/>
            <a:ext cx="14173200" cy="4572000"/>
          </a:xfrm>
          <a:prstGeom prst="rect">
            <a:avLst/>
          </a:prstGeom>
          <a:solidFill>
            <a:srgbClr val="94A3B8"/>
          </a:solidFill>
          <a:ln/>
        </p:spPr>
      </p:sp>
      <p:sp>
        <p:nvSpPr>
          <p:cNvPr id="57" name="Shape 44"/>
          <p:cNvSpPr/>
          <p:nvPr/>
        </p:nvSpPr>
        <p:spPr>
          <a:xfrm>
            <a:off x="29032200" y="14447520"/>
            <a:ext cx="14173200" cy="4572000"/>
          </a:xfrm>
          <a:prstGeom prst="rect">
            <a:avLst/>
          </a:prstGeom>
          <a:solidFill>
            <a:srgbClr val="FFFFFF"/>
          </a:solidFill>
          <a:ln w="25400">
            <a:solidFill>
              <a:srgbClr val="1B3A5F"/>
            </a:solidFill>
            <a:prstDash val="solid"/>
          </a:ln>
        </p:spPr>
      </p:sp>
      <p:sp>
        <p:nvSpPr>
          <p:cNvPr id="58" name="Shape 45"/>
          <p:cNvSpPr/>
          <p:nvPr/>
        </p:nvSpPr>
        <p:spPr>
          <a:xfrm>
            <a:off x="29032200" y="14447520"/>
            <a:ext cx="14173200" cy="640080"/>
          </a:xfrm>
          <a:prstGeom prst="rect">
            <a:avLst/>
          </a:prstGeom>
          <a:solidFill>
            <a:srgbClr val="1B3A5F"/>
          </a:solidFill>
          <a:ln/>
        </p:spPr>
      </p:sp>
      <p:sp>
        <p:nvSpPr>
          <p:cNvPr id="59" name="Text 46"/>
          <p:cNvSpPr/>
          <p:nvPr/>
        </p:nvSpPr>
        <p:spPr>
          <a:xfrm>
            <a:off x="29215080" y="1453896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Future Work</a:t>
            </a:r>
            <a:endParaRPr lang="en-US" sz="2800" dirty="0"/>
          </a:p>
        </p:txBody>
      </p:sp>
      <p:sp>
        <p:nvSpPr>
          <p:cNvPr id="60" name="Text 47"/>
          <p:cNvSpPr/>
          <p:nvPr/>
        </p:nvSpPr>
        <p:spPr>
          <a:xfrm>
            <a:off x="29215080" y="15224760"/>
            <a:ext cx="13807440" cy="3474720"/>
          </a:xfrm>
          <a:prstGeom prst="rect">
            <a:avLst/>
          </a:prstGeom>
          <a:noFill/>
          <a:ln/>
        </p:spPr>
        <p:txBody>
          <a:bodyPr wrap="square" rtlCol="0" anchor="t"/>
          <a:lstStyle/>
          <a:p>
            <a:pPr indent="0" marL="0">
              <a:buNone/>
            </a:pPr>
            <a:r>
              <a:rPr lang="en-US" sz="2100" dirty="0">
                <a:solidFill>
                  <a:srgbClr val="1E293B"/>
                </a:solidFill>
                <a:latin typeface="Arial" pitchFamily="34" charset="0"/>
                <a:ea typeface="Arial" pitchFamily="34" charset="-122"/>
                <a:cs typeface="Arial" pitchFamily="34" charset="-120"/>
              </a:rPr>
              <a:t>Experimental validation will be pursued using surface plasmon resonance (SPR), isothermal titration calorimetry (ITC), and hydrogen-deuterium exchange mass spectrometry (HDX-MS). The pipeline will be extended to G908R and 1007fs Crohn's variants. Structure-activity relationship studies on Bufadienolide analogs may identify improved derivatives.</a:t>
            </a:r>
            <a:endParaRPr lang="en-US" sz="2100" dirty="0"/>
          </a:p>
        </p:txBody>
      </p:sp>
      <p:sp>
        <p:nvSpPr>
          <p:cNvPr id="61" name="Shape 48"/>
          <p:cNvSpPr/>
          <p:nvPr/>
        </p:nvSpPr>
        <p:spPr>
          <a:xfrm>
            <a:off x="29068776" y="19330416"/>
            <a:ext cx="14173200" cy="5943600"/>
          </a:xfrm>
          <a:prstGeom prst="rect">
            <a:avLst/>
          </a:prstGeom>
          <a:solidFill>
            <a:srgbClr val="94A3B8"/>
          </a:solidFill>
          <a:ln/>
        </p:spPr>
      </p:sp>
      <p:sp>
        <p:nvSpPr>
          <p:cNvPr id="62" name="Shape 49"/>
          <p:cNvSpPr/>
          <p:nvPr/>
        </p:nvSpPr>
        <p:spPr>
          <a:xfrm>
            <a:off x="29032200" y="19293840"/>
            <a:ext cx="14173200" cy="5943600"/>
          </a:xfrm>
          <a:prstGeom prst="rect">
            <a:avLst/>
          </a:prstGeom>
          <a:solidFill>
            <a:srgbClr val="FFFFFF"/>
          </a:solidFill>
          <a:ln w="25400">
            <a:solidFill>
              <a:srgbClr val="1B3A5F"/>
            </a:solidFill>
            <a:prstDash val="solid"/>
          </a:ln>
        </p:spPr>
      </p:sp>
      <p:sp>
        <p:nvSpPr>
          <p:cNvPr id="63" name="Shape 50"/>
          <p:cNvSpPr/>
          <p:nvPr/>
        </p:nvSpPr>
        <p:spPr>
          <a:xfrm>
            <a:off x="29032200" y="19293840"/>
            <a:ext cx="14173200" cy="640080"/>
          </a:xfrm>
          <a:prstGeom prst="rect">
            <a:avLst/>
          </a:prstGeom>
          <a:solidFill>
            <a:srgbClr val="1B3A5F"/>
          </a:solidFill>
          <a:ln/>
        </p:spPr>
      </p:sp>
      <p:sp>
        <p:nvSpPr>
          <p:cNvPr id="64" name="Text 51"/>
          <p:cNvSpPr/>
          <p:nvPr/>
        </p:nvSpPr>
        <p:spPr>
          <a:xfrm>
            <a:off x="29215080" y="1938528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About the Researcher</a:t>
            </a:r>
            <a:endParaRPr lang="en-US" sz="2800" dirty="0"/>
          </a:p>
        </p:txBody>
      </p:sp>
      <p:sp>
        <p:nvSpPr>
          <p:cNvPr id="65" name="Text 52"/>
          <p:cNvSpPr/>
          <p:nvPr/>
        </p:nvSpPr>
        <p:spPr>
          <a:xfrm>
            <a:off x="29215080" y="20071080"/>
            <a:ext cx="13807440" cy="4937760"/>
          </a:xfrm>
          <a:prstGeom prst="rect">
            <a:avLst/>
          </a:prstGeom>
          <a:noFill/>
          <a:ln/>
        </p:spPr>
        <p:txBody>
          <a:bodyPr wrap="square" rtlCol="0" anchor="t"/>
          <a:lstStyle/>
          <a:p>
            <a:pPr indent="0" marL="0">
              <a:buNone/>
            </a:pPr>
            <a:r>
              <a:rPr lang="en-US" sz="2100" dirty="0">
                <a:solidFill>
                  <a:srgbClr val="1E293B"/>
                </a:solidFill>
                <a:latin typeface="Arial" pitchFamily="34" charset="0"/>
                <a:ea typeface="Arial" pitchFamily="34" charset="-122"/>
                <a:cs typeface="Arial" pitchFamily="34" charset="-120"/>
              </a:rPr>
              <a:t>I am a high school junior at Texas Virtual Academy at Hallsville with a personal connection to this research—I was diagnosed with Crohn's disease and carry the R702W mutation myself. This project combines my interests in computational biology, machine learning, and drug discovery to address a condition that affects my daily life.</a:t>
            </a:r>
            <a:endParaRPr lang="en-US" sz="2100" dirty="0"/>
          </a:p>
          <a:p>
            <a:pPr indent="0" marL="0">
              <a:buNone/>
            </a:pPr>
            <a:endParaRPr lang="en-US" sz="2100" dirty="0"/>
          </a:p>
          <a:p>
            <a:pPr indent="0" marL="0">
              <a:buNone/>
            </a:pPr>
            <a:r>
              <a:rPr lang="en-US" sz="2100" dirty="0">
                <a:solidFill>
                  <a:srgbClr val="1E293B"/>
                </a:solidFill>
                <a:latin typeface="Arial" pitchFamily="34" charset="0"/>
                <a:ea typeface="Arial" pitchFamily="34" charset="-122"/>
                <a:cs typeface="Arial" pitchFamily="34" charset="-120"/>
              </a:rPr>
              <a:t>All computational work was performed independently using a personal RTX 4060 Ti GPU and Google Colab Pro for extended simulations. No institutional laboratory resources were used.</a:t>
            </a:r>
            <a:endParaRPr lang="en-US" sz="2100" dirty="0"/>
          </a:p>
        </p:txBody>
      </p:sp>
      <p:sp>
        <p:nvSpPr>
          <p:cNvPr id="66" name="Shape 53"/>
          <p:cNvSpPr/>
          <p:nvPr/>
        </p:nvSpPr>
        <p:spPr>
          <a:xfrm>
            <a:off x="29068776" y="25548336"/>
            <a:ext cx="14173200" cy="6492240"/>
          </a:xfrm>
          <a:prstGeom prst="rect">
            <a:avLst/>
          </a:prstGeom>
          <a:solidFill>
            <a:srgbClr val="94A3B8"/>
          </a:solidFill>
          <a:ln/>
        </p:spPr>
      </p:sp>
      <p:sp>
        <p:nvSpPr>
          <p:cNvPr id="67" name="Shape 54"/>
          <p:cNvSpPr/>
          <p:nvPr/>
        </p:nvSpPr>
        <p:spPr>
          <a:xfrm>
            <a:off x="29032200" y="25511760"/>
            <a:ext cx="14173200" cy="6492240"/>
          </a:xfrm>
          <a:prstGeom prst="rect">
            <a:avLst/>
          </a:prstGeom>
          <a:solidFill>
            <a:srgbClr val="FFFFFF"/>
          </a:solidFill>
          <a:ln w="25400">
            <a:solidFill>
              <a:srgbClr val="1B3A5F"/>
            </a:solidFill>
            <a:prstDash val="solid"/>
          </a:ln>
        </p:spPr>
      </p:sp>
      <p:sp>
        <p:nvSpPr>
          <p:cNvPr id="68" name="Shape 55"/>
          <p:cNvSpPr/>
          <p:nvPr/>
        </p:nvSpPr>
        <p:spPr>
          <a:xfrm>
            <a:off x="29032200" y="25511760"/>
            <a:ext cx="14173200" cy="640080"/>
          </a:xfrm>
          <a:prstGeom prst="rect">
            <a:avLst/>
          </a:prstGeom>
          <a:solidFill>
            <a:srgbClr val="1B3A5F"/>
          </a:solidFill>
          <a:ln/>
        </p:spPr>
      </p:sp>
      <p:sp>
        <p:nvSpPr>
          <p:cNvPr id="69" name="Text 56"/>
          <p:cNvSpPr/>
          <p:nvPr/>
        </p:nvSpPr>
        <p:spPr>
          <a:xfrm>
            <a:off x="29215080" y="25603200"/>
            <a:ext cx="1380744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Key References</a:t>
            </a:r>
            <a:endParaRPr lang="en-US" sz="2800" dirty="0"/>
          </a:p>
        </p:txBody>
      </p:sp>
      <p:sp>
        <p:nvSpPr>
          <p:cNvPr id="70" name="Text 57"/>
          <p:cNvSpPr/>
          <p:nvPr/>
        </p:nvSpPr>
        <p:spPr>
          <a:xfrm>
            <a:off x="29215080" y="26289000"/>
            <a:ext cx="13807440" cy="5303520"/>
          </a:xfrm>
          <a:prstGeom prst="rect">
            <a:avLst/>
          </a:prstGeom>
          <a:noFill/>
          <a:ln/>
        </p:spPr>
        <p:txBody>
          <a:bodyPr wrap="square" rtlCol="0" anchor="t"/>
          <a:lstStyle/>
          <a:p>
            <a:pPr indent="0" marL="0">
              <a:buNone/>
            </a:pPr>
            <a:r>
              <a:rPr lang="en-US" sz="1800" dirty="0">
                <a:solidFill>
                  <a:srgbClr val="1E293B"/>
                </a:solidFill>
                <a:latin typeface="Arial" pitchFamily="34" charset="0"/>
                <a:ea typeface="Arial" pitchFamily="34" charset="-122"/>
                <a:cs typeface="Arial" pitchFamily="34" charset="-120"/>
              </a:rPr>
              <a:t>1. Hugot JP et al. (2001) Nature 411:599-603. NOD2 mutations in Crohn's disease.</a:t>
            </a:r>
            <a:endParaRPr lang="en-US" sz="1800" dirty="0"/>
          </a:p>
          <a:p>
            <a:pPr indent="0" marL="0">
              <a:buNone/>
            </a:pP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2. Jumper J et al. (2021) Nature 596:583-589. AlphaFold protein structure prediction.</a:t>
            </a:r>
            <a:endParaRPr lang="en-US" sz="1800" dirty="0"/>
          </a:p>
          <a:p>
            <a:pPr indent="0" marL="0">
              <a:buNone/>
            </a:pP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3. McNutt AT et al. (2021) J Cheminform 13:43. GNINA molecular docking.</a:t>
            </a:r>
            <a:endParaRPr lang="en-US" sz="1800" dirty="0"/>
          </a:p>
          <a:p>
            <a:pPr indent="0" marL="0">
              <a:buNone/>
            </a:pP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4. Gapsys V et al. (2022) Nat Protoc 17:1114-1141. pmx free energy calculations.</a:t>
            </a:r>
            <a:endParaRPr lang="en-US" sz="1800" dirty="0"/>
          </a:p>
          <a:p>
            <a:pPr indent="0" marL="0">
              <a:buNone/>
            </a:pPr>
            <a:endParaRPr lang="en-US" sz="1800" dirty="0"/>
          </a:p>
          <a:p>
            <a:pPr indent="0" marL="0">
              <a:buNone/>
            </a:pPr>
            <a:r>
              <a:rPr lang="en-US" sz="1800" dirty="0">
                <a:solidFill>
                  <a:srgbClr val="1E293B"/>
                </a:solidFill>
                <a:latin typeface="Arial" pitchFamily="34" charset="0"/>
                <a:ea typeface="Arial" pitchFamily="34" charset="-122"/>
                <a:cs typeface="Arial" pitchFamily="34" charset="-120"/>
              </a:rPr>
              <a:t>5. Abraham MJ et al. (2015) SoftwareX 1-2:19-25. GROMACS molecular dynamics.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2026-01-23T06:20:04Z</dcterms:created>
  <dcterms:modified xsi:type="dcterms:W3CDTF">2026-01-23T06:20:04Z</dcterms:modified>
</cp:coreProperties>
</file>