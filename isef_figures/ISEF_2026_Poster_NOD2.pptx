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200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A365D"/>
                </a:solidFill>
              </a:defRPr>
            </a:pPr>
            <a:r>
              <a:t>Deep Learning Guided Discovery and FEP Validation of NOD2 Binders for the R702W Crohn's 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3200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Tanmay Vasudeva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3200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i="1"/>
            </a:pPr>
            <a:r>
              <a:t>Texas Virtual Academy at Hallsville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31089600" cy="1097280"/>
          </a:xfrm>
          <a:prstGeom prst="roundRect">
            <a:avLst/>
          </a:prstGeom>
          <a:solidFill>
            <a:srgbClr val="F0F0F0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3072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/>
            </a:pPr>
            <a:r>
              <a:t>I built a screening pipeline for NOD2 binders and used FEP to quantify how the R702W variant changes binding for specific ligands, with apo MD providing supporting context.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03520"/>
            <a:ext cx="100584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/>
            </a:pPr>
            <a:r>
              <a:t>• NOD2 mutations cause 15-25% of Crohn's disease cases</a:t>
            </a:r>
          </a:p>
          <a:p>
            <a:pPr>
              <a:spcAft>
                <a:spcPts val="600"/>
              </a:spcAft>
              <a:defRPr sz="2400"/>
            </a:pPr>
            <a:r>
              <a:t>• R702W is the most common mutation (~10% of patients)</a:t>
            </a:r>
          </a:p>
          <a:p>
            <a:pPr>
              <a:spcAft>
                <a:spcPts val="600"/>
              </a:spcAft>
              <a:defRPr sz="2400"/>
            </a:pPr>
            <a:r>
              <a:t>• Hypothesis: Test mutation effects at molecular level with MD and FEP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0"/>
            <a:ext cx="100584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321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Computational Pipeline</a:t>
            </a:r>
          </a:p>
        </p:txBody>
      </p:sp>
      <p:pic>
        <p:nvPicPr>
          <p:cNvPr id="12" name="Picture 11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961120"/>
            <a:ext cx="10058400" cy="24126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17043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/>
            </a:pPr>
            <a:r>
              <a:t>• 9,566 compounds screened (FDA + natural products)</a:t>
            </a:r>
          </a:p>
          <a:p>
            <a:pPr>
              <a:spcAft>
                <a:spcPts val="600"/>
              </a:spcAft>
              <a:defRPr sz="2200"/>
            </a:pPr>
            <a:r>
              <a:t>• GNINA CNN-based docking on AlphaFold NOD2 LRR</a:t>
            </a:r>
          </a:p>
          <a:p>
            <a:pPr>
              <a:spcAft>
                <a:spcPts val="600"/>
              </a:spcAft>
              <a:defRPr sz="2200"/>
            </a:pPr>
            <a:r>
              <a:t>• NOD2-Scout ML model (AUC 0.85-0.93, scaffold-split CV)</a:t>
            </a:r>
          </a:p>
          <a:p>
            <a:pPr>
              <a:spcAft>
                <a:spcPts val="600"/>
              </a:spcAft>
              <a:defRPr sz="2200"/>
            </a:pPr>
            <a:r>
              <a:t>• 520 ns total MD simulation (OpenMM, AMBER14)</a:t>
            </a:r>
          </a:p>
          <a:p>
            <a:pPr>
              <a:spcAft>
                <a:spcPts val="600"/>
              </a:spcAft>
              <a:defRPr sz="2200"/>
            </a:pPr>
            <a:r>
              <a:t>• FEP binding validation (gold standard thermodynamics)</a:t>
            </a:r>
          </a:p>
        </p:txBody>
      </p:sp>
      <p:pic>
        <p:nvPicPr>
          <p:cNvPr id="14" name="Picture 13" descr="fig_ml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0"/>
            <a:ext cx="9144000" cy="581080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1247120" y="5303520"/>
            <a:ext cx="100584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0" y="5394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FEP Binding Free Energy (Key Result)</a:t>
            </a:r>
          </a:p>
        </p:txBody>
      </p:sp>
      <p:pic>
        <p:nvPicPr>
          <p:cNvPr id="17" name="Picture 16" descr="fig_f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6035040"/>
            <a:ext cx="9144000" cy="163717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247120" y="105156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/>
            </a:pPr>
            <a:r>
              <a:t>FEP Results (Gold Standard):</a:t>
            </a:r>
          </a:p>
          <a:p>
            <a:pPr>
              <a:spcAft>
                <a:spcPts val="600"/>
              </a:spcAft>
              <a:defRPr sz="2200"/>
            </a:pPr>
            <a:r>
              <a:t>• Febuxostat: ΔΔG = +2.34 kcal/mol</a:t>
            </a:r>
          </a:p>
          <a:p>
            <a:pPr>
              <a:spcAft>
                <a:spcPts val="600"/>
              </a:spcAft>
              <a:defRPr sz="2200"/>
            </a:pPr>
            <a:r>
              <a:t>  → 50× weaker binding in R702W (p&lt;0.001)</a:t>
            </a:r>
          </a:p>
          <a:p>
            <a:pPr>
              <a:spcAft>
                <a:spcPts val="600"/>
              </a:spcAft>
              <a:defRPr sz="2200"/>
            </a:pPr>
            <a:r>
              <a:t>• Bufadienolide: ΔΔG = -0.44 kcal/mol</a:t>
            </a:r>
          </a:p>
          <a:p>
            <a:pPr>
              <a:spcAft>
                <a:spcPts val="600"/>
              </a:spcAft>
              <a:defRPr sz="2200"/>
            </a:pPr>
            <a:r>
              <a:t>  → No significant change (n.s.)</a:t>
            </a:r>
          </a:p>
          <a:p>
            <a:pPr>
              <a:spcAft>
                <a:spcPts val="600"/>
              </a:spcAft>
              <a:defRPr sz="2200"/>
            </a:pPr>
          </a:p>
          <a:p>
            <a:pPr>
              <a:spcAft>
                <a:spcPts val="600"/>
              </a:spcAft>
              <a:defRPr sz="2200"/>
            </a:pPr>
            <a:r>
              <a:t>Key Finding: Ligand-dependent binding differences between WT and R702W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247120" y="13898880"/>
            <a:ext cx="100584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0" y="13990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MD Binding Validation</a:t>
            </a:r>
          </a:p>
        </p:txBody>
      </p:sp>
      <p:pic>
        <p:nvPicPr>
          <p:cNvPr id="21" name="Picture 20" descr="fig_pocket_occupan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0" y="14630400"/>
            <a:ext cx="9144000" cy="680459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2219920" y="5303520"/>
            <a:ext cx="100584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219920" y="5394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Apo MD Dynamics (Supporting Context)</a:t>
            </a:r>
          </a:p>
        </p:txBody>
      </p:sp>
      <p:pic>
        <p:nvPicPr>
          <p:cNvPr id="24" name="Picture 23" descr="fig_dynam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19920" y="6035040"/>
            <a:ext cx="10058400" cy="438443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219920" y="100584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/>
            </a:pPr>
            <a:r>
              <a:t>• WT: 12.6% frames exceed 5Å RMSD threshold</a:t>
            </a:r>
          </a:p>
          <a:p>
            <a:pPr>
              <a:spcAft>
                <a:spcPts val="600"/>
              </a:spcAft>
              <a:defRPr sz="2200"/>
            </a:pPr>
            <a:r>
              <a:t>• R702W: 0% frames exceed threshold</a:t>
            </a:r>
          </a:p>
          <a:p>
            <a:pPr>
              <a:spcAft>
                <a:spcPts val="600"/>
              </a:spcAft>
              <a:defRPr sz="2200"/>
            </a:pPr>
            <a:r>
              <a:t>• R702W shows reduced conformational sampling</a:t>
            </a:r>
          </a:p>
          <a:p>
            <a:pPr>
              <a:spcAft>
                <a:spcPts val="600"/>
              </a:spcAft>
              <a:defRPr sz="2200"/>
            </a:pPr>
            <a:r>
              <a:t>• Consistent with mutation-sensitive binding in FEP</a:t>
            </a:r>
          </a:p>
        </p:txBody>
      </p:sp>
      <p:pic>
        <p:nvPicPr>
          <p:cNvPr id="26" name="Picture 25" descr="fig_rmsd_tra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19920" y="12618720"/>
            <a:ext cx="10058400" cy="4939393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57200" y="19202400"/>
            <a:ext cx="146304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19293840"/>
            <a:ext cx="1463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9933920"/>
            <a:ext cx="1463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/>
            </a:pPr>
            <a:r>
              <a:t>1. Built deep learning pipeline screening 9,566 compounds against NOD2 LRR domain</a:t>
            </a:r>
          </a:p>
          <a:p>
            <a:pPr>
              <a:spcAft>
                <a:spcPts val="600"/>
              </a:spcAft>
              <a:defRPr sz="2400"/>
            </a:pPr>
          </a:p>
          <a:p>
            <a:pPr>
              <a:spcAft>
                <a:spcPts val="600"/>
              </a:spcAft>
              <a:defRPr sz="2400"/>
            </a:pPr>
            <a:r>
              <a:t>2. FEP quantifies mutation-sensitive binding:</a:t>
            </a:r>
          </a:p>
          <a:p>
            <a:pPr>
              <a:spcAft>
                <a:spcPts val="600"/>
              </a:spcAft>
              <a:defRPr sz="2400"/>
            </a:pPr>
            <a:r>
              <a:t>   • Febuxostat: ΔΔG = +2.34 kcal/mol (50× weaker in R702W, p&lt;0.001)</a:t>
            </a:r>
          </a:p>
          <a:p>
            <a:pPr>
              <a:spcAft>
                <a:spcPts val="600"/>
              </a:spcAft>
              <a:defRPr sz="2400"/>
            </a:pPr>
            <a:r>
              <a:t>   • Bufadienolide: ΔΔG = -0.44 kcal/mol (no significant change)</a:t>
            </a:r>
          </a:p>
          <a:p>
            <a:pPr>
              <a:spcAft>
                <a:spcPts val="600"/>
              </a:spcAft>
              <a:defRPr sz="2400"/>
            </a:pPr>
          </a:p>
          <a:p>
            <a:pPr>
              <a:spcAft>
                <a:spcPts val="600"/>
              </a:spcAft>
              <a:defRPr sz="2400"/>
            </a:pPr>
            <a:r>
              <a:t>3. Apo MD shows reduced conformational sampling in R702W vs WT (0% vs 12.6% frames &gt;5Å)</a:t>
            </a:r>
          </a:p>
          <a:p>
            <a:pPr>
              <a:spcAft>
                <a:spcPts val="600"/>
              </a:spcAft>
              <a:defRPr sz="2400"/>
            </a:pPr>
          </a:p>
          <a:p>
            <a:pPr>
              <a:spcAft>
                <a:spcPts val="600"/>
              </a:spcAft>
              <a:defRPr sz="2400"/>
            </a:pPr>
            <a:r>
              <a:t>4. Identified key binding residues: GLU1008, ARG1037, ASP1011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00" y="19202400"/>
            <a:ext cx="73152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0" y="19293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0" y="19933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FEP performed on 2 ligands only</a:t>
            </a:r>
          </a:p>
          <a:p>
            <a:pPr>
              <a:spcAft>
                <a:spcPts val="600"/>
              </a:spcAft>
              <a:defRPr sz="2000"/>
            </a:pPr>
            <a:r>
              <a:t>• Apo MD simulations only</a:t>
            </a:r>
          </a:p>
          <a:p>
            <a:pPr>
              <a:spcAft>
                <a:spcPts val="600"/>
              </a:spcAft>
              <a:defRPr sz="2000"/>
            </a:pPr>
            <a:r>
              <a:t>• Computational predictions require</a:t>
            </a:r>
          </a:p>
          <a:p>
            <a:pPr>
              <a:spcAft>
                <a:spcPts val="600"/>
              </a:spcAft>
              <a:defRPr sz="2000"/>
            </a:pPr>
            <a:r>
              <a:t>  experimental validation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0" y="19202400"/>
            <a:ext cx="7315200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00" y="19293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0" y="19933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SPR/ITC experimental validation</a:t>
            </a:r>
          </a:p>
          <a:p>
            <a:pPr>
              <a:spcAft>
                <a:spcPts val="600"/>
              </a:spcAft>
              <a:defRPr sz="2000"/>
            </a:pPr>
            <a:r>
              <a:t>• Test additional mutations</a:t>
            </a:r>
          </a:p>
          <a:p>
            <a:pPr>
              <a:spcAft>
                <a:spcPts val="600"/>
              </a:spcAft>
              <a:defRPr sz="2000"/>
            </a:pPr>
            <a:r>
              <a:t>  (G908R, L1007fs)</a:t>
            </a:r>
          </a:p>
          <a:p>
            <a:pPr>
              <a:spcAft>
                <a:spcPts val="600"/>
              </a:spcAft>
              <a:defRPr sz="2000"/>
            </a:pPr>
            <a:r>
              <a:t>• HDX-MS experiments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519600"/>
            <a:ext cx="3200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Generated with Claude Code | ISEF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