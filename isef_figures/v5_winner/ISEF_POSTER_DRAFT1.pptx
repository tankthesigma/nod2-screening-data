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32918400" cx="43891200"/>
  <p:notesSz cx="32918400" cy="4389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9.png"/><Relationship Id="rId13" Type="http://schemas.openxmlformats.org/officeDocument/2006/relationships/image" Target="../media/image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E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3891200" cy="3840600"/>
          </a:xfrm>
          <a:prstGeom prst="rect">
            <a:avLst/>
          </a:prstGeom>
          <a:solidFill>
            <a:srgbClr val="0F28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3840480"/>
            <a:ext cx="43891200" cy="137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65760"/>
            <a:ext cx="42976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Learning Guided Discovery and FEP Validation of</a:t>
            </a:r>
            <a:endParaRPr b="0" i="0" sz="8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NOD2 Binders for the R702W Crohn's Variant</a:t>
            </a:r>
            <a:endParaRPr b="0" i="0" sz="8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377450"/>
            <a:ext cx="4297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C107"/>
                </a:solidFill>
                <a:latin typeface="Arial"/>
                <a:ea typeface="Arial"/>
                <a:cs typeface="Arial"/>
                <a:sym typeface="Arial"/>
              </a:rPr>
              <a:t>Tanmay Vasudeva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017520"/>
            <a:ext cx="4297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rPr>
              <a:t>Texas Virtual Academy at Hallsville  |  Fort Worth Regional Science Fair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38912" y="4462272"/>
            <a:ext cx="13716000" cy="56694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389120"/>
            <a:ext cx="13716000" cy="566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4389120"/>
            <a:ext cx="137160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65760" y="4389120"/>
            <a:ext cx="13716000" cy="1005900"/>
          </a:xfrm>
          <a:prstGeom prst="rect">
            <a:avLst/>
          </a:prstGeom>
          <a:solidFill>
            <a:srgbClr val="1731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INTRODUCTION</a:t>
            </a:r>
            <a:endParaRPr b="1" sz="5000">
              <a:solidFill>
                <a:srgbClr val="FFFFFF"/>
              </a:solidFill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5577840"/>
            <a:ext cx="13167300" cy="42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212121"/>
                </a:solidFill>
              </a:rPr>
              <a:t>Crohn's disease affects over </a:t>
            </a:r>
            <a:r>
              <a:rPr b="1" lang="en-US" sz="2300">
                <a:solidFill>
                  <a:srgbClr val="212121"/>
                </a:solidFill>
              </a:rPr>
              <a:t>3 million Americans</a:t>
            </a:r>
            <a:r>
              <a:rPr lang="en-US" sz="2300">
                <a:solidFill>
                  <a:srgbClr val="212121"/>
                </a:solidFill>
              </a:rPr>
              <a:t>, causing chronic inflammation of the digestive tract. The NOD2 protein acts as an immune sensor, detecting bacterial cell wall components and triggering protective responses.</a:t>
            </a:r>
            <a:endParaRPr sz="23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212121"/>
                </a:solidFill>
              </a:rPr>
              <a:t>  The R702W mutation is a single amino acid change (Arginine → Tryptophan at position 702) that increases Crohn's disease risk 3-fold by impairing bacterial detection. Found in </a:t>
            </a:r>
            <a:r>
              <a:rPr b="1" lang="en-US" sz="2300">
                <a:solidFill>
                  <a:srgbClr val="212121"/>
                </a:solidFill>
              </a:rPr>
              <a:t>~10-14%</a:t>
            </a:r>
            <a:r>
              <a:rPr lang="en-US" sz="2300">
                <a:solidFill>
                  <a:srgbClr val="212121"/>
                </a:solidFill>
              </a:rPr>
              <a:t> of Crohn's patients, despite decades of research, </a:t>
            </a:r>
            <a:r>
              <a:rPr b="1" lang="en-US" sz="2300">
                <a:solidFill>
                  <a:srgbClr val="212121"/>
                </a:solidFill>
              </a:rPr>
              <a:t>no therapeutics</a:t>
            </a:r>
            <a:r>
              <a:rPr lang="en-US" sz="2300">
                <a:solidFill>
                  <a:srgbClr val="212121"/>
                </a:solidFill>
              </a:rPr>
              <a:t> specifically </a:t>
            </a:r>
            <a:r>
              <a:rPr b="1" lang="en-US" sz="2300">
                <a:solidFill>
                  <a:srgbClr val="212121"/>
                </a:solidFill>
              </a:rPr>
              <a:t>target </a:t>
            </a:r>
            <a:r>
              <a:rPr lang="en-US" sz="2300">
                <a:solidFill>
                  <a:srgbClr val="212121"/>
                </a:solidFill>
              </a:rPr>
              <a:t>this genetic variant.</a:t>
            </a:r>
            <a:endParaRPr sz="23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212121"/>
                </a:solidFill>
              </a:rPr>
              <a:t>  This project uses </a:t>
            </a:r>
            <a:r>
              <a:rPr b="1" lang="en-US" sz="2300">
                <a:solidFill>
                  <a:srgbClr val="212121"/>
                </a:solidFill>
              </a:rPr>
              <a:t>computational drug</a:t>
            </a:r>
            <a:r>
              <a:rPr lang="en-US" sz="2300">
                <a:solidFill>
                  <a:srgbClr val="212121"/>
                </a:solidFill>
              </a:rPr>
              <a:t> discovery to identify compounds that maintain binding in BOTH wild-type and R702W NOD2, enabling treatment for all patients regardless of genotype.</a:t>
            </a:r>
            <a:endParaRPr sz="2300">
              <a:solidFill>
                <a:srgbClr val="21212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Arial"/>
              <a:buNone/>
            </a:pPr>
            <a:r>
              <a:t/>
            </a:r>
            <a:endParaRPr sz="2300">
              <a:solidFill>
                <a:srgbClr val="212121"/>
              </a:solidFill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8912" y="10314432"/>
            <a:ext cx="13716000" cy="2011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65760" y="10241280"/>
            <a:ext cx="13716000" cy="2011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65760" y="10241280"/>
            <a:ext cx="13716000" cy="10059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65760" y="10241280"/>
            <a:ext cx="13716000" cy="1005900"/>
          </a:xfrm>
          <a:prstGeom prst="rect">
            <a:avLst/>
          </a:prstGeom>
          <a:solidFill>
            <a:srgbClr val="1F3B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11430000"/>
            <a:ext cx="1316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200"/>
              <a:buFont typeface="Arial"/>
              <a:buNone/>
            </a:pPr>
            <a:r>
              <a:rPr b="1" i="1" lang="en-US" sz="2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Can computational methods identify compounds that bind NOD2 with PRESERVED affinity in both wild-type and R702W variants?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38912" y="12508992"/>
            <a:ext cx="13716000" cy="50292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65760" y="12435840"/>
            <a:ext cx="13716000" cy="5029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65760" y="12435840"/>
            <a:ext cx="137160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365760" y="12435840"/>
            <a:ext cx="13716000" cy="1005900"/>
          </a:xfrm>
          <a:prstGeom prst="rect">
            <a:avLst/>
          </a:prstGeom>
          <a:solidFill>
            <a:srgbClr val="274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METHODS: SCREENING PIPELINE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080" y="16916400"/>
            <a:ext cx="1316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0" i="0" lang="en-US" sz="2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9,566 compounds from COCONUT and </a:t>
            </a:r>
            <a:r>
              <a:rPr lang="en-US" sz="2000">
                <a:solidFill>
                  <a:srgbClr val="212121"/>
                </a:solidFill>
              </a:rPr>
              <a:t>e-Drug3D </a:t>
            </a:r>
            <a:r>
              <a:rPr b="0" i="0" lang="en-US" sz="2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libraries screened through GNINA docking, NOD2-Scout ML classifier, GROMACS MD, and pmx FEP. Pipeline achieved </a:t>
            </a:r>
            <a:r>
              <a:rPr b="1" i="0" lang="en-US" sz="2000" u="none" cap="none" strike="noStrike">
                <a:solidFill>
                  <a:srgbClr val="212121"/>
                </a:solidFill>
              </a:rPr>
              <a:t>99.98%</a:t>
            </a:r>
            <a:r>
              <a:rPr b="0" i="0" lang="en-US" sz="2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reduction to 2 candidates.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38912" y="17721072"/>
            <a:ext cx="13716000" cy="38406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365760" y="17647920"/>
            <a:ext cx="13716000" cy="384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365760" y="17647920"/>
            <a:ext cx="13716000" cy="10059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365760" y="17647920"/>
            <a:ext cx="13716000" cy="1005900"/>
          </a:xfrm>
          <a:prstGeom prst="rect">
            <a:avLst/>
          </a:prstGeom>
          <a:solidFill>
            <a:srgbClr val="274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FEP METHODOLOGY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0080" y="18836640"/>
            <a:ext cx="131673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200">
                <a:solidFill>
                  <a:srgbClr val="212121"/>
                </a:solidFill>
              </a:rPr>
              <a:t>Free Energy Perturbation (FEP) is the gold standard for computing binding free energies. The method uses ligand decoupling, gradually turning off ligand-protein interactions in both WT and R702W systems, then comparing results. Each system uses 20 lambda windows with 1 ns sampling per window. With 3 legs (WT complex, R702W complex, solvent) this totals 60 ns per compound. Boresch restraints (7.588 kcal/mol correction) prevent ligand drift. The MBAR estimator calculates ΔΔG; positive values indicate weaker mutant binding.</a:t>
            </a:r>
            <a:endParaRPr sz="2200">
              <a:solidFill>
                <a:srgbClr val="212121"/>
              </a:solidFill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38912" y="21744432"/>
            <a:ext cx="13716000" cy="53034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65750" y="21695700"/>
            <a:ext cx="13716000" cy="1085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365760" y="21671280"/>
            <a:ext cx="137160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65760" y="21671280"/>
            <a:ext cx="13716000" cy="1005900"/>
          </a:xfrm>
          <a:prstGeom prst="rect">
            <a:avLst/>
          </a:prstGeom>
          <a:solidFill>
            <a:srgbClr val="2F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NOD2 STRUCTURE &amp; MUTATION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41305" y="22914650"/>
            <a:ext cx="1316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R702W is 79.4 Å from the binding pocket, indicating an ALLOSTERIC mechanism.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A1_transparent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78" y="22311375"/>
            <a:ext cx="7237020" cy="72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 flipH="1" rot="10800000">
            <a:off x="640075" y="29805905"/>
            <a:ext cx="1316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703552" y="4462272"/>
            <a:ext cx="14173200" cy="59436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4630400" y="4389120"/>
            <a:ext cx="14173200" cy="5943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4630400" y="4389120"/>
            <a:ext cx="14173200" cy="10059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4630400" y="4389120"/>
            <a:ext cx="14173200" cy="1005900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MD RESULTS: BINDING VALIDATION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4904720" y="5577840"/>
            <a:ext cx="1362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rPr b="0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Pocket occupancy measures the percentage of simulation frames where the ligand remains within </a:t>
            </a:r>
            <a:r>
              <a:rPr b="1" i="0" lang="en-US" sz="2500" u="none" cap="none" strike="noStrike">
                <a:solidFill>
                  <a:srgbClr val="212121"/>
                </a:solidFill>
              </a:rPr>
              <a:t>5 Å </a:t>
            </a:r>
            <a:r>
              <a:rPr b="0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of the binding site. A negative control (Cysteamine) validates the assay.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5133345" y="9995085"/>
            <a:ext cx="1362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Lead compounds maintain 70-80% occupancy with ~2 H-bonds. Control unbinds immediately (0%),</a:t>
            </a:r>
            <a:r>
              <a:rPr b="1" i="0" lang="en-US" sz="2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validating the assay.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4703552" y="10588752"/>
            <a:ext cx="14173200" cy="68580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630400" y="10515600"/>
            <a:ext cx="14173200" cy="6858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4630400" y="10515600"/>
            <a:ext cx="14173200" cy="10059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4630400" y="10515600"/>
            <a:ext cx="14173200" cy="1005900"/>
          </a:xfrm>
          <a:prstGeom prst="rect">
            <a:avLst/>
          </a:prstGeom>
          <a:solidFill>
            <a:srgbClr val="476A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FEP RESULTS: WT vs R702W BINDING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4919608" y="17036425"/>
            <a:ext cx="1362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Circle = Wild-Type | Square = R702W | Distance between points = binding difference (ΔΔG)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4703552" y="17629632"/>
            <a:ext cx="14173200" cy="48462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4630400" y="17556480"/>
            <a:ext cx="141732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4630400" y="17556480"/>
            <a:ext cx="141732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4630400" y="17556480"/>
            <a:ext cx="14173200" cy="1005900"/>
          </a:xfrm>
          <a:prstGeom prst="rect">
            <a:avLst/>
          </a:prstGeom>
          <a:solidFill>
            <a:srgbClr val="4F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MUTATION EFFECT: ΔΔG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4904720" y="22219920"/>
            <a:ext cx="1362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Gray zone (±0.6 kcal/mol) = noise 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4703552" y="22658832"/>
            <a:ext cx="14173200" cy="99669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4630400" y="22585680"/>
            <a:ext cx="14173200" cy="996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4630400" y="22585680"/>
            <a:ext cx="141732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4630400" y="22585680"/>
            <a:ext cx="14173200" cy="1005900"/>
          </a:xfrm>
          <a:prstGeom prst="rect">
            <a:avLst/>
          </a:prstGeom>
          <a:solidFill>
            <a:srgbClr val="5F86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R702W LOSES BINDING: RIGIDIFICATION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4904720" y="23774400"/>
            <a:ext cx="1362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rPr b="0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R702W mutation causes NOD2 to become </a:t>
            </a:r>
            <a:r>
              <a:rPr b="1" i="0" lang="en-US" sz="2500" u="none" cap="none" strike="noStrike">
                <a:solidFill>
                  <a:srgbClr val="212121"/>
                </a:solidFill>
              </a:rPr>
              <a:t>RIGID</a:t>
            </a:r>
            <a:r>
              <a:rPr b="0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losing the conformational flexibility required for proper function. This occurs </a:t>
            </a:r>
            <a:r>
              <a:rPr b="1" i="0" lang="en-US" sz="2500" u="none" cap="none" strike="noStrike">
                <a:solidFill>
                  <a:srgbClr val="212121"/>
                </a:solidFill>
              </a:rPr>
              <a:t>79.4 Å </a:t>
            </a:r>
            <a:r>
              <a:rPr b="0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from the binding site (allosteric effect).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free_energy_landscape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04720" y="24688800"/>
            <a:ext cx="13624559" cy="59435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4904720" y="30723840"/>
            <a:ext cx="1362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9425400" y="12505562"/>
            <a:ext cx="14173200" cy="48510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9352250" y="12432412"/>
            <a:ext cx="14173200" cy="4851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9352240" y="12432407"/>
            <a:ext cx="14173200" cy="1005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9352240" y="12432407"/>
            <a:ext cx="14173200" cy="1005900"/>
          </a:xfrm>
          <a:prstGeom prst="rect">
            <a:avLst/>
          </a:prstGeom>
          <a:solidFill>
            <a:srgbClr val="6790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COMPOUNDS IDENTIFIED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ebuxostat_transparent.png" id="75" name="Google Shape;75;p3"/>
          <p:cNvPicPr preferRelativeResize="0"/>
          <p:nvPr/>
        </p:nvPicPr>
        <p:blipFill rotWithShape="1">
          <a:blip r:embed="rId5">
            <a:alphaModFix/>
          </a:blip>
          <a:srcRect b="-7959" l="0" r="0" t="7960"/>
          <a:stretch/>
        </p:blipFill>
        <p:spPr>
          <a:xfrm>
            <a:off x="29308887" y="13089712"/>
            <a:ext cx="6716202" cy="39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29425410" y="15678910"/>
            <a:ext cx="5943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FEBUXOSTAT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FDA-approved (gout)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Binding </a:t>
            </a:r>
            <a:r>
              <a:rPr i="0" lang="en-US" sz="2300" u="none" cap="none" strike="noStrike">
                <a:solidFill>
                  <a:srgbClr val="C62828"/>
                </a:solidFill>
              </a:rPr>
              <a:t>LOST </a:t>
            </a:r>
            <a:r>
              <a:rPr b="1" i="0" lang="en-US" sz="23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in R702W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fadienolide_transparent.png"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57225" y="12709720"/>
            <a:ext cx="6419100" cy="373475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36932720" y="15678898"/>
            <a:ext cx="5943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BUFADIENOLIDE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Natural NF-κB inhibitor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Binding PRESERVED!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9498542" y="17794227"/>
            <a:ext cx="14173200" cy="82296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9425390" y="17721075"/>
            <a:ext cx="14173200" cy="8229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9425390" y="17721075"/>
            <a:ext cx="14173200" cy="10059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9425390" y="17721075"/>
            <a:ext cx="14173200" cy="1005900"/>
          </a:xfrm>
          <a:prstGeom prst="rect">
            <a:avLst/>
          </a:prstGeom>
          <a:solidFill>
            <a:srgbClr val="6F99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9699700" y="18909798"/>
            <a:ext cx="136245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9571713" y="29663278"/>
            <a:ext cx="14173200" cy="28593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9498563" y="29590127"/>
            <a:ext cx="14173200" cy="285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9498553" y="29590130"/>
            <a:ext cx="14173200" cy="10059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9498553" y="29590130"/>
            <a:ext cx="14173200" cy="1005900"/>
          </a:xfrm>
          <a:prstGeom prst="rect">
            <a:avLst/>
          </a:prstGeom>
          <a:solidFill>
            <a:srgbClr val="7FA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9772863" y="30778850"/>
            <a:ext cx="136245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b="0" i="0" lang="en-US" sz="19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These computational predictions require experimental validation through biophysical assays (SPR, ITC) and cellular functional assays. The AlphaFold2 structure may contain inaccuracies in flexible regions. Only R702W was tested; other Crohn's mutations (G908R, 1007fs) need investigation.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b="0" i="0" lang="en-US" sz="19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Future work will focus on experimental binding validation, testing in NOD2 reporter cell lines, and extending screening to additional disease-associated mutations.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31578925" y="18684325"/>
            <a:ext cx="124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29673925" y="18855275"/>
            <a:ext cx="13716000" cy="7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>
                <a:solidFill>
                  <a:srgbClr val="212121"/>
                </a:solidFill>
              </a:rPr>
              <a:t>This study demonstrates that computational drug discovery can identify mutation-tolerant compounds for genetically heterogeneous diseases like Crohn's disease.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>
                <a:solidFill>
                  <a:srgbClr val="212121"/>
                </a:solidFill>
              </a:rPr>
              <a:t>MD simulations validated that both leads maintain stable binding (</a:t>
            </a:r>
            <a:r>
              <a:rPr b="1" lang="en-US" sz="2600">
                <a:solidFill>
                  <a:srgbClr val="212121"/>
                </a:solidFill>
              </a:rPr>
              <a:t>70-80% pocket occupancy)</a:t>
            </a:r>
            <a:r>
              <a:rPr lang="en-US" sz="2600">
                <a:solidFill>
                  <a:srgbClr val="212121"/>
                </a:solidFill>
              </a:rPr>
              <a:t> while the negative control correctly unbinds (0%), confirming assay reliability and specificity.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>
                <a:solidFill>
                  <a:srgbClr val="212121"/>
                </a:solidFill>
              </a:rPr>
              <a:t>FEP calculations revealed dramatically different mutation sensitivity: Febuxostat loses 50-fold binding affinity in </a:t>
            </a:r>
            <a:r>
              <a:rPr b="1" lang="en-US" sz="2600">
                <a:solidFill>
                  <a:srgbClr val="212121"/>
                </a:solidFill>
              </a:rPr>
              <a:t>R702W (ΔΔG = +2.34 kcal/mol, p &lt; 0.001),</a:t>
            </a:r>
            <a:r>
              <a:rPr lang="en-US" sz="2600">
                <a:solidFill>
                  <a:srgbClr val="212121"/>
                </a:solidFill>
              </a:rPr>
              <a:t> while Bufadienolide maintains equivalent binding </a:t>
            </a:r>
            <a:r>
              <a:rPr b="1" lang="en-US" sz="2600">
                <a:solidFill>
                  <a:srgbClr val="212121"/>
                </a:solidFill>
              </a:rPr>
              <a:t>(ΔΔG = -0.44 kcal/mol, not significant)</a:t>
            </a:r>
            <a:r>
              <a:rPr lang="en-US" sz="2600">
                <a:solidFill>
                  <a:srgbClr val="212121"/>
                </a:solidFill>
              </a:rPr>
              <a:t>, demonstrating </a:t>
            </a:r>
            <a:r>
              <a:rPr b="1" lang="en-US" sz="2600">
                <a:solidFill>
                  <a:srgbClr val="212121"/>
                </a:solidFill>
              </a:rPr>
              <a:t>mutation-agonistic </a:t>
            </a:r>
            <a:r>
              <a:rPr lang="en-US" sz="2600">
                <a:solidFill>
                  <a:srgbClr val="212121"/>
                </a:solidFill>
              </a:rPr>
              <a:t>behavior.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>
                <a:solidFill>
                  <a:srgbClr val="212121"/>
                </a:solidFill>
              </a:rPr>
              <a:t>The molecular mechanism was identified: R702W rigidifies NOD2 through an allosteric effect, eliminating the conformational flexibility required for certain drugs to bind.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12121"/>
                </a:solidFill>
              </a:rPr>
              <a:t>MUTATION-AGNOSTIC NOD2 therapeutics </a:t>
            </a:r>
            <a:r>
              <a:rPr b="1" lang="en-US" sz="2600">
                <a:solidFill>
                  <a:srgbClr val="212121"/>
                </a:solidFill>
              </a:rPr>
              <a:t>ARE ACHIEVABLE</a:t>
            </a:r>
            <a:r>
              <a:rPr lang="en-US" sz="2600">
                <a:solidFill>
                  <a:srgbClr val="212121"/>
                </a:solidFill>
              </a:rPr>
              <a:t> through careful computational screening.</a:t>
            </a:r>
            <a:endParaRPr sz="1600"/>
          </a:p>
        </p:txBody>
      </p:sp>
      <p:sp>
        <p:nvSpPr>
          <p:cNvPr id="91" name="Google Shape;91;p3"/>
          <p:cNvSpPr txBox="1"/>
          <p:nvPr/>
        </p:nvSpPr>
        <p:spPr>
          <a:xfrm>
            <a:off x="14831213" y="30924950"/>
            <a:ext cx="13917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Wild-type (WT):</a:t>
            </a:r>
            <a:r>
              <a:rPr lang="en-US" sz="2100">
                <a:solidFill>
                  <a:schemeClr val="dk1"/>
                </a:solidFill>
              </a:rPr>
              <a:t> Samples </a:t>
            </a:r>
            <a:r>
              <a:rPr b="1" lang="en-US" sz="2100">
                <a:solidFill>
                  <a:schemeClr val="dk1"/>
                </a:solidFill>
              </a:rPr>
              <a:t>3 distinct conformational basins</a:t>
            </a:r>
            <a:r>
              <a:rPr lang="en-US" sz="2100">
                <a:solidFill>
                  <a:schemeClr val="dk1"/>
                </a:solidFill>
              </a:rPr>
              <a:t> (higher flexibility; mean </a:t>
            </a:r>
            <a:r>
              <a:rPr b="1" lang="en-US" sz="2100">
                <a:solidFill>
                  <a:schemeClr val="dk1"/>
                </a:solidFill>
              </a:rPr>
              <a:t>RMSD ≈ 4.05 Å</a:t>
            </a:r>
            <a:r>
              <a:rPr lang="en-US" sz="2100">
                <a:solidFill>
                  <a:schemeClr val="dk1"/>
                </a:solidFill>
              </a:rPr>
              <a:t>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R702W mutant:</a:t>
            </a:r>
            <a:r>
              <a:rPr lang="en-US" sz="2100">
                <a:solidFill>
                  <a:schemeClr val="dk1"/>
                </a:solidFill>
              </a:rPr>
              <a:t> Collapses into </a:t>
            </a:r>
            <a:r>
              <a:rPr b="1" lang="en-US" sz="2100">
                <a:solidFill>
                  <a:schemeClr val="dk1"/>
                </a:solidFill>
              </a:rPr>
              <a:t>1 dominant basin</a:t>
            </a:r>
            <a:r>
              <a:rPr lang="en-US" sz="2100">
                <a:solidFill>
                  <a:schemeClr val="dk1"/>
                </a:solidFill>
              </a:rPr>
              <a:t> (increased rigidity; mean </a:t>
            </a:r>
            <a:r>
              <a:rPr b="1" lang="en-US" sz="2100">
                <a:solidFill>
                  <a:schemeClr val="dk1"/>
                </a:solidFill>
              </a:rPr>
              <a:t>RMSD ≈ 3.27 Å</a:t>
            </a:r>
            <a:r>
              <a:rPr lang="en-US" sz="2100">
                <a:solidFill>
                  <a:schemeClr val="dk1"/>
                </a:solidFill>
              </a:rPr>
              <a:t>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Binding impact:</a:t>
            </a:r>
            <a:r>
              <a:rPr lang="en-US" sz="2100">
                <a:solidFill>
                  <a:schemeClr val="dk1"/>
                </a:solidFill>
              </a:rPr>
              <a:t> Ligands that rely on </a:t>
            </a:r>
            <a:r>
              <a:rPr b="1" lang="en-US" sz="2100">
                <a:solidFill>
                  <a:schemeClr val="dk1"/>
                </a:solidFill>
              </a:rPr>
              <a:t>induced-fit / conformational adaptation</a:t>
            </a:r>
            <a:r>
              <a:rPr lang="en-US" sz="2100">
                <a:solidFill>
                  <a:schemeClr val="dk1"/>
                </a:solidFill>
              </a:rPr>
              <a:t> (example: </a:t>
            </a:r>
            <a:r>
              <a:rPr b="1" lang="en-US" sz="2100">
                <a:solidFill>
                  <a:schemeClr val="dk1"/>
                </a:solidFill>
              </a:rPr>
              <a:t>Febuxostat</a:t>
            </a:r>
            <a:r>
              <a:rPr lang="en-US" sz="2100">
                <a:solidFill>
                  <a:schemeClr val="dk1"/>
                </a:solidFill>
              </a:rPr>
              <a:t>) show </a:t>
            </a:r>
            <a:r>
              <a:rPr b="1" lang="en-US" sz="2100">
                <a:solidFill>
                  <a:schemeClr val="dk1"/>
                </a:solidFill>
              </a:rPr>
              <a:t>reduced binding</a:t>
            </a:r>
            <a:r>
              <a:rPr lang="en-US" sz="2100">
                <a:solidFill>
                  <a:schemeClr val="dk1"/>
                </a:solidFill>
              </a:rPr>
              <a:t>, while ligands that are </a:t>
            </a:r>
            <a:r>
              <a:rPr b="1" lang="en-US" sz="2100">
                <a:solidFill>
                  <a:schemeClr val="dk1"/>
                </a:solidFill>
              </a:rPr>
              <a:t>geometry-tolerant</a:t>
            </a:r>
            <a:r>
              <a:rPr lang="en-US" sz="2100">
                <a:solidFill>
                  <a:schemeClr val="dk1"/>
                </a:solidFill>
              </a:rPr>
              <a:t> (example: </a:t>
            </a:r>
            <a:r>
              <a:rPr b="1" lang="en-US" sz="2100">
                <a:solidFill>
                  <a:schemeClr val="dk1"/>
                </a:solidFill>
              </a:rPr>
              <a:t>Bufadienolide</a:t>
            </a:r>
            <a:r>
              <a:rPr lang="en-US" sz="2100">
                <a:solidFill>
                  <a:schemeClr val="dk1"/>
                </a:solidFill>
              </a:rPr>
              <a:t>) </a:t>
            </a:r>
            <a:r>
              <a:rPr b="1" lang="en-US" sz="2100">
                <a:solidFill>
                  <a:schemeClr val="dk1"/>
                </a:solidFill>
              </a:rPr>
              <a:t>retain binding</a:t>
            </a:r>
            <a:endParaRPr sz="25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3" title="figE2_transparent.png"/>
          <p:cNvPicPr preferRelativeResize="0"/>
          <p:nvPr/>
        </p:nvPicPr>
        <p:blipFill rotWithShape="1">
          <a:blip r:embed="rId7">
            <a:alphaModFix/>
          </a:blip>
          <a:srcRect b="5780" l="0" r="0" t="-5779"/>
          <a:stretch/>
        </p:blipFill>
        <p:spPr>
          <a:xfrm>
            <a:off x="6575732" y="26700499"/>
            <a:ext cx="5303557" cy="530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05881" y="11551075"/>
            <a:ext cx="13917901" cy="523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82933" y="6493408"/>
            <a:ext cx="13917899" cy="325537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7158700" y="31815650"/>
            <a:ext cx="26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49550" y="23272738"/>
            <a:ext cx="4459751" cy="446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29498550" y="4526272"/>
            <a:ext cx="14173200" cy="7543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9425400" y="4453123"/>
            <a:ext cx="14173200" cy="754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9425400" y="4453133"/>
            <a:ext cx="14173200" cy="10059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9425400" y="4453133"/>
            <a:ext cx="14173200" cy="1005900"/>
          </a:xfrm>
          <a:prstGeom prst="rect">
            <a:avLst/>
          </a:prstGeom>
          <a:solidFill>
            <a:srgbClr val="6790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</a:rPr>
              <a:t>MACHINE LEARNING VALIDATION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9699720" y="5641853"/>
            <a:ext cx="1362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t/>
            </a:r>
            <a:endParaRPr b="1" sz="3200">
              <a:solidFill>
                <a:srgbClr val="212121"/>
              </a:solidFill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498550" y="6547425"/>
            <a:ext cx="13944428" cy="523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29571325" y="5512025"/>
            <a:ext cx="136245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212121"/>
                </a:solidFill>
              </a:rPr>
              <a:t>NOD2-Scout achieved AUC of </a:t>
            </a:r>
            <a:r>
              <a:rPr b="1" lang="en-US" sz="2300">
                <a:solidFill>
                  <a:srgbClr val="212121"/>
                </a:solidFill>
              </a:rPr>
              <a:t>0.89</a:t>
            </a:r>
            <a:r>
              <a:rPr lang="en-US" sz="2300">
                <a:solidFill>
                  <a:srgbClr val="212121"/>
                </a:solidFill>
              </a:rPr>
              <a:t> with scaffold-split cross-validation, ensuring the model generalizes to structurally novel compounds rather than memorizing similar structures.</a:t>
            </a:r>
            <a:endParaRPr sz="2300">
              <a:solidFill>
                <a:srgbClr val="21212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t/>
            </a:r>
            <a:endParaRPr b="1" sz="32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8325" y="12885153"/>
            <a:ext cx="14003108" cy="31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29498550" y="26222803"/>
            <a:ext cx="14173200" cy="28593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9425400" y="26149652"/>
            <a:ext cx="14173200" cy="285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9425390" y="26149655"/>
            <a:ext cx="14173200" cy="10059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9425390" y="26149655"/>
            <a:ext cx="14173200" cy="1005900"/>
          </a:xfrm>
          <a:prstGeom prst="rect">
            <a:avLst/>
          </a:prstGeom>
          <a:solidFill>
            <a:srgbClr val="77A3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</a:rPr>
              <a:t>REFERENCES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9699700" y="27338375"/>
            <a:ext cx="136245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546E7A"/>
                </a:solidFill>
              </a:rPr>
              <a:t>[1] Dahlhamer et al. (2016) MMWR 65:1166 | [2] Hugot et al. (2001) Nature 411:599 | [3] Jumper et al. (2021) Nature 596:583 | [4] McNutt et al. (2021) J Cheminform 13:43 | [5] Chen &amp; Guestrin (2016) KDD | [6] Eastman et al. (2017) PLOS Comput Biol | [7] Shirts &amp; Chodera (2008) J Chem Phys 129:124105 | [8] Sorokina et al. (2021) J Cheminform 13:2 | [9] Douguet (2018) Bioinformatics 34:2862</a:t>
            </a:r>
            <a:endParaRPr sz="1900">
              <a:solidFill>
                <a:srgbClr val="546E7A"/>
              </a:solidFill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751400" y="15860663"/>
            <a:ext cx="1316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 Figure 1: Computational screening pipeline.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 Diagram created by finalist using Microsoft PowerPoint, 2026.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/>
          </a:p>
        </p:txBody>
      </p:sp>
      <p:sp>
        <p:nvSpPr>
          <p:cNvPr id="111" name="Google Shape;111;p3"/>
          <p:cNvSpPr txBox="1"/>
          <p:nvPr/>
        </p:nvSpPr>
        <p:spPr>
          <a:xfrm>
            <a:off x="438900" y="29151075"/>
            <a:ext cx="7365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Figure 2: NOD2 full protein structure with domain coloring.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Image created by finalist using PyMOL, 2026.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774725" y="31900625"/>
            <a:ext cx="6096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Figure 3: R702W mutation site close-up.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Image created by finalist using PyMOL, 2026.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8382438" y="27486850"/>
            <a:ext cx="5143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Figure 4: NOD2 domain architecture and mutation distance.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 Diagram created by finalist using Microsoft PowerPoint, 2026.</a:t>
            </a:r>
            <a:endParaRPr i="1"/>
          </a:p>
        </p:txBody>
      </p:sp>
      <p:sp>
        <p:nvSpPr>
          <p:cNvPr id="114" name="Google Shape;114;p3"/>
          <p:cNvSpPr txBox="1"/>
          <p:nvPr/>
        </p:nvSpPr>
        <p:spPr>
          <a:xfrm>
            <a:off x="17633250" y="9640113"/>
            <a:ext cx="1223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Figure 5: MD pocket occupancy validation. Chart created by finalist using Microsoft Excel, 2026.</a:t>
            </a:r>
            <a:endParaRPr i="1" sz="1000"/>
          </a:p>
        </p:txBody>
      </p:sp>
      <p:sp>
        <p:nvSpPr>
          <p:cNvPr id="115" name="Google Shape;115;p3"/>
          <p:cNvSpPr txBox="1"/>
          <p:nvPr/>
        </p:nvSpPr>
        <p:spPr>
          <a:xfrm>
            <a:off x="18643513" y="16693025"/>
            <a:ext cx="7905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  Figure 6: FEP binding free energies. Graph created by finalist using GraphPad Prism, 2026.</a:t>
            </a:r>
            <a:endParaRPr i="1" sz="1000"/>
          </a:p>
        </p:txBody>
      </p:sp>
      <p:sp>
        <p:nvSpPr>
          <p:cNvPr id="116" name="Google Shape;116;p3"/>
          <p:cNvSpPr txBox="1"/>
          <p:nvPr/>
        </p:nvSpPr>
        <p:spPr>
          <a:xfrm>
            <a:off x="18349975" y="21940975"/>
            <a:ext cx="798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 Figure 7: Mutation effect on binding (ΔΔG). Graph created by finalist using Microsoft Excel, 2026.</a:t>
            </a:r>
            <a:endParaRPr sz="1000"/>
          </a:p>
        </p:txBody>
      </p:sp>
      <p:pic>
        <p:nvPicPr>
          <p:cNvPr id="117" name="Google Shape;117;p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977875" y="18612212"/>
            <a:ext cx="13624550" cy="333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9080225" y="30210375"/>
            <a:ext cx="798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8: Free energy landscapes. Graph created by finalist using OriginLab, 2026.</a:t>
            </a:r>
            <a:endParaRPr sz="1000"/>
          </a:p>
        </p:txBody>
      </p:sp>
      <p:sp>
        <p:nvSpPr>
          <p:cNvPr id="119" name="Google Shape;119;p3"/>
          <p:cNvSpPr txBox="1"/>
          <p:nvPr/>
        </p:nvSpPr>
        <p:spPr>
          <a:xfrm>
            <a:off x="30039475" y="11679925"/>
            <a:ext cx="7905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Figure 9: NOD2-Scout ROC curves. Graph created by finalist using Microsoft Excel, 2026.</a:t>
            </a:r>
            <a:endParaRPr sz="1000"/>
          </a:p>
        </p:txBody>
      </p:sp>
      <p:sp>
        <p:nvSpPr>
          <p:cNvPr id="120" name="Google Shape;120;p3"/>
          <p:cNvSpPr txBox="1"/>
          <p:nvPr/>
        </p:nvSpPr>
        <p:spPr>
          <a:xfrm>
            <a:off x="37255100" y="11647375"/>
            <a:ext cx="634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10: Precision-Recall curve. Graph created by finalist using Microsoft Excel, 2026.</a:t>
            </a:r>
            <a:endParaRPr sz="1000"/>
          </a:p>
        </p:txBody>
      </p:sp>
      <p:sp>
        <p:nvSpPr>
          <p:cNvPr id="121" name="Google Shape;121;p3"/>
          <p:cNvSpPr txBox="1"/>
          <p:nvPr/>
        </p:nvSpPr>
        <p:spPr>
          <a:xfrm>
            <a:off x="33532225" y="16991275"/>
            <a:ext cx="852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11: Lead compound 2D structures. Image created by finalist using RDKit, 2026.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