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29260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206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Deep Learning Guided Discovery and FEP Validation of NOD2 Binders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206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8DCFF"/>
                </a:solidFill>
              </a:defRPr>
            </a:pPr>
            <a:r>
              <a:t>for the R702W Crohn's 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206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Tanmay Vasudeva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206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B4C8E6"/>
                </a:solidFill>
              </a:defRPr>
            </a:pPr>
            <a:r>
              <a:t>Texas Virtual Academy at Hallsville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108960"/>
            <a:ext cx="40233600" cy="822960"/>
          </a:xfrm>
          <a:prstGeom prst="roundRect">
            <a:avLst/>
          </a:prstGeom>
          <a:solidFill>
            <a:srgbClr val="E6EBF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200400"/>
            <a:ext cx="3986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1E1E1E"/>
                </a:solidFill>
              </a:defRPr>
            </a:pPr>
            <a:r>
              <a:t>I built a screening pipeline for NOD2 binders and used FEP to quantify how the R702W variant changes binding for specific ligands, with apo MD providing supporting context.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114800"/>
            <a:ext cx="1389888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160520"/>
            <a:ext cx="1389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617720"/>
            <a:ext cx="13898880" cy="361188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709160"/>
            <a:ext cx="1362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CROHN'S DISEASE &amp; NOD2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NOD2 (Nucleotide-binding Oligomerization Domain 2) mutations cause 15-25% of Crohn's disease cases. The R702W variant is the most common mutation, affecting ~10% of patients.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PROBLEM STATEMENT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Current treatments target symptoms, not the underlying molecular dysfunction. No targeted small-molecule modulators exist for NOD2.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HYPOTHESIS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If computational screening identifies NOD2-LRR binders, then FEP can quantify how the R702W mutation affects binding affinity for specific ligands.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8412480"/>
            <a:ext cx="1389888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8458200"/>
            <a:ext cx="1389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COMPUTATIONAL METHODOLOGY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8915400"/>
            <a:ext cx="13898880" cy="589788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098280"/>
            <a:ext cx="13258800" cy="3180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12278600"/>
            <a:ext cx="1325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E1E1E"/>
                </a:solidFill>
              </a:defRPr>
            </a:pPr>
            <a:r>
              <a:t>Fig. 1. Computational screening pipeline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2735800"/>
            <a:ext cx="1362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SCREENING PIPELINE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9,566 compounds screened (FDA-approved + natural products)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GNINA CNN-based docking on AlphaFold2 NOD2 LRR domain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NOD2-Scout ML model: AUC 0.85-0.93 (scaffold-split cross validation)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MOLECULAR DYNAMICS PROTOCOL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Engine: OpenMM with AMBER14 + OpenFF 2.1.0 force fields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Temperature: 310 K | Solvent: TIP3P-FB water model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Production: 20 ns per replicate | Total: 520 ns across all systems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FREE ENERGY PERTURBATION (FEP)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Gold standard for binding free energy calculations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120 total FEP windows (80 complex + 40 solvent)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Thermodynamic cycle: WT and R702W systems compared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4996160"/>
            <a:ext cx="1389888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5041880"/>
            <a:ext cx="1389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ML MODEL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5499080"/>
            <a:ext cx="13898880" cy="388620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_ml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681960"/>
            <a:ext cx="12801600" cy="813513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960" y="23817090"/>
            <a:ext cx="1280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E1E1E"/>
                </a:solidFill>
              </a:defRPr>
            </a:pPr>
            <a:r>
              <a:t>Fig. 2. NOD2-Scout model performance across 5-fold scaffold-split CV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0" y="4114800"/>
            <a:ext cx="1389888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0" y="4160520"/>
            <a:ext cx="1389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FEP BINDING FREE ENERGY (KEY RESULT)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0" y="4617720"/>
            <a:ext cx="13898880" cy="681228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ig_f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0" y="4800600"/>
            <a:ext cx="9144000" cy="163717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087600" y="21172304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E1E1E"/>
                </a:solidFill>
              </a:defRPr>
            </a:pPr>
            <a:r>
              <a:t>Fig. 3. FEP binding free energy difference (R702W - WT)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67560" y="21720944"/>
            <a:ext cx="1362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FEP RESULTS SUMMARY (Gold Standard Thermodynamics)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COMPOUND        | ΔG_WT (kcal/mol) | ΔG_R702W      | ΔΔG        | Significance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----------------|------------------|---------------|------------|-------------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Febuxostat      | -10.36 ± 0.18    | -8.02 ± 0.19  | +2.34      | *** (8σ, p&lt;0.001)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Bufadienolide   | -15.22 ± 0.26    | -15.66 ± 0.26 | -0.44      | n.s. (1.8σ)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KEY FINDING: Febuxostat shows 50× weaker binding in R702W mutant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             Bufadienolide shows no significant binding difference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0" y="11612879"/>
            <a:ext cx="1389888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0" y="11658599"/>
            <a:ext cx="1389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MD BINDING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0" y="12115799"/>
            <a:ext cx="13898880" cy="406908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_pocket_occupa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0" y="12298679"/>
            <a:ext cx="9144000" cy="680459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087600" y="19103274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E1E1E"/>
                </a:solidFill>
              </a:defRPr>
            </a:pPr>
            <a:r>
              <a:t>Fig. 4. Pocket occupancy during 20 ns MD simulations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767560" y="19469034"/>
            <a:ext cx="1362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POCKET OCCUPANCY (Ligand within 5Å of binding site)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Febuxostat: 70% mean occupancy | H-bonds: 2.02 ± 1.78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Bufadienolide: 80% mean occupancy | H-bonds: 1.99 ± 1.74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Decoy (control): 0% occupancy - validates binding specificity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0" y="16367759"/>
            <a:ext cx="1389888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30400" y="16413479"/>
            <a:ext cx="1389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KEY BINDING RESIDUES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0" y="16870679"/>
            <a:ext cx="13898880" cy="251460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67560" y="17053559"/>
            <a:ext cx="1362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IDENTIFIED FROM CONTACT ANALYSIS (Phase 7 MD)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Residue    | Contact Frequency | Role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-----------|-------------------|---------------------------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GLU1008    | 50-71%           | H-bond acceptor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ARG1037    | 71-86%           | Electrostatic anchor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ASP1011    | 67-93%           | H-bond acceptor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ARG1034    | 82-88%           | Secondary contact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LEU1007    | 61-65%           | Hydrophobic packing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95040" y="4114800"/>
            <a:ext cx="1389888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95040" y="4160520"/>
            <a:ext cx="1389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APO MD DYNAMICS (SUPPORTING CONTEXT)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95040" y="4617720"/>
            <a:ext cx="13898880" cy="544068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ig_dynam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69360" y="4800600"/>
            <a:ext cx="13258800" cy="577947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9169360" y="10580077"/>
            <a:ext cx="1325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E1E1E"/>
                </a:solidFill>
              </a:defRPr>
            </a:pPr>
            <a:r>
              <a:t>Fig. 5. Apo MD comparison: WT vs R702W backbone dynamics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032200" y="10945837"/>
            <a:ext cx="1362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APO SIMULATION RESULTS (No Ligand Bound)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Metric              | WT apo (n=4) | R702W apo (n=3)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--------------------|--------------|----------------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Mean RMSD           | 4.05 Å       | 3.27 Å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% Frames &gt; 5Å       | 12.6%        | 0%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INTERPRETATION: R702W shows reduced conformational sampling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compared to WT, consistent with mutation-sensitive binding in FEP.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95040" y="10241280"/>
            <a:ext cx="1389888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95040" y="10287000"/>
            <a:ext cx="1389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REPRESENTATIVE MD TRAJECTORIES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95040" y="10744200"/>
            <a:ext cx="13898880" cy="342900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fig_rmsd_tra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69360" y="10927080"/>
            <a:ext cx="13258800" cy="651101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9169360" y="17438098"/>
            <a:ext cx="1325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1E1E1E"/>
                </a:solidFill>
              </a:defRPr>
            </a:pPr>
            <a:r>
              <a:t>Fig. 6. RMSD time series showing WT crosses 5Å threshold, R702W does not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26060400"/>
            <a:ext cx="155448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26106120"/>
            <a:ext cx="1554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26563320"/>
            <a:ext cx="15544800" cy="589788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26746200"/>
            <a:ext cx="15087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SCIENTIFIC CONTRIBUTIONS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1. PIPELINE DEVELOPMENT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   Built deep learning screening pipeline for 9,566 compounds against NOD2 LRR domain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2. FEP QUANTIFIES MUTATION-SENSITIVE BINDING (Primary Finding)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   • Febuxostat: ΔΔG = +2.34 kcal/mol → 50× weaker in R702W (p&lt;0.001)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   • Bufadienolide: ΔΔG = -0.44 kcal/mol → No significant change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   • Demonstrates ligand-dependent binding differences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3. APO DYNAMICS PROVIDE MECHANISTIC CONTEXT (Supporting Finding)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   • WT: 12.6% frames exceed 5Å RMSD threshold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   • R702W: 0% frames exceed threshold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   • Reduced conformational sampling in mutant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4. STRUCTURAL INSIGHTS</a:t>
            </a:r>
          </a:p>
          <a:p>
            <a:pPr>
              <a:spcAft>
                <a:spcPts val="600"/>
              </a:spcAft>
              <a:defRPr sz="1600" b="0">
                <a:solidFill>
                  <a:srgbClr val="1E1E1E"/>
                </a:solidFill>
              </a:defRPr>
            </a:pPr>
            <a:r>
              <a:t>   Key binding residues identified: GLU1008, ARG1037, ASP1011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276320" y="26060400"/>
            <a:ext cx="86868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276320" y="261061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276320" y="26563320"/>
            <a:ext cx="8686800" cy="251460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413480" y="2674620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FEP performed on 2 representative ligands only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Apo MD simulations (no ligand-bound comparisons)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Computational predictions require experimental validation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Force field and sampling limitations inherent to MD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276320" y="29260800"/>
            <a:ext cx="86868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0" y="293065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20" y="29763720"/>
            <a:ext cx="8686800" cy="251460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413480" y="2994660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SPR/ITC experimental binding validation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Test additional NOD2 mutations (G908R, L1007fs)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HDX-MS conformational studies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Analog optimization for lead compounds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328880" y="26060400"/>
            <a:ext cx="178308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328880" y="26106120"/>
            <a:ext cx="1783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KEY REFERENCES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328880" y="26563320"/>
            <a:ext cx="17830800" cy="251460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466040" y="26746200"/>
            <a:ext cx="1737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E1E1E"/>
                </a:solidFill>
              </a:defRPr>
            </a:pPr>
            <a:r>
              <a:t>[1] Hugot JP, et al. Association of NOD2 leucine-rich repeat variants with susceptibility to Crohn's disease. Nature. 2001.</a:t>
            </a:r>
          </a:p>
          <a:p>
            <a:pPr>
              <a:spcAft>
                <a:spcPts val="600"/>
              </a:spcAft>
              <a:defRPr sz="1400" b="0">
                <a:solidFill>
                  <a:srgbClr val="1E1E1E"/>
                </a:solidFill>
              </a:defRPr>
            </a:pPr>
            <a:r>
              <a:t>[2] Jumper J, et al. Highly accurate protein structure prediction with AlphaFold. Nature. 2021.</a:t>
            </a:r>
          </a:p>
          <a:p>
            <a:pPr>
              <a:spcAft>
                <a:spcPts val="600"/>
              </a:spcAft>
              <a:defRPr sz="1400" b="0">
                <a:solidFill>
                  <a:srgbClr val="1E1E1E"/>
                </a:solidFill>
              </a:defRPr>
            </a:pPr>
            <a:r>
              <a:t>[3] McNutt AT, et al. GNINA 1.0: molecular docking with deep learning. J Cheminform. 2021.</a:t>
            </a:r>
          </a:p>
          <a:p>
            <a:pPr>
              <a:spcAft>
                <a:spcPts val="600"/>
              </a:spcAft>
              <a:defRPr sz="1400" b="0">
                <a:solidFill>
                  <a:srgbClr val="1E1E1E"/>
                </a:solidFill>
              </a:defRPr>
            </a:pPr>
            <a:r>
              <a:t>[4] Shirts MR, et al. Best practices for alchemical free energy calculations. Living J Comp Mol Sci. 2019.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328880" y="29260800"/>
            <a:ext cx="178308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328880" y="29306520"/>
            <a:ext cx="1783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ACKNOWLEDGMENTS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328880" y="29763720"/>
            <a:ext cx="17830800" cy="2514600"/>
          </a:xfrm>
          <a:prstGeom prst="rect">
            <a:avLst/>
          </a:prstGeom>
          <a:solidFill>
            <a:srgbClr val="F5F8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466040" y="29946600"/>
            <a:ext cx="1737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Computational resources provided by vast.ai GPU cloud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AlphaFold2 structure from DeepMind/EMBL-EBI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OpenMM and GROMACS development teams</a:t>
            </a:r>
          </a:p>
          <a:p>
            <a:pPr>
              <a:spcAft>
                <a:spcPts val="600"/>
              </a:spcAft>
              <a:defRPr sz="1500" b="0">
                <a:solidFill>
                  <a:srgbClr val="1E1E1E"/>
                </a:solidFill>
              </a:defRPr>
            </a:pPr>
            <a:r>
              <a:t>• Open-source cheminformatics community (RDKit, OpenFF)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