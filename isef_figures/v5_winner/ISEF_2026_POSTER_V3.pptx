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891200" cy="29260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42976800" cy="1280160"/>
          </a:xfrm>
          <a:prstGeom prst="rect">
            <a:avLst/>
          </a:prstGeom>
          <a:noFill/>
        </p:spPr>
        <p:txBody>
          <a:bodyPr wrap="square">
            <a:spAutoFit/>
          </a:bodyPr>
          <a:lstStyle/>
          <a:p>
            <a:pPr algn="ctr">
              <a:defRPr sz="7200" b="1">
                <a:solidFill>
                  <a:srgbClr val="FFFFFF"/>
                </a:solidFill>
              </a:defRPr>
            </a:pPr>
            <a:r>
              <a:t>Deep Learning Guided Discovery and FEP Validation of NOD2 Binders for the R702W Crohn's Variant</a:t>
            </a:r>
          </a:p>
        </p:txBody>
      </p:sp>
      <p:sp>
        <p:nvSpPr>
          <p:cNvPr id="5" name="TextBox 4"/>
          <p:cNvSpPr txBox="1"/>
          <p:nvPr/>
        </p:nvSpPr>
        <p:spPr>
          <a:xfrm>
            <a:off x="457200" y="1463040"/>
            <a:ext cx="42976800" cy="640080"/>
          </a:xfrm>
          <a:prstGeom prst="rect">
            <a:avLst/>
          </a:prstGeom>
          <a:noFill/>
        </p:spPr>
        <p:txBody>
          <a:bodyPr wrap="square">
            <a:spAutoFit/>
          </a:bodyPr>
          <a:lstStyle/>
          <a:p>
            <a:pPr algn="ctr">
              <a:defRPr sz="3600" b="0">
                <a:solidFill>
                  <a:srgbClr val="FFFFFF"/>
                </a:solidFill>
              </a:defRPr>
            </a:pPr>
            <a:r>
              <a:t>Tanmay Vasudeva  |  Texas Virtual Academy at Hallsville</a:t>
            </a:r>
          </a:p>
        </p:txBody>
      </p:sp>
      <p:sp>
        <p:nvSpPr>
          <p:cNvPr id="6" name="Rectangle 5"/>
          <p:cNvSpPr/>
          <p:nvPr/>
        </p:nvSpPr>
        <p:spPr>
          <a:xfrm>
            <a:off x="7315200" y="2103120"/>
            <a:ext cx="29260800" cy="6400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148840"/>
            <a:ext cx="28895040" cy="548640"/>
          </a:xfrm>
          <a:prstGeom prst="rect">
            <a:avLst/>
          </a:prstGeom>
          <a:noFill/>
        </p:spPr>
        <p:txBody>
          <a:bodyPr wrap="square">
            <a:spAutoFit/>
          </a:bodyPr>
          <a:lstStyle/>
          <a:p>
            <a:pPr algn="ctr">
              <a:defRPr sz="2800" b="1">
                <a:solidFill>
                  <a:srgbClr val="FFFFFF"/>
                </a:solidFill>
              </a:defRPr>
            </a:pPr>
            <a:r>
              <a:t>KEY FINDING: Febuxostat exhibits 50x weaker binding in R702W mutant (ddG = +2.34 kcal/mol, p&lt;0.001)</a:t>
            </a:r>
          </a:p>
        </p:txBody>
      </p:sp>
      <p:sp>
        <p:nvSpPr>
          <p:cNvPr id="8" name="Rectangle 7"/>
          <p:cNvSpPr/>
          <p:nvPr/>
        </p:nvSpPr>
        <p:spPr>
          <a:xfrm>
            <a:off x="457200" y="3200400"/>
            <a:ext cx="13258800" cy="50292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264408"/>
            <a:ext cx="13258800" cy="411480"/>
          </a:xfrm>
          <a:prstGeom prst="rect">
            <a:avLst/>
          </a:prstGeom>
          <a:noFill/>
        </p:spPr>
        <p:txBody>
          <a:bodyPr wrap="square">
            <a:spAutoFit/>
          </a:bodyPr>
          <a:lstStyle/>
          <a:p>
            <a:pPr algn="l">
              <a:defRPr sz="3200" b="1">
                <a:solidFill>
                  <a:srgbClr val="FFFFFF"/>
                </a:solidFill>
              </a:defRPr>
            </a:pPr>
            <a:r>
              <a:t>RESEARCH QUESTION</a:t>
            </a:r>
          </a:p>
        </p:txBody>
      </p:sp>
      <p:sp>
        <p:nvSpPr>
          <p:cNvPr id="10" name="TextBox 9"/>
          <p:cNvSpPr txBox="1"/>
          <p:nvPr/>
        </p:nvSpPr>
        <p:spPr>
          <a:xfrm>
            <a:off x="457200" y="3749040"/>
            <a:ext cx="13258800" cy="3200400"/>
          </a:xfrm>
          <a:prstGeom prst="rect">
            <a:avLst/>
          </a:prstGeom>
          <a:noFill/>
        </p:spPr>
        <p:txBody>
          <a:bodyPr wrap="square">
            <a:spAutoFit/>
          </a:bodyPr>
          <a:lstStyle/>
          <a:p>
            <a:pPr algn="l">
              <a:defRPr sz="2800" b="0">
                <a:solidFill>
                  <a:srgbClr val="1F2D3D"/>
                </a:solidFill>
              </a:defRPr>
            </a:pPr>
            <a:r>
              <a:t>What molecular mechanisms explain how the Crohn's-associated NOD2 R702W variant alters drug binding affinity? This project tests whether the R702W substitution, located 80 angstroms from the LRR binding pocket, produces measurable differences in ligand binding through an allosteric mechanism. I developed a computational pipeline combining machine learning screening with rigorous free energy perturbation (FEP) calculations to quantify mutation-sensitive binding for FDA-approved compounds.</a:t>
            </a:r>
          </a:p>
        </p:txBody>
      </p:sp>
      <p:sp>
        <p:nvSpPr>
          <p:cNvPr id="11" name="Rectangle 10"/>
          <p:cNvSpPr/>
          <p:nvPr/>
        </p:nvSpPr>
        <p:spPr>
          <a:xfrm>
            <a:off x="457200" y="6858000"/>
            <a:ext cx="13258800" cy="50292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922008"/>
            <a:ext cx="13258800" cy="411480"/>
          </a:xfrm>
          <a:prstGeom prst="rect">
            <a:avLst/>
          </a:prstGeom>
          <a:noFill/>
        </p:spPr>
        <p:txBody>
          <a:bodyPr wrap="square">
            <a:spAutoFit/>
          </a:bodyPr>
          <a:lstStyle/>
          <a:p>
            <a:pPr algn="l">
              <a:defRPr sz="3200" b="1">
                <a:solidFill>
                  <a:srgbClr val="FFFFFF"/>
                </a:solidFill>
              </a:defRPr>
            </a:pPr>
            <a:r>
              <a:t>BACKGROUND</a:t>
            </a:r>
          </a:p>
        </p:txBody>
      </p:sp>
      <p:sp>
        <p:nvSpPr>
          <p:cNvPr id="13" name="TextBox 12"/>
          <p:cNvSpPr txBox="1"/>
          <p:nvPr/>
        </p:nvSpPr>
        <p:spPr>
          <a:xfrm>
            <a:off x="457200" y="7406640"/>
            <a:ext cx="13258800" cy="3840480"/>
          </a:xfrm>
          <a:prstGeom prst="rect">
            <a:avLst/>
          </a:prstGeom>
          <a:noFill/>
        </p:spPr>
        <p:txBody>
          <a:bodyPr wrap="square">
            <a:spAutoFit/>
          </a:bodyPr>
          <a:lstStyle/>
          <a:p>
            <a:pPr algn="l">
              <a:defRPr sz="2800" b="0">
                <a:solidFill>
                  <a:srgbClr val="1F2D3D"/>
                </a:solidFill>
              </a:defRPr>
            </a:pPr>
            <a:r>
              <a:t>NOD2 is a cytosolic pattern-recognition receptor that detects bacterial peptidoglycans and initiates NF-kB inflammatory signaling. Loss-of-function variants in NOD2 represent the strongest genetic risk factors for Crohn's disease, affecting 3+ million patients globally. The R702W substitution accounts for 15-25% of Crohn's cases, replacing a positively charged arginine with a bulky hydrophobic tryptophan in the HD2 domain. Despite its clinical significance, no targeted therapies exist for R702W carriers. Drug repurposing offers a faster path to therapy than de novo design, motivating this computational screening approach.</a:t>
            </a:r>
          </a:p>
        </p:txBody>
      </p:sp>
      <p:sp>
        <p:nvSpPr>
          <p:cNvPr id="14" name="Rectangle 13"/>
          <p:cNvSpPr/>
          <p:nvPr/>
        </p:nvSpPr>
        <p:spPr>
          <a:xfrm>
            <a:off x="457200" y="11155679"/>
            <a:ext cx="13258800" cy="50292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11219687"/>
            <a:ext cx="13258800" cy="411480"/>
          </a:xfrm>
          <a:prstGeom prst="rect">
            <a:avLst/>
          </a:prstGeom>
          <a:noFill/>
        </p:spPr>
        <p:txBody>
          <a:bodyPr wrap="square">
            <a:spAutoFit/>
          </a:bodyPr>
          <a:lstStyle/>
          <a:p>
            <a:pPr algn="l">
              <a:defRPr sz="3200" b="1">
                <a:solidFill>
                  <a:srgbClr val="FFFFFF"/>
                </a:solidFill>
              </a:defRPr>
            </a:pPr>
            <a:r>
              <a:t>COMPUTATIONAL METHODS</a:t>
            </a:r>
          </a:p>
        </p:txBody>
      </p:sp>
      <p:sp>
        <p:nvSpPr>
          <p:cNvPr id="16" name="TextBox 15"/>
          <p:cNvSpPr txBox="1"/>
          <p:nvPr/>
        </p:nvSpPr>
        <p:spPr>
          <a:xfrm>
            <a:off x="457200" y="11704320"/>
            <a:ext cx="13258800" cy="9144000"/>
          </a:xfrm>
          <a:prstGeom prst="rect">
            <a:avLst/>
          </a:prstGeom>
          <a:noFill/>
        </p:spPr>
        <p:txBody>
          <a:bodyPr wrap="square">
            <a:spAutoFit/>
          </a:bodyPr>
          <a:lstStyle/>
          <a:p>
            <a:pPr algn="l">
              <a:defRPr sz="2600" b="0">
                <a:solidFill>
                  <a:srgbClr val="1F2D3D"/>
                </a:solidFill>
              </a:defRPr>
            </a:pPr>
            <a:r>
              <a:t>Structure Preparation: Full-length NOD2 models for wild-type and R702W were built using AlphaFold2 (Q9HC29). The LRR domain (residues 744-1040) was extracted for docking studies while retaining the HD2 domain context for mutation analysis.</a:t>
            </a:r>
            <a:br/>
            <a:br/>
            <a:r>
              <a:t>Virtual Screening: 9,566 compounds from FDA-approved and natural product libraries were screened against the LRR binding pocket using GNINA, a CNN-based molecular docking program. A custom gradient-boosted classifier (NOD2-Scout) was trained to prioritize hits, achieving AUC of 0.85-0.93 on scaffold-split cross-validation.</a:t>
            </a:r>
            <a:br/>
            <a:br/>
            <a:r>
              <a:t>Molecular Dynamics: Top-ranked complexes and apo structures were simulated using OpenMM with AMBER14 force field and TIP3P-FB water model at 310K. Total simulation time: 520 ns across all systems (20 ns production per replicate, n=3-4 per condition).</a:t>
            </a:r>
            <a:br/>
            <a:br/>
            <a:r>
              <a:t>Free Energy Perturbation: Gold-standard FEP calculations quantified binding free energy differences between WT and R702W. Each ligand required 120 windows (80 complex-phase + 40 solvent-phase) with full thermodynamic cycle closure.</a:t>
            </a:r>
          </a:p>
        </p:txBody>
      </p:sp>
      <p:sp>
        <p:nvSpPr>
          <p:cNvPr id="17" name="Rectangle 16"/>
          <p:cNvSpPr/>
          <p:nvPr/>
        </p:nvSpPr>
        <p:spPr>
          <a:xfrm>
            <a:off x="457200" y="20756880"/>
            <a:ext cx="13258800" cy="411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22402800"/>
            <a:ext cx="13258800" cy="731520"/>
          </a:xfrm>
          <a:prstGeom prst="rect">
            <a:avLst/>
          </a:prstGeom>
          <a:noFill/>
        </p:spPr>
        <p:txBody>
          <a:bodyPr wrap="square">
            <a:spAutoFit/>
          </a:bodyPr>
          <a:lstStyle/>
          <a:p>
            <a:pPr algn="ctr">
              <a:defRPr sz="2400" b="0">
                <a:solidFill>
                  <a:srgbClr val="64748B"/>
                </a:solidFill>
              </a:defRPr>
            </a:pPr>
            <a:r>
              <a:t>[Pipeline Flowchart]</a:t>
            </a:r>
          </a:p>
        </p:txBody>
      </p:sp>
      <p:sp>
        <p:nvSpPr>
          <p:cNvPr id="19" name="TextBox 18"/>
          <p:cNvSpPr txBox="1"/>
          <p:nvPr/>
        </p:nvSpPr>
        <p:spPr>
          <a:xfrm>
            <a:off x="457200" y="24597360"/>
            <a:ext cx="13258800" cy="457200"/>
          </a:xfrm>
          <a:prstGeom prst="rect">
            <a:avLst/>
          </a:prstGeom>
          <a:noFill/>
        </p:spPr>
        <p:txBody>
          <a:bodyPr wrap="square">
            <a:spAutoFit/>
          </a:bodyPr>
          <a:lstStyle/>
          <a:p>
            <a:pPr algn="ctr">
              <a:defRPr sz="2000" b="0">
                <a:solidFill>
                  <a:srgbClr val="1F2D3D"/>
                </a:solidFill>
              </a:defRPr>
            </a:pPr>
            <a:r>
              <a:t>Fig 1: Computational pipeline from AlphaFold to FEP validation</a:t>
            </a:r>
          </a:p>
        </p:txBody>
      </p:sp>
      <p:sp>
        <p:nvSpPr>
          <p:cNvPr id="20" name="Rectangle 19"/>
          <p:cNvSpPr/>
          <p:nvPr/>
        </p:nvSpPr>
        <p:spPr>
          <a:xfrm>
            <a:off x="457200" y="25328880"/>
            <a:ext cx="13258800" cy="50292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25392888"/>
            <a:ext cx="13258800" cy="411480"/>
          </a:xfrm>
          <a:prstGeom prst="rect">
            <a:avLst/>
          </a:prstGeom>
          <a:noFill/>
        </p:spPr>
        <p:txBody>
          <a:bodyPr wrap="square">
            <a:spAutoFit/>
          </a:bodyPr>
          <a:lstStyle/>
          <a:p>
            <a:pPr algn="l">
              <a:defRPr sz="3200" b="1">
                <a:solidFill>
                  <a:srgbClr val="FFFFFF"/>
                </a:solidFill>
              </a:defRPr>
            </a:pPr>
            <a:r>
              <a:t>LIMITATIONS</a:t>
            </a:r>
          </a:p>
        </p:txBody>
      </p:sp>
      <p:sp>
        <p:nvSpPr>
          <p:cNvPr id="22" name="TextBox 21"/>
          <p:cNvSpPr txBox="1"/>
          <p:nvPr/>
        </p:nvSpPr>
        <p:spPr>
          <a:xfrm>
            <a:off x="457200" y="25877520"/>
            <a:ext cx="13258800" cy="2286000"/>
          </a:xfrm>
          <a:prstGeom prst="rect">
            <a:avLst/>
          </a:prstGeom>
          <a:noFill/>
        </p:spPr>
        <p:txBody>
          <a:bodyPr wrap="square">
            <a:spAutoFit/>
          </a:bodyPr>
          <a:lstStyle/>
          <a:p>
            <a:pPr algn="l">
              <a:defRPr sz="2600" b="0">
                <a:solidFill>
                  <a:srgbClr val="1F2D3D"/>
                </a:solidFill>
              </a:defRPr>
            </a:pPr>
            <a:r>
              <a:t>FEP calculations were performed on two representative ligands due to computational cost (~120 GPU-hours per compound). All predictions require experimental validation through SPR or ITC binding assays. Apo MD simulations do not capture ligand-induced conformational changes.</a:t>
            </a:r>
          </a:p>
        </p:txBody>
      </p:sp>
      <p:sp>
        <p:nvSpPr>
          <p:cNvPr id="23" name="Rectangle 22"/>
          <p:cNvSpPr/>
          <p:nvPr/>
        </p:nvSpPr>
        <p:spPr>
          <a:xfrm>
            <a:off x="14173200" y="3200400"/>
            <a:ext cx="14630400" cy="50292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264640" y="3264408"/>
            <a:ext cx="14630400" cy="411480"/>
          </a:xfrm>
          <a:prstGeom prst="rect">
            <a:avLst/>
          </a:prstGeom>
          <a:noFill/>
        </p:spPr>
        <p:txBody>
          <a:bodyPr wrap="square">
            <a:spAutoFit/>
          </a:bodyPr>
          <a:lstStyle/>
          <a:p>
            <a:pPr algn="l">
              <a:defRPr sz="3200" b="1">
                <a:solidFill>
                  <a:srgbClr val="FFFFFF"/>
                </a:solidFill>
              </a:defRPr>
            </a:pPr>
            <a:r>
              <a:t>FEP BINDING FREE ENERGY RESULTS</a:t>
            </a:r>
          </a:p>
        </p:txBody>
      </p:sp>
      <p:sp>
        <p:nvSpPr>
          <p:cNvPr id="25" name="TextBox 24"/>
          <p:cNvSpPr txBox="1"/>
          <p:nvPr/>
        </p:nvSpPr>
        <p:spPr>
          <a:xfrm>
            <a:off x="14173200" y="3749040"/>
            <a:ext cx="14630400" cy="1645920"/>
          </a:xfrm>
          <a:prstGeom prst="rect">
            <a:avLst/>
          </a:prstGeom>
          <a:noFill/>
        </p:spPr>
        <p:txBody>
          <a:bodyPr wrap="square">
            <a:spAutoFit/>
          </a:bodyPr>
          <a:lstStyle/>
          <a:p>
            <a:pPr algn="l">
              <a:defRPr sz="2800" b="0">
                <a:solidFill>
                  <a:srgbClr val="1F2D3D"/>
                </a:solidFill>
              </a:defRPr>
            </a:pPr>
            <a:r>
              <a:t>Free energy perturbation (FEP) is the thermodynamic gold standard for computing binding affinity changes. I calculated the mutation effect as ddG = dG(R702W) - dG(WT), where positive values indicate weaker binding in the mutant.</a:t>
            </a:r>
          </a:p>
        </p:txBody>
      </p:sp>
      <p:sp>
        <p:nvSpPr>
          <p:cNvPr id="26" name="Rectangle 25"/>
          <p:cNvSpPr/>
          <p:nvPr/>
        </p:nvSpPr>
        <p:spPr>
          <a:xfrm>
            <a:off x="14173200" y="5303520"/>
            <a:ext cx="14630400" cy="502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173200" y="7315200"/>
            <a:ext cx="14630400" cy="731520"/>
          </a:xfrm>
          <a:prstGeom prst="rect">
            <a:avLst/>
          </a:prstGeom>
          <a:noFill/>
        </p:spPr>
        <p:txBody>
          <a:bodyPr wrap="square">
            <a:spAutoFit/>
          </a:bodyPr>
          <a:lstStyle/>
          <a:p>
            <a:pPr algn="ctr">
              <a:defRPr sz="2600" b="0">
                <a:solidFill>
                  <a:srgbClr val="64748B"/>
                </a:solidFill>
              </a:defRPr>
            </a:pPr>
            <a:r>
              <a:t>[FEP ddG Bar Chart with Error Bars]</a:t>
            </a:r>
          </a:p>
        </p:txBody>
      </p:sp>
      <p:sp>
        <p:nvSpPr>
          <p:cNvPr id="28" name="Rectangle 27"/>
          <p:cNvSpPr/>
          <p:nvPr/>
        </p:nvSpPr>
        <p:spPr>
          <a:xfrm>
            <a:off x="14173200" y="10149840"/>
            <a:ext cx="14630400" cy="29260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356080" y="10332720"/>
            <a:ext cx="14264640" cy="2560320"/>
          </a:xfrm>
          <a:prstGeom prst="rect">
            <a:avLst/>
          </a:prstGeom>
          <a:noFill/>
        </p:spPr>
        <p:txBody>
          <a:bodyPr wrap="square">
            <a:spAutoFit/>
          </a:bodyPr>
          <a:lstStyle/>
          <a:p>
            <a:pPr algn="ctr">
              <a:defRPr sz="2800" b="1">
                <a:solidFill>
                  <a:srgbClr val="FFFFFF"/>
                </a:solidFill>
              </a:defRPr>
            </a:pPr>
            <a:r>
              <a:t>FEBUXOSTAT: ddG = +2.34 +/- 0.26 kcal/mol</a:t>
            </a:r>
            <a:br/>
            <a:r>
              <a:t>Interpretation: 50x weaker binding in R702W | 8 sigma | p &lt; 0.001</a:t>
            </a:r>
            <a:br/>
            <a:br/>
            <a:r>
              <a:t>BUFADIENOLIDE: ddG = -0.44 +/- 0.37 kcal/mol</a:t>
            </a:r>
            <a:br/>
            <a:r>
              <a:t>Interpretation: No significant change | 1.8 sigma | p = NS</a:t>
            </a:r>
          </a:p>
        </p:txBody>
      </p:sp>
      <p:sp>
        <p:nvSpPr>
          <p:cNvPr id="30" name="TextBox 29"/>
          <p:cNvSpPr txBox="1"/>
          <p:nvPr/>
        </p:nvSpPr>
        <p:spPr>
          <a:xfrm>
            <a:off x="14173200" y="12893040"/>
            <a:ext cx="14630400" cy="457200"/>
          </a:xfrm>
          <a:prstGeom prst="rect">
            <a:avLst/>
          </a:prstGeom>
          <a:noFill/>
        </p:spPr>
        <p:txBody>
          <a:bodyPr wrap="square">
            <a:spAutoFit/>
          </a:bodyPr>
          <a:lstStyle/>
          <a:p>
            <a:pPr algn="ctr">
              <a:defRPr sz="2000" b="0">
                <a:solidFill>
                  <a:srgbClr val="1F2D3D"/>
                </a:solidFill>
              </a:defRPr>
            </a:pPr>
            <a:r>
              <a:t>Fig 2: FEP binding calculations. Positive ddG indicates weaker mutant binding.</a:t>
            </a:r>
          </a:p>
        </p:txBody>
      </p:sp>
      <p:sp>
        <p:nvSpPr>
          <p:cNvPr id="31" name="TextBox 30"/>
          <p:cNvSpPr txBox="1"/>
          <p:nvPr/>
        </p:nvSpPr>
        <p:spPr>
          <a:xfrm>
            <a:off x="14173200" y="13258800"/>
            <a:ext cx="14630400" cy="2286000"/>
          </a:xfrm>
          <a:prstGeom prst="rect">
            <a:avLst/>
          </a:prstGeom>
          <a:noFill/>
        </p:spPr>
        <p:txBody>
          <a:bodyPr wrap="square">
            <a:spAutoFit/>
          </a:bodyPr>
          <a:lstStyle/>
          <a:p>
            <a:pPr algn="l">
              <a:defRPr sz="2800" b="0">
                <a:solidFill>
                  <a:srgbClr val="1F2D3D"/>
                </a:solidFill>
              </a:defRPr>
            </a:pPr>
            <a:r>
              <a:t>The contrasting results are striking: Febuxostat shows highly significant mutation-sensitive binding while Bufadienolide is unaffected. This ligand-dependent effect suggests the R702W mutation selectively disrupts certain binding modes. Febuxostat's carboxylic acid group likely interacts with residues whose positions are altered by the distant R702W substitution through an allosteric network.</a:t>
            </a:r>
          </a:p>
        </p:txBody>
      </p:sp>
      <p:sp>
        <p:nvSpPr>
          <p:cNvPr id="32" name="Rectangle 31"/>
          <p:cNvSpPr/>
          <p:nvPr/>
        </p:nvSpPr>
        <p:spPr>
          <a:xfrm>
            <a:off x="14173200" y="15453360"/>
            <a:ext cx="14630400" cy="50292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4264640" y="15517368"/>
            <a:ext cx="14630400" cy="411480"/>
          </a:xfrm>
          <a:prstGeom prst="rect">
            <a:avLst/>
          </a:prstGeom>
          <a:noFill/>
        </p:spPr>
        <p:txBody>
          <a:bodyPr wrap="square">
            <a:spAutoFit/>
          </a:bodyPr>
          <a:lstStyle/>
          <a:p>
            <a:pPr algn="l">
              <a:defRPr sz="3200" b="1">
                <a:solidFill>
                  <a:srgbClr val="FFFFFF"/>
                </a:solidFill>
              </a:defRPr>
            </a:pPr>
            <a:r>
              <a:t>APO MD CONFORMATIONAL ANALYSIS</a:t>
            </a:r>
          </a:p>
        </p:txBody>
      </p:sp>
      <p:sp>
        <p:nvSpPr>
          <p:cNvPr id="34" name="TextBox 33"/>
          <p:cNvSpPr txBox="1"/>
          <p:nvPr/>
        </p:nvSpPr>
        <p:spPr>
          <a:xfrm>
            <a:off x="14173200" y="16002000"/>
            <a:ext cx="14630400" cy="1371600"/>
          </a:xfrm>
          <a:prstGeom prst="rect">
            <a:avLst/>
          </a:prstGeom>
          <a:noFill/>
        </p:spPr>
        <p:txBody>
          <a:bodyPr wrap="square">
            <a:spAutoFit/>
          </a:bodyPr>
          <a:lstStyle/>
          <a:p>
            <a:pPr algn="l">
              <a:defRPr sz="2800" b="0">
                <a:solidFill>
                  <a:srgbClr val="1F2D3D"/>
                </a:solidFill>
              </a:defRPr>
            </a:pPr>
            <a:r>
              <a:t>To understand how R702W affects protein dynamics independent of ligand binding, I performed apo molecular dynamics comparing wild-type and mutant NOD2.</a:t>
            </a:r>
          </a:p>
        </p:txBody>
      </p:sp>
      <p:sp>
        <p:nvSpPr>
          <p:cNvPr id="35" name="Rectangle 34"/>
          <p:cNvSpPr/>
          <p:nvPr/>
        </p:nvSpPr>
        <p:spPr>
          <a:xfrm>
            <a:off x="14173200" y="17282160"/>
            <a:ext cx="14630400" cy="3657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4173200" y="18745200"/>
            <a:ext cx="14630400" cy="731520"/>
          </a:xfrm>
          <a:prstGeom prst="rect">
            <a:avLst/>
          </a:prstGeom>
          <a:noFill/>
        </p:spPr>
        <p:txBody>
          <a:bodyPr wrap="square">
            <a:spAutoFit/>
          </a:bodyPr>
          <a:lstStyle/>
          <a:p>
            <a:pPr algn="ctr">
              <a:defRPr sz="2400" b="0">
                <a:solidFill>
                  <a:srgbClr val="64748B"/>
                </a:solidFill>
              </a:defRPr>
            </a:pPr>
            <a:r>
              <a:t>[MD RMSD Distribution Chart]</a:t>
            </a:r>
          </a:p>
        </p:txBody>
      </p:sp>
      <p:sp>
        <p:nvSpPr>
          <p:cNvPr id="37" name="TextBox 36"/>
          <p:cNvSpPr txBox="1"/>
          <p:nvPr/>
        </p:nvSpPr>
        <p:spPr>
          <a:xfrm>
            <a:off x="14173200" y="20756880"/>
            <a:ext cx="14630400" cy="1097280"/>
          </a:xfrm>
          <a:prstGeom prst="rect">
            <a:avLst/>
          </a:prstGeom>
          <a:noFill/>
        </p:spPr>
        <p:txBody>
          <a:bodyPr wrap="square">
            <a:spAutoFit/>
          </a:bodyPr>
          <a:lstStyle/>
          <a:p>
            <a:pPr algn="ctr">
              <a:defRPr sz="2800" b="1">
                <a:solidFill>
                  <a:srgbClr val="C0392B"/>
                </a:solidFill>
              </a:defRPr>
            </a:pPr>
            <a:r>
              <a:t>WT Apo: Mean RMSD 4.05A | 12.6% frames exceed 5A threshold</a:t>
            </a:r>
            <a:br/>
            <a:r>
              <a:t>R702W Apo: Mean RMSD 3.27A | 0% frames exceed 5A threshold</a:t>
            </a:r>
          </a:p>
        </p:txBody>
      </p:sp>
      <p:sp>
        <p:nvSpPr>
          <p:cNvPr id="38" name="TextBox 37"/>
          <p:cNvSpPr txBox="1"/>
          <p:nvPr/>
        </p:nvSpPr>
        <p:spPr>
          <a:xfrm>
            <a:off x="14173200" y="21671280"/>
            <a:ext cx="14630400" cy="457200"/>
          </a:xfrm>
          <a:prstGeom prst="rect">
            <a:avLst/>
          </a:prstGeom>
          <a:noFill/>
        </p:spPr>
        <p:txBody>
          <a:bodyPr wrap="square">
            <a:spAutoFit/>
          </a:bodyPr>
          <a:lstStyle/>
          <a:p>
            <a:pPr algn="ctr">
              <a:defRPr sz="2000" b="0">
                <a:solidFill>
                  <a:srgbClr val="1F2D3D"/>
                </a:solidFill>
              </a:defRPr>
            </a:pPr>
            <a:r>
              <a:t>Fig 3: Conformational heterogeneity comparison (n=4 WT, n=3 R702W replicates)</a:t>
            </a:r>
          </a:p>
        </p:txBody>
      </p:sp>
      <p:sp>
        <p:nvSpPr>
          <p:cNvPr id="39" name="TextBox 38"/>
          <p:cNvSpPr txBox="1"/>
          <p:nvPr/>
        </p:nvSpPr>
        <p:spPr>
          <a:xfrm>
            <a:off x="14173200" y="22037040"/>
            <a:ext cx="14630400" cy="2560320"/>
          </a:xfrm>
          <a:prstGeom prst="rect">
            <a:avLst/>
          </a:prstGeom>
          <a:noFill/>
        </p:spPr>
        <p:txBody>
          <a:bodyPr wrap="square">
            <a:spAutoFit/>
          </a:bodyPr>
          <a:lstStyle/>
          <a:p>
            <a:pPr algn="l">
              <a:defRPr sz="2800" b="0">
                <a:solidFill>
                  <a:srgbClr val="1F2D3D"/>
                </a:solidFill>
              </a:defRPr>
            </a:pPr>
            <a:r>
              <a:t>The R702W mutant shows reduced conformational sampling compared to wild-type, with no frames exceeding the 5A RMSD threshold versus 12.6% for WT. This 'rigidification' is consistent with the mutation-sensitive binding observed in FEP: a less dynamic protein may be unable to accommodate certain ligands through induced-fit mechanisms.</a:t>
            </a:r>
          </a:p>
        </p:txBody>
      </p:sp>
      <p:sp>
        <p:nvSpPr>
          <p:cNvPr id="40" name="Rectangle 39"/>
          <p:cNvSpPr/>
          <p:nvPr/>
        </p:nvSpPr>
        <p:spPr>
          <a:xfrm>
            <a:off x="29260800" y="3200400"/>
            <a:ext cx="14173200" cy="50292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352240" y="3264408"/>
            <a:ext cx="14173200" cy="411480"/>
          </a:xfrm>
          <a:prstGeom prst="rect">
            <a:avLst/>
          </a:prstGeom>
          <a:noFill/>
        </p:spPr>
        <p:txBody>
          <a:bodyPr wrap="square">
            <a:spAutoFit/>
          </a:bodyPr>
          <a:lstStyle/>
          <a:p>
            <a:pPr algn="l">
              <a:defRPr sz="3200" b="1">
                <a:solidFill>
                  <a:srgbClr val="FFFFFF"/>
                </a:solidFill>
              </a:defRPr>
            </a:pPr>
            <a:r>
              <a:t>STRUCTURAL ANALYSIS</a:t>
            </a:r>
          </a:p>
        </p:txBody>
      </p:sp>
      <p:sp>
        <p:nvSpPr>
          <p:cNvPr id="42" name="TextBox 41"/>
          <p:cNvSpPr txBox="1"/>
          <p:nvPr/>
        </p:nvSpPr>
        <p:spPr>
          <a:xfrm>
            <a:off x="29260800" y="3749040"/>
            <a:ext cx="14173200" cy="1828800"/>
          </a:xfrm>
          <a:prstGeom prst="rect">
            <a:avLst/>
          </a:prstGeom>
          <a:noFill/>
        </p:spPr>
        <p:txBody>
          <a:bodyPr wrap="square">
            <a:spAutoFit/>
          </a:bodyPr>
          <a:lstStyle/>
          <a:p>
            <a:pPr algn="l">
              <a:defRPr sz="2800" b="0">
                <a:solidFill>
                  <a:srgbClr val="1F2D3D"/>
                </a:solidFill>
              </a:defRPr>
            </a:pPr>
            <a:r>
              <a:t>The R702W mutation resides in the HD2 domain, approximately 80 angstroms from the LRR ligand binding pocket. This physical separation necessitates an allosteric mechanism to explain the observed binding differences.</a:t>
            </a:r>
          </a:p>
        </p:txBody>
      </p:sp>
      <p:sp>
        <p:nvSpPr>
          <p:cNvPr id="43" name="Rectangle 42"/>
          <p:cNvSpPr/>
          <p:nvPr/>
        </p:nvSpPr>
        <p:spPr>
          <a:xfrm>
            <a:off x="29260800" y="5486400"/>
            <a:ext cx="14173200" cy="4572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9260800" y="7315200"/>
            <a:ext cx="14173200" cy="731520"/>
          </a:xfrm>
          <a:prstGeom prst="rect">
            <a:avLst/>
          </a:prstGeom>
          <a:noFill/>
        </p:spPr>
        <p:txBody>
          <a:bodyPr wrap="square">
            <a:spAutoFit/>
          </a:bodyPr>
          <a:lstStyle/>
          <a:p>
            <a:pPr algn="ctr">
              <a:defRPr sz="2200" b="0">
                <a:solidFill>
                  <a:srgbClr val="64748B"/>
                </a:solidFill>
              </a:defRPr>
            </a:pPr>
            <a:r>
              <a:t>[NOD2 Full Structure - Domain Colored]</a:t>
            </a:r>
          </a:p>
        </p:txBody>
      </p:sp>
      <p:sp>
        <p:nvSpPr>
          <p:cNvPr id="45" name="TextBox 44"/>
          <p:cNvSpPr txBox="1"/>
          <p:nvPr/>
        </p:nvSpPr>
        <p:spPr>
          <a:xfrm>
            <a:off x="29260800" y="9875520"/>
            <a:ext cx="14173200" cy="457200"/>
          </a:xfrm>
          <a:prstGeom prst="rect">
            <a:avLst/>
          </a:prstGeom>
          <a:noFill/>
        </p:spPr>
        <p:txBody>
          <a:bodyPr wrap="square">
            <a:spAutoFit/>
          </a:bodyPr>
          <a:lstStyle/>
          <a:p>
            <a:pPr algn="ctr">
              <a:defRPr sz="1800" b="0">
                <a:solidFill>
                  <a:srgbClr val="1F2D3D"/>
                </a:solidFill>
              </a:defRPr>
            </a:pPr>
            <a:r>
              <a:t>Fig 4: NOD2 architecture. HD2 (orange) contains R702W; LRR (green) contains binding site.</a:t>
            </a:r>
          </a:p>
        </p:txBody>
      </p:sp>
      <p:sp>
        <p:nvSpPr>
          <p:cNvPr id="46" name="Rectangle 45"/>
          <p:cNvSpPr/>
          <p:nvPr/>
        </p:nvSpPr>
        <p:spPr>
          <a:xfrm>
            <a:off x="29260800" y="10515600"/>
            <a:ext cx="14173200" cy="411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260800" y="12161520"/>
            <a:ext cx="14173200" cy="731520"/>
          </a:xfrm>
          <a:prstGeom prst="rect">
            <a:avLst/>
          </a:prstGeom>
          <a:noFill/>
        </p:spPr>
        <p:txBody>
          <a:bodyPr wrap="square">
            <a:spAutoFit/>
          </a:bodyPr>
          <a:lstStyle/>
          <a:p>
            <a:pPr algn="ctr">
              <a:defRPr sz="2200" b="0">
                <a:solidFill>
                  <a:srgbClr val="64748B"/>
                </a:solidFill>
              </a:defRPr>
            </a:pPr>
            <a:r>
              <a:t>[Binding Site with H-bonds]</a:t>
            </a:r>
          </a:p>
        </p:txBody>
      </p:sp>
      <p:sp>
        <p:nvSpPr>
          <p:cNvPr id="48" name="TextBox 47"/>
          <p:cNvSpPr txBox="1"/>
          <p:nvPr/>
        </p:nvSpPr>
        <p:spPr>
          <a:xfrm>
            <a:off x="29260800" y="14447520"/>
            <a:ext cx="14173200" cy="457200"/>
          </a:xfrm>
          <a:prstGeom prst="rect">
            <a:avLst/>
          </a:prstGeom>
          <a:noFill/>
        </p:spPr>
        <p:txBody>
          <a:bodyPr wrap="square">
            <a:spAutoFit/>
          </a:bodyPr>
          <a:lstStyle/>
          <a:p>
            <a:pPr algn="ctr">
              <a:defRPr sz="1800" b="0">
                <a:solidFill>
                  <a:srgbClr val="1F2D3D"/>
                </a:solidFill>
              </a:defRPr>
            </a:pPr>
            <a:r>
              <a:t>Fig 5: Febuxostat in LRR pocket. Yellow dashes = H-bonds to GLU1008, ARG1037.</a:t>
            </a:r>
          </a:p>
        </p:txBody>
      </p:sp>
      <p:sp>
        <p:nvSpPr>
          <p:cNvPr id="49" name="Rectangle 48"/>
          <p:cNvSpPr/>
          <p:nvPr/>
        </p:nvSpPr>
        <p:spPr>
          <a:xfrm>
            <a:off x="29260800" y="15087600"/>
            <a:ext cx="14173200" cy="50292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9352240" y="15151608"/>
            <a:ext cx="14173200" cy="411480"/>
          </a:xfrm>
          <a:prstGeom prst="rect">
            <a:avLst/>
          </a:prstGeom>
          <a:noFill/>
        </p:spPr>
        <p:txBody>
          <a:bodyPr wrap="square">
            <a:spAutoFit/>
          </a:bodyPr>
          <a:lstStyle/>
          <a:p>
            <a:pPr algn="l">
              <a:defRPr sz="3200" b="1">
                <a:solidFill>
                  <a:srgbClr val="FFFFFF"/>
                </a:solidFill>
              </a:defRPr>
            </a:pPr>
            <a:r>
              <a:t>KEY BINDING RESIDUES (PLIP)</a:t>
            </a:r>
          </a:p>
        </p:txBody>
      </p:sp>
      <p:sp>
        <p:nvSpPr>
          <p:cNvPr id="51" name="TextBox 50"/>
          <p:cNvSpPr txBox="1"/>
          <p:nvPr/>
        </p:nvSpPr>
        <p:spPr>
          <a:xfrm>
            <a:off x="29260800" y="15636240"/>
            <a:ext cx="14173200" cy="3200400"/>
          </a:xfrm>
          <a:prstGeom prst="rect">
            <a:avLst/>
          </a:prstGeom>
          <a:noFill/>
        </p:spPr>
        <p:txBody>
          <a:bodyPr wrap="square">
            <a:spAutoFit/>
          </a:bodyPr>
          <a:lstStyle/>
          <a:p>
            <a:pPr algn="l">
              <a:defRPr sz="2600" b="0">
                <a:solidFill>
                  <a:srgbClr val="1F2D3D"/>
                </a:solidFill>
              </a:defRPr>
            </a:pPr>
            <a:r>
              <a:t>Protein-Ligand Interaction Profiler analysis identified critical contacts:</a:t>
            </a:r>
            <a:br/>
            <a:r>
              <a:t>- ARG1034: H-bond (3.13A)</a:t>
            </a:r>
            <a:br/>
            <a:r>
              <a:t>- THR1036: H-bond (1.91A)</a:t>
            </a:r>
            <a:br/>
            <a:r>
              <a:t>- ARG1037: H-bond (2.93A)</a:t>
            </a:r>
            <a:br/>
            <a:r>
              <a:t>- Hydrophobic: LEU1007, VAL1009</a:t>
            </a:r>
            <a:br/>
            <a:br/>
            <a:r>
              <a:t>Contact frequencies from MD: GLU1008 (50-71%), ARG1037 (71-86%), ASP1011 (67-93%)</a:t>
            </a:r>
          </a:p>
        </p:txBody>
      </p:sp>
      <p:sp>
        <p:nvSpPr>
          <p:cNvPr id="52" name="Rectangle 51"/>
          <p:cNvSpPr/>
          <p:nvPr/>
        </p:nvSpPr>
        <p:spPr>
          <a:xfrm>
            <a:off x="29260800" y="18745200"/>
            <a:ext cx="14173200" cy="50292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9352240" y="18809208"/>
            <a:ext cx="14173200" cy="411480"/>
          </a:xfrm>
          <a:prstGeom prst="rect">
            <a:avLst/>
          </a:prstGeom>
          <a:noFill/>
        </p:spPr>
        <p:txBody>
          <a:bodyPr wrap="square">
            <a:spAutoFit/>
          </a:bodyPr>
          <a:lstStyle/>
          <a:p>
            <a:pPr algn="l">
              <a:defRPr sz="3200" b="1">
                <a:solidFill>
                  <a:srgbClr val="FFFFFF"/>
                </a:solidFill>
              </a:defRPr>
            </a:pPr>
            <a:r>
              <a:t>CONCLUSIONS</a:t>
            </a:r>
          </a:p>
        </p:txBody>
      </p:sp>
      <p:sp>
        <p:nvSpPr>
          <p:cNvPr id="54" name="TextBox 53"/>
          <p:cNvSpPr txBox="1"/>
          <p:nvPr/>
        </p:nvSpPr>
        <p:spPr>
          <a:xfrm>
            <a:off x="29260800" y="19293840"/>
            <a:ext cx="14173200" cy="5029200"/>
          </a:xfrm>
          <a:prstGeom prst="rect">
            <a:avLst/>
          </a:prstGeom>
          <a:noFill/>
        </p:spPr>
        <p:txBody>
          <a:bodyPr wrap="square">
            <a:spAutoFit/>
          </a:bodyPr>
          <a:lstStyle/>
          <a:p>
            <a:pPr algn="l">
              <a:defRPr sz="2600" b="0">
                <a:solidFill>
                  <a:srgbClr val="1F2D3D"/>
                </a:solidFill>
              </a:defRPr>
            </a:pPr>
            <a:r>
              <a:t>1. Developed NOD2-Scout ML pipeline (AUC 0.85-0.93) and screened 9,566 compounds against the NOD2 LRR domain.</a:t>
            </a:r>
            <a:br/>
            <a:br/>
            <a:r>
              <a:t>2. FEP calculations reveal ligand-dependent mutation effects: Febuxostat binding is 50x weaker in R702W (ddG = +2.34 kcal/mol, p&lt;0.001), while Bufadienolide shows no significant change.</a:t>
            </a:r>
            <a:br/>
            <a:br/>
            <a:r>
              <a:t>3. Apo MD demonstrates reduced conformational sampling in R702W (0% vs 12.6% frames &gt;5A), providing mechanistic context for mutation-sensitive binding.</a:t>
            </a:r>
            <a:br/>
            <a:br/>
            <a:r>
              <a:t>4. The 80A separation between R702W and the binding site implicates an allosteric mechanism transmitting mutation effects across domains.</a:t>
            </a:r>
          </a:p>
        </p:txBody>
      </p:sp>
      <p:sp>
        <p:nvSpPr>
          <p:cNvPr id="55" name="Rectangle 54"/>
          <p:cNvSpPr/>
          <p:nvPr/>
        </p:nvSpPr>
        <p:spPr>
          <a:xfrm>
            <a:off x="29260800" y="24231600"/>
            <a:ext cx="14173200" cy="50292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352240" y="24295608"/>
            <a:ext cx="14173200" cy="411480"/>
          </a:xfrm>
          <a:prstGeom prst="rect">
            <a:avLst/>
          </a:prstGeom>
          <a:noFill/>
        </p:spPr>
        <p:txBody>
          <a:bodyPr wrap="square">
            <a:spAutoFit/>
          </a:bodyPr>
          <a:lstStyle/>
          <a:p>
            <a:pPr algn="l">
              <a:defRPr sz="3200" b="1">
                <a:solidFill>
                  <a:srgbClr val="FFFFFF"/>
                </a:solidFill>
              </a:defRPr>
            </a:pPr>
            <a:r>
              <a:t>FUTURE DIRECTIONS</a:t>
            </a:r>
          </a:p>
        </p:txBody>
      </p:sp>
      <p:sp>
        <p:nvSpPr>
          <p:cNvPr id="57" name="TextBox 56"/>
          <p:cNvSpPr txBox="1"/>
          <p:nvPr/>
        </p:nvSpPr>
        <p:spPr>
          <a:xfrm>
            <a:off x="29260800" y="24780240"/>
            <a:ext cx="14173200" cy="2286000"/>
          </a:xfrm>
          <a:prstGeom prst="rect">
            <a:avLst/>
          </a:prstGeom>
          <a:noFill/>
        </p:spPr>
        <p:txBody>
          <a:bodyPr wrap="square">
            <a:spAutoFit/>
          </a:bodyPr>
          <a:lstStyle/>
          <a:p>
            <a:pPr algn="l">
              <a:defRPr sz="2600" b="0">
                <a:solidFill>
                  <a:srgbClr val="1F2D3D"/>
                </a:solidFill>
              </a:defRPr>
            </a:pPr>
            <a:r>
              <a:t>- Experimental validation: SPR and ITC binding assays</a:t>
            </a:r>
            <a:br/>
            <a:r>
              <a:t>- HDX-MS to probe allosteric communication pathway</a:t>
            </a:r>
            <a:br/>
            <a:r>
              <a:t>- Extend to additional Crohn's variants (G908R, L1007fs)</a:t>
            </a:r>
            <a:br/>
            <a:r>
              <a:t>- Cell-based NOD2 activation reporter assays</a:t>
            </a:r>
          </a:p>
        </p:txBody>
      </p:sp>
      <p:sp>
        <p:nvSpPr>
          <p:cNvPr id="58" name="Rectangle 57"/>
          <p:cNvSpPr/>
          <p:nvPr/>
        </p:nvSpPr>
        <p:spPr>
          <a:xfrm>
            <a:off x="0" y="31821119"/>
            <a:ext cx="438912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32004000"/>
            <a:ext cx="42976800" cy="731520"/>
          </a:xfrm>
          <a:prstGeom prst="rect">
            <a:avLst/>
          </a:prstGeom>
          <a:noFill/>
        </p:spPr>
        <p:txBody>
          <a:bodyPr wrap="square">
            <a:spAutoFit/>
          </a:bodyPr>
          <a:lstStyle/>
          <a:p>
            <a:pPr algn="ctr">
              <a:defRPr sz="2000" b="0">
                <a:solidFill>
                  <a:srgbClr val="FFFFFF"/>
                </a:solidFill>
              </a:defRPr>
            </a:pPr>
            <a:r>
              <a:t>References: Hugot et al. Nature 2001 | Jumper et al. Nature 2021 | Wang et al. JACS 2015 | Figures: PyMOL, PLIP (plip-tool.biotec.tu-dresden.de)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