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365760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4206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Deep Learning Guided Discovery and FEP Validation of NOD2 Binders for the R702W Crohn's 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206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7A5F"/>
                </a:solidFill>
              </a:defRPr>
            </a:pPr>
            <a:r>
              <a:t>Key Finding: Febuxostat shows 50× weaker binding in R702W mutant (ΔΔG = +2.34 kcal/mol, p&lt;0.001)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206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Tanmay Vasudeva  |  Texas Virtual Academy at Hallsville  |  ISEF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114800"/>
            <a:ext cx="109728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879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333333"/>
                </a:solidFill>
              </a:defRPr>
            </a:pPr>
            <a:r>
              <a:t>Can computational drug repurposing identify FDA-approved compounds that bind the NOD2 LRR domain, and how does the pathogenic R702W mutation affect their binding affinity?</a:t>
            </a:r>
            <a:br/>
            <a:br/>
            <a:r>
              <a:t>The R702W mutation causes 15-25% of Crohn's disease cases, yet no targeted therapies exist. This project combines machine learning screening with rigorous free energy perturbation (FEP) calculations to quantify mutation-sensitive binding.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8229600"/>
            <a:ext cx="109728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8302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88696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333333"/>
                </a:solidFill>
              </a:defRPr>
            </a:pPr>
            <a:r>
              <a:t>• NOD2 is an innate immune receptor that detects bacterial peptidoglycans</a:t>
            </a:r>
            <a:br/>
            <a:r>
              <a:t>• R702W mutation disrupts LRR domain function, causing impaired bacterial sensing</a:t>
            </a:r>
            <a:br/>
            <a:r>
              <a:t>• Located in HD2 domain, ~80Å from LRR binding site (allosteric effect)</a:t>
            </a:r>
            <a:br/>
            <a:r>
              <a:t>• Current treatments (anti-TNF, steroids) don't address root cause</a:t>
            </a:r>
            <a:br/>
            <a:r>
              <a:t>• Drug repurposing offers faster path to therapy than de novo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2801600"/>
            <a:ext cx="109728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2874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COMPUTATIONAL METHODS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3441680"/>
            <a:ext cx="10789920" cy="82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</a:defRPr>
            </a:pPr>
            <a:r>
              <a:t>1. TARGET PREPARATION</a:t>
            </a:r>
            <a:br/>
            <a:r>
              <a:t>   • AlphaFold2 structure of NOD2 (Q9HC29)</a:t>
            </a:r>
            <a:br/>
            <a:r>
              <a:t>   • LRR domain extracted (residues 744-1040)</a:t>
            </a:r>
            <a:br/>
            <a:br/>
            <a:r>
              <a:t>2. VIRTUAL SCREENING</a:t>
            </a:r>
            <a:br/>
            <a:r>
              <a:t>   • 9,566 FDA + natural product compounds</a:t>
            </a:r>
            <a:br/>
            <a:r>
              <a:t>   • GNINA CNN-based docking</a:t>
            </a:r>
            <a:br/>
            <a:r>
              <a:t>   • NOD2-Scout ML model (AUC: 0.85-0.93)</a:t>
            </a:r>
            <a:br/>
            <a:br/>
            <a:r>
              <a:t>3. MOLECULAR DYNAMICS</a:t>
            </a:r>
            <a:br/>
            <a:r>
              <a:t>   • OpenMM engine, AMBER14 + TIP3P-FB</a:t>
            </a:r>
            <a:br/>
            <a:r>
              <a:t>   • 520 ns total simulation time</a:t>
            </a:r>
            <a:br/>
            <a:r>
              <a:t>   • Apo WT vs R702W comparison</a:t>
            </a:r>
            <a:br/>
            <a:br/>
            <a:r>
              <a:t>4. FEP BINDING CALCULATIONS</a:t>
            </a:r>
            <a:br/>
            <a:r>
              <a:t>   • Gold-standard thermodynamic method</a:t>
            </a:r>
            <a:br/>
            <a:r>
              <a:t>   • 120 windows (80 complex + 40 solvent)</a:t>
            </a:r>
            <a:br/>
            <a:r>
              <a:t>   • ΔΔG = ΔG(R702W) - ΔG(WT)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1945600"/>
            <a:ext cx="10972800" cy="4572000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77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C6A87"/>
                </a:solidFill>
              </a:defRPr>
            </a:pPr>
            <a:r>
              <a:t>[INSERT: Pipeline Flowchart]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06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</a:defRPr>
            </a:pPr>
            <a:r>
              <a:t>Figure 1: Computational pipeline from screening to FEP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6974800"/>
            <a:ext cx="109728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70479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7614880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</a:defRPr>
            </a:pPr>
            <a:r>
              <a:t>• FEP performed on 2 representative ligands (compute cost)</a:t>
            </a:r>
            <a:br/>
            <a:r>
              <a:t>• Computational predictions require experimental validation</a:t>
            </a:r>
            <a:br/>
            <a:r>
              <a:t>• Apo MD only; ligand-bound dynamics not compared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115800" y="4114800"/>
            <a:ext cx="150876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252960" y="418795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STRUCTURAL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15800" y="4754880"/>
            <a:ext cx="15087600" cy="7315200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5800" y="7772400"/>
            <a:ext cx="1508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C6A87"/>
                </a:solidFill>
              </a:defRPr>
            </a:pPr>
            <a:r>
              <a:t>[INSERT: figA1_full_domains_white.png]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15800" y="11704320"/>
            <a:ext cx="1508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Figure 2: NOD2 domain architecture. CARD (gray), NBD (blue), HD2 (orange, contains R702W), LRR (green, binding site). Red sphere = R702W mutation, magenta = binding pocket.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115800" y="13075920"/>
            <a:ext cx="150876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252960" y="1314907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MUTATION SITE &amp; BINDING POCKET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15800" y="13716000"/>
            <a:ext cx="7406640" cy="5943600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115800" y="1600200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C6A87"/>
                </a:solidFill>
              </a:defRPr>
            </a:pPr>
            <a:r>
              <a:t>[INSERT: figA3_r702w_closeup.png]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15800" y="1938528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</a:defRPr>
            </a:pPr>
            <a:r>
              <a:t>Figure 3: R702W mutation site in HD2 domain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796760" y="13716000"/>
            <a:ext cx="7406640" cy="5943600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796760" y="16002000"/>
            <a:ext cx="7406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C6A87"/>
                </a:solidFill>
              </a:defRPr>
            </a:pPr>
            <a:r>
              <a:t>[INSERT: figB1_binding_hbonds_white.png]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796760" y="1938528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</a:defRPr>
            </a:pPr>
            <a:r>
              <a:t>Figure 4: Febuxostat binding. H-bonds (yellow) shown.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115800" y="20574000"/>
            <a:ext cx="150876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52960" y="2064715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PROTEIN-LIGAND INTERACTIONS (PLIP)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115800" y="21214080"/>
            <a:ext cx="15087600" cy="6400800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115800" y="23774400"/>
            <a:ext cx="1508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C6A87"/>
                </a:solidFill>
              </a:defRPr>
            </a:pPr>
            <a:r>
              <a:t>[INSERT: PLIP 2D Interaction Diagram]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15800" y="27340560"/>
            <a:ext cx="1508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</a:defRPr>
            </a:pPr>
            <a:r>
              <a:t>Figure 5: PLIP analysis confirms key contacts. H-bonds: ARG1034 (3.13Å), THR1036 (1.91Å), ARG1037 (2.93Å).</a:t>
            </a:r>
            <a:br/>
            <a:r>
              <a:t>Hydrophobic contacts with LEU1007, VAL1009. Binding pocket is 80Å from R702W (allosteric mechanism).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60600" y="4114800"/>
            <a:ext cx="150876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60" y="418795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FEP BINDING FREE ENERGY RESULTS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660600" y="4754880"/>
            <a:ext cx="15087600" cy="6400800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660600" y="7315200"/>
            <a:ext cx="1508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C6A87"/>
                </a:solidFill>
              </a:defRPr>
            </a:pPr>
            <a:r>
              <a:t>[INSERT: FEP ΔΔG Bar Chart]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117800" y="10972800"/>
            <a:ext cx="14173200" cy="320040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00680" y="11247120"/>
            <a:ext cx="1380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FEBUXOSTAT: ΔΔG = +2.34 ± 0.26 kcal/mol</a:t>
            </a:r>
            <a:br/>
            <a:r>
              <a:t>→ 50× WEAKER in R702W mutant | p &lt; 0.001 (8σ) ★★★</a:t>
            </a:r>
            <a:br/>
            <a:br/>
            <a:r>
              <a:t>BUFADIENOLIDE: ΔΔG = -0.44 ± 0.37 kcal/mol</a:t>
            </a:r>
            <a:br/>
            <a:r>
              <a:t>→ NO SIGNIFICANT CHANGE | p = NS (1.8σ)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660600" y="13990320"/>
            <a:ext cx="1508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</a:defRPr>
            </a:pPr>
            <a:r>
              <a:t>Figure 6: FEP binding calculations. Positive ΔΔG = weaker binding in mutant.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660600" y="14630400"/>
            <a:ext cx="150876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797760" y="1470355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APO MD CONFORMATIONAL ANALYSIS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660600" y="15270480"/>
            <a:ext cx="15087600" cy="4572000"/>
          </a:xfrm>
          <a:prstGeom prst="rect">
            <a:avLst/>
          </a:prstGeom>
          <a:solidFill>
            <a:srgbClr val="E8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60600" y="16916400"/>
            <a:ext cx="1508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C6A87"/>
                </a:solidFill>
              </a:defRPr>
            </a:pPr>
            <a:r>
              <a:t>[INSERT: MD RMSD / Conformational Chart]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843480" y="19659600"/>
            <a:ext cx="1472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33333"/>
                </a:solidFill>
              </a:defRPr>
            </a:pPr>
            <a:r>
              <a:t>WT Apo: 12.6% frames with RMSD &gt;5Å (higher conformational heterogeneity)</a:t>
            </a:r>
            <a:br/>
            <a:r>
              <a:t>R702W Apo: 0% frames with RMSD &gt;5Å (reduced conformational sampling)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660600" y="20756880"/>
            <a:ext cx="1508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33333"/>
                </a:solidFill>
              </a:defRPr>
            </a:pPr>
            <a:r>
              <a:t>Figure 7: Apo MD shows reduced conformational sampling in R702W mutant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660600" y="21671280"/>
            <a:ext cx="150876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797760" y="2174443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CONCLUSIONS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752040" y="22311360"/>
            <a:ext cx="1490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</a:defRPr>
            </a:pPr>
            <a:r>
              <a:t>1. Built ML screening pipeline (NOD2-Scout, AUC 0.85-0.93) and screened 9,566 compounds against NOD2 LRR domain</a:t>
            </a:r>
            <a:br/>
            <a:br/>
            <a:r>
              <a:t>2. FEP calculations quantify mutation-sensitive binding:</a:t>
            </a:r>
            <a:br/>
            <a:r>
              <a:t>   • Febuxostat: +2.34 kcal/mol weaker in R702W (50×, p&lt;0.001)</a:t>
            </a:r>
            <a:br/>
            <a:r>
              <a:t>   • Bufadienolide: No significant change between WT and R702W</a:t>
            </a:r>
            <a:br/>
            <a:br/>
            <a:r>
              <a:t>3. Apo MD reveals reduced conformational sampling in R702W (0% vs 12.6% frames &gt;5Å), consistent with mutation-sensitive binding</a:t>
            </a:r>
            <a:br/>
            <a:br/>
            <a:r>
              <a:t>4. R702W is 80Å from binding site, suggesting allosteric mechanism for mutation-dependent binding differences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660600" y="27432000"/>
            <a:ext cx="15087600" cy="54864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797760" y="27505152"/>
            <a:ext cx="1508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FUTURE DIRECTIONS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752040" y="28072080"/>
            <a:ext cx="1490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33333"/>
                </a:solidFill>
              </a:defRPr>
            </a:pPr>
            <a:r>
              <a:t>• Experimental validation: SPR, ITC binding assays</a:t>
            </a:r>
            <a:br/>
            <a:r>
              <a:t>• HDX-MS to probe conformational dynamics</a:t>
            </a:r>
            <a:br/>
            <a:r>
              <a:t>• Test additional Crohn's mutations (G908R, L1007fs)</a:t>
            </a:r>
            <a:br/>
            <a:r>
              <a:t>• Cell-based NOD2 activation reporter assays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31546800"/>
            <a:ext cx="43891200" cy="1371600"/>
          </a:xfrm>
          <a:prstGeom prst="rect">
            <a:avLst/>
          </a:prstGeom>
          <a:solidFill>
            <a:srgbClr val="14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4400" y="31729680"/>
            <a:ext cx="4206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References: Hugot et al. Nature 2001 | Jumper et al. Nature 2021 (AlphaFold) | Wang et al. JACS 2015 (FEP) | All figures by author using PyMOL, PLIP, matplotlib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