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2560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297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Deep Learning Guided Discovery and FEP Validation of NOD2 Binders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29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for the R702W Crohn's Disease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297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Tanmay Vasudeva  |  Texas Virtual Academy at Hallsville  |  ISEF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743200"/>
            <a:ext cx="3291840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2834640"/>
            <a:ext cx="3255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KEY FINDING: Febuxostat shows 50x weaker binding in R702W mutant (ddG = +2.34 kcal/mol, p&lt;0.001)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12801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261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1280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What mechanisms explain how the NOD2 R702W variant alters drug binding? I developed a pipeline combining ML screening with FEP calculations to quantify mutation-sensitive binding for FDA compounds.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97880"/>
            <a:ext cx="12801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261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280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NOD2 detects bacterial peptidoglycans and initiates NF-kB signaling. R702W causes 15-25% of Crohn's disease cases. The mutation is in HD2 domain, 80A from the LRR binding site. No targeted therapies exist for R702W carriers. Drug repurposing offers faster path to therapy.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8778240"/>
            <a:ext cx="12801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8823960"/>
            <a:ext cx="1261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281160"/>
            <a:ext cx="1280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D3D"/>
                </a:solidFill>
              </a:defRPr>
            </a:pPr>
            <a:r>
              <a:t>1. Structure: AlphaFold2 NOD2 (Q9HC29), LRR domain extracted (res 744-1040)</a:t>
            </a:r>
            <a:br/>
            <a:br/>
            <a:r>
              <a:t>2. Screening: 9,566 FDA + natural compounds via GNINA CNN docking</a:t>
            </a:r>
            <a:br/>
            <a:br/>
            <a:r>
              <a:t>3. ML Scoring: NOD2-Scout classifier, AUC 0.85-0.93 (scaffold-split CV)</a:t>
            </a:r>
            <a:br/>
            <a:br/>
            <a:r>
              <a:t>4. MD Simulation: OpenMM, AMBER14, 520 ns total, 310K, TIP3P-FB</a:t>
            </a:r>
            <a:br/>
            <a:br/>
            <a:r>
              <a:t>5. FEP Binding: 120 windows per ligand, thermodynamic cycle, ddG = dG(mut) - dG(WT)</a:t>
            </a:r>
          </a:p>
        </p:txBody>
      </p:sp>
      <p:pic>
        <p:nvPicPr>
          <p:cNvPr id="18" name="Picture 1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87400"/>
            <a:ext cx="12801600" cy="3657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7236439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D3D"/>
                </a:solidFill>
              </a:defRPr>
            </a:pPr>
            <a:r>
              <a:t>Fig 1: Computational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7693639"/>
            <a:ext cx="12801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7739359"/>
            <a:ext cx="1261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8196559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D3D"/>
                </a:solidFill>
              </a:defRPr>
            </a:pPr>
            <a:r>
              <a:t>FEP on 2 ligands (compute cost). Predictions need experimental validation. Apo MD 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624560" y="3657600"/>
            <a:ext cx="1481328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0" y="370332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FEP BINDING FREE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0" y="4160520"/>
            <a:ext cx="1481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FEP is the gold standard for binding affinity. Positive ddG = weaker binding in mutant.</a:t>
            </a:r>
          </a:p>
        </p:txBody>
      </p:sp>
      <p:pic>
        <p:nvPicPr>
          <p:cNvPr id="26" name="Picture 25" descr="fep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0" y="5074920"/>
            <a:ext cx="14813280" cy="411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624560" y="9281160"/>
            <a:ext cx="1481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D3D"/>
                </a:solidFill>
              </a:defRPr>
            </a:pPr>
            <a:r>
              <a:t>Fig 2: FEP binding calculations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624560" y="9738360"/>
            <a:ext cx="1481328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7440" y="10012680"/>
            <a:ext cx="1444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FEBUXOSTAT: ddG = +2.34 kcal/mol | 50x weaker | p&lt;0.001 (8s)</a:t>
            </a:r>
            <a:br/>
            <a:r>
              <a:t>BUFADIENOLIDE: ddG = -0.44 kcal/mol | No change | NS (1.8s)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24560" y="11750040"/>
            <a:ext cx="1481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Febuxostat shows significant mutation-sensitive binding while Bufadienolide is unaffected. This ligand-dependent effect suggests R702W selectively disrupts certain binding modes through allosteric communication.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624560" y="13578840"/>
            <a:ext cx="1481328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0" y="1362456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APO MD CONFORMATIONAL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4560" y="14081760"/>
            <a:ext cx="1481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MD without ligand reveals how R702W affects protein dynamics.</a:t>
            </a:r>
          </a:p>
        </p:txBody>
      </p:sp>
      <p:pic>
        <p:nvPicPr>
          <p:cNvPr id="34" name="Picture 33" descr="md_rms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560" y="14813280"/>
            <a:ext cx="7132320" cy="3657600"/>
          </a:xfrm>
          <a:prstGeom prst="rect">
            <a:avLst/>
          </a:prstGeom>
        </p:spPr>
      </p:pic>
      <p:pic>
        <p:nvPicPr>
          <p:cNvPr id="35" name="Picture 34" descr="heterogene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639" y="14813280"/>
            <a:ext cx="7132320" cy="3657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624560" y="18562319"/>
            <a:ext cx="1481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D3D"/>
                </a:solidFill>
              </a:defRPr>
            </a:pPr>
            <a:r>
              <a:t>Fig 3: RMSD traces and conformational heterogeneity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24560" y="19019519"/>
            <a:ext cx="1481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</a:defRPr>
            </a:pPr>
            <a:r>
              <a:t>WT: 12.6% frames &gt;5A (higher flexibility) | R702W: 0% frames &gt;5A (reduced sampling)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24560" y="19751039"/>
            <a:ext cx="1481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R702W shows reduced conformational sampling - the mutant is 'rigidified'. This may prevent induced-fit binding, explaining mutation-sensitive effects.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0" y="3657600"/>
            <a:ext cx="1481328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95040" y="370332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STRUCTURAL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0" y="4160520"/>
            <a:ext cx="1481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F2D3D"/>
                </a:solidFill>
              </a:defRPr>
            </a:pPr>
            <a:r>
              <a:t>R702W is 80A from binding site - requires allosteric mechanism.</a:t>
            </a:r>
          </a:p>
        </p:txBody>
      </p:sp>
      <p:pic>
        <p:nvPicPr>
          <p:cNvPr id="42" name="Picture 41" descr="figA1_full_doma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0" y="4892040"/>
            <a:ext cx="14813280" cy="4572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8803600" y="955548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D3D"/>
                </a:solidFill>
              </a:defRPr>
            </a:pPr>
            <a:r>
              <a:t>Fig 4: NOD2 domains. HD2 (orange)=R702W site, LRR (green)=binding</a:t>
            </a:r>
          </a:p>
        </p:txBody>
      </p:sp>
      <p:pic>
        <p:nvPicPr>
          <p:cNvPr id="44" name="Picture 43" descr="figB1_binding_hbond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0" y="10104120"/>
            <a:ext cx="14813280" cy="4114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8803600" y="1431036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D3D"/>
                </a:solidFill>
              </a:defRPr>
            </a:pPr>
            <a:r>
              <a:t>Fig 5: Febuxostat binding. H-bonds to GLU1008, ARG1037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3600" y="14859000"/>
            <a:ext cx="1481328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95040" y="1490472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0" y="15361920"/>
            <a:ext cx="1481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D3D"/>
                </a:solidFill>
              </a:defRPr>
            </a:pPr>
            <a:r>
              <a:t>1. Built NOD2-Scout ML pipeline (AUC 0.85-0.93), screened 9,566 compounds</a:t>
            </a:r>
            <a:br/>
            <a:br/>
            <a:r>
              <a:t>2. FEP shows ligand-dependent mutation effects:</a:t>
            </a:r>
            <a:br/>
            <a:r>
              <a:t>   - Febuxostat: 50x weaker in R702W (p&lt;0.001)</a:t>
            </a:r>
            <a:br/>
            <a:r>
              <a:t>   - Bufadienolide: No significant change</a:t>
            </a:r>
            <a:br/>
            <a:br/>
            <a:r>
              <a:t>3. Apo MD: R702W has reduced conformational sampling (0% vs 12.6% &gt;5A)</a:t>
            </a:r>
            <a:br/>
            <a:br/>
            <a:r>
              <a:t>4. 80A distance implies allosteric mechanism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0" y="19202400"/>
            <a:ext cx="1481328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95040" y="1924812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0" y="19705320"/>
            <a:ext cx="1481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D3D"/>
                </a:solidFill>
              </a:defRPr>
            </a:pPr>
            <a:r>
              <a:t>- SPR/ITC binding validation</a:t>
            </a:r>
            <a:br/>
            <a:r>
              <a:t>- HDX-MS for allosteric pathway</a:t>
            </a:r>
            <a:br/>
            <a:r>
              <a:t>- Test G908R, L1007fs mutations</a:t>
            </a:r>
            <a:br/>
            <a:r>
              <a:t>- Cell-based NOD2 reporter assays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32004000"/>
            <a:ext cx="438912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2141160"/>
            <a:ext cx="4297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References: Hugot et al. Nature 2001 | Jumper et al. Nature 2021 | Wang et al. JACS 2015 | Figures by author (PyMOL, matplotlib)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