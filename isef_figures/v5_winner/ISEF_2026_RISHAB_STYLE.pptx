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4206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DEEP LEARNING GUIDED DISCOVERY AND FEP VALIDATION OF NOD2 BINDERS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206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Targeting the R702W Crohn's Disease Variant with Structure-Based Drug Repurposing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206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Tanmay Vasudeva  •  Texas Virtual Academy at Hallsville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0058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VISUAL ABSTRACT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100584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9509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A1F44"/>
                </a:solidFill>
              </a:defRPr>
            </a:pPr>
            <a:r>
              <a:t>NOD2 Mutation (R702W)</a:t>
            </a:r>
            <a:br/>
            <a:r>
              <a:t>     ↓</a:t>
            </a:r>
            <a:br/>
            <a:r>
              <a:t>Reduced LRR Stability</a:t>
            </a:r>
            <a:br/>
            <a:r>
              <a:t>     ↓</a:t>
            </a:r>
            <a:br/>
            <a:r>
              <a:t>ML Screening (9,566 compounds)</a:t>
            </a:r>
            <a:br/>
            <a:r>
              <a:t>     ↓</a:t>
            </a:r>
            <a:br/>
            <a:r>
              <a:t>FEP Validation</a:t>
            </a:r>
            <a:br/>
            <a:r>
              <a:t>     ↓</a:t>
            </a:r>
            <a:br/>
            <a:r>
              <a:t>Febuxostat: 50× weaker in mutant</a:t>
            </a:r>
            <a:br/>
            <a:r>
              <a:t>Buffadienolide: No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8229600"/>
            <a:ext cx="10058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8275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8778240"/>
            <a:ext cx="9692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Crohn's disease affects 3M+ people globally</a:t>
            </a:r>
            <a:br/>
            <a:r>
              <a:t>• NOD2 R702W mutation causes 15-25% of cases</a:t>
            </a:r>
            <a:br/>
            <a:r>
              <a:t>• R702W disrupts LRR domain sensing function</a:t>
            </a:r>
            <a:br/>
            <a:r>
              <a:t>• No targeted therapies exist for this variant</a:t>
            </a:r>
            <a:br/>
            <a:r>
              <a:t>• Hypothesis: Drug repurposing can restore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2801600"/>
            <a:ext cx="10058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2847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PROBLEM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3350240"/>
            <a:ext cx="9692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R702W is 80Å from binding site (allosteric)</a:t>
            </a:r>
            <a:br/>
            <a:r>
              <a:t>• FEP shows mutation-sensitive binding</a:t>
            </a:r>
            <a:br/>
            <a:r>
              <a:t>• Need: Identify compounds that bind despite mutation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002000"/>
            <a:ext cx="10058400" cy="54864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830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[INSERT: figA1_full_domains_white.png]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Fig 1: NOD2 Domain Architecture. R702W (red) in HD2 domain.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402800"/>
            <a:ext cx="10058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2448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2951440"/>
            <a:ext cx="9692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1. Screen FDA library against NOD2 LRR</a:t>
            </a:r>
            <a:br/>
            <a:r>
              <a:t>2. Validate hits with FEP binding calculations</a:t>
            </a:r>
            <a:br/>
            <a:r>
              <a:t>3. Compare WT vs R702W binding affinity</a:t>
            </a:r>
            <a:br/>
            <a:r>
              <a:t>4. Identify mutation-sensitive compounds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0" y="3657600"/>
            <a:ext cx="16459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370332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COMPUTATIONAL PIPELINE &amp; METHODOLOGY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0" y="4297680"/>
            <a:ext cx="3657600" cy="22860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Step 1</a:t>
            </a:r>
            <a:br/>
            <a:r>
              <a:t>Target Prep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52120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AlphaFold2</a:t>
            </a:r>
            <a:br/>
            <a:r>
              <a:t>NOD2 LRR</a:t>
            </a:r>
            <a:br/>
            <a:r>
              <a:t>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0" y="4297680"/>
            <a:ext cx="3657600" cy="22860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6192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Step 2</a:t>
            </a:r>
            <a:br/>
            <a:r>
              <a:t>ML Screening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0" y="52120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NOD2-Scout</a:t>
            </a:r>
            <a:br/>
            <a:r>
              <a:t>AUC: 0.85-0.93</a:t>
            </a:r>
            <a:br/>
            <a:r>
              <a:t>9,566 compounds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93840" y="4297680"/>
            <a:ext cx="3657600" cy="22860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9384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Step 3</a:t>
            </a:r>
            <a:br/>
            <a:r>
              <a:t>MD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93840" y="52120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520 ns total</a:t>
            </a:r>
            <a:br/>
            <a:r>
              <a:t>OpenMM</a:t>
            </a:r>
            <a:br/>
            <a:r>
              <a:t>AMBER14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225760" y="4297680"/>
            <a:ext cx="3657600" cy="22860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2576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Step 4</a:t>
            </a:r>
            <a:br/>
            <a:r>
              <a:t>FEP Binding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0" y="52120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Gold Standard</a:t>
            </a:r>
            <a:br/>
            <a:r>
              <a:t>120 windows</a:t>
            </a:r>
            <a:br/>
            <a:r>
              <a:t>ΔΔG calculation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0" y="6858000"/>
            <a:ext cx="16459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0" y="690372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RESULTS &amp; IN-SILICO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0" y="7498080"/>
            <a:ext cx="16459200" cy="73152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0" y="777240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[INSERT: FEP BAR CHART - BIGGEST FIGURE]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118872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2200" b="1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FEBUXOSTAT                    │  BUFADIENOLIDE            │</a:t>
            </a:r>
            <a:br/>
            <a:r>
              <a:t>│  ΔΔG = +2.34 kcal/mol          │  ΔΔG = -0.44 kcal/mol     │</a:t>
            </a:r>
            <a:br/>
            <a:r>
              <a:t>│  50× WEAKER in R702W           │  NO SIGNIFICANT CHANGE    │</a:t>
            </a:r>
            <a:br/>
            <a:r>
              <a:t>│  p &lt; 0.001 (8σ) ***            │  NS (1.8σ)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  <p:sp>
        <p:nvSpPr>
          <p:cNvPr id="42" name="TextBox 41"/>
          <p:cNvSpPr txBox="1"/>
          <p:nvPr/>
        </p:nvSpPr>
        <p:spPr>
          <a:xfrm>
            <a:off x="10972800" y="1444752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Fig 3: FEP Binding Free Energy. Mutation-sensitive binding for Febuxostat.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0" y="15361920"/>
            <a:ext cx="16459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40" y="1540764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MOLECULAR BINDING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01400" y="16002000"/>
            <a:ext cx="7772400" cy="59436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01400" y="18288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[INSERT: figB1_binding_hbonds_white.png]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21671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Fig 4: Febuxostat Binding. H-bonds (yellow) to key residues.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0" y="16002000"/>
            <a:ext cx="7772400" cy="59436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400" y="18288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[INSERT: PLIP 2D Interaction Diagram]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0" y="21671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Fig 5: PLIP Analysis. ARG1034, THR1036, ARG1037 contacts.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0" y="22677120"/>
            <a:ext cx="16459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2272284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APO MD DYNAMICS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23225760"/>
            <a:ext cx="1591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Conformational Sampling Analysis (Apo MD, no ligand):</a:t>
            </a:r>
            <a:br/>
            <a:r>
              <a:t>• WT: 12.6% frames &gt;5Å RMSD (higher heterogeneity)</a:t>
            </a:r>
            <a:br/>
            <a:r>
              <a:t>• R702W: 0% frames &gt;5Å RMSD (reduced sampling)</a:t>
            </a:r>
            <a:br/>
            <a:r>
              <a:t>• Consistent with mutation-sensitive binding observed in FEP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0" y="3657600"/>
            <a:ext cx="14630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437840" y="3703320"/>
            <a:ext cx="1444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STATISTICAL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0" y="4206240"/>
            <a:ext cx="1426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FEP Statistical Validation:</a:t>
            </a:r>
            <a:br/>
            <a:r>
              <a:t>• Febuxostat: 8σ significance (p &lt; 0.001)</a:t>
            </a:r>
            <a:br/>
            <a:r>
              <a:t>• Error propagation: SEM from 3 replicates</a:t>
            </a:r>
            <a:br/>
            <a:r>
              <a:t>• 120 FEP windows (80 complex + 40 solvent)</a:t>
            </a:r>
            <a:br/>
            <a:br/>
            <a:r>
              <a:t>Key Binding Residues (PLIP confirmed):</a:t>
            </a:r>
            <a:br/>
            <a:r>
              <a:t>• GLU1008: 50-71% contact frequency</a:t>
            </a:r>
            <a:br/>
            <a:r>
              <a:t>• ARG1037: 71-86% contact frequency</a:t>
            </a:r>
            <a:br/>
            <a:r>
              <a:t>• ASP1011: 67-93% contact frequency</a:t>
            </a:r>
            <a:br/>
            <a:r>
              <a:t>• ARG1034: 82-88% contact frequency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0" y="9144000"/>
            <a:ext cx="14630400" cy="5029200"/>
          </a:xfrm>
          <a:prstGeom prst="rect">
            <a:avLst/>
          </a:prstGeom>
          <a:solidFill>
            <a:srgbClr val="42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0" y="109728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[INSERT: figA3_r702w_closeup.png]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46400" y="1389888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Fig 6: R702W Mutation Site. 80Å from binding pocket (allosteric).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0" y="14630400"/>
            <a:ext cx="14630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437840" y="14676120"/>
            <a:ext cx="1444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0" y="15179040"/>
            <a:ext cx="14264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1. Built ML pipeline screening 9,566 compounds</a:t>
            </a:r>
            <a:br/>
            <a:r>
              <a:t>   against NOD2 LRR (AUC 0.85-0.93)</a:t>
            </a:r>
            <a:br/>
            <a:br/>
            <a:r>
              <a:t>2. FEP quantifies mutation-sensitive binding:</a:t>
            </a:r>
            <a:br/>
            <a:r>
              <a:t>   • Febuxostat: +2.34 kcal/mol (50× weaker, p&lt;0.001)</a:t>
            </a:r>
            <a:br/>
            <a:r>
              <a:t>   • Bufadienolide: No significant change</a:t>
            </a:r>
            <a:br/>
            <a:br/>
            <a:r>
              <a:t>3. Apo MD shows reduced conformational sampling</a:t>
            </a:r>
            <a:br/>
            <a:r>
              <a:t>   in R702W (0% vs 12.6% frames &gt;5Å)</a:t>
            </a:r>
            <a:br/>
            <a:br/>
            <a:r>
              <a:t>4. Ligand-dependent binding differences suggest</a:t>
            </a:r>
            <a:br/>
            <a:r>
              <a:t>   allosteric mechanism from distant mutation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0" y="21031200"/>
            <a:ext cx="14630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437840" y="21076920"/>
            <a:ext cx="1444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529280" y="21579840"/>
            <a:ext cx="1426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Experimental validation (SPR, ITC binding assays)</a:t>
            </a:r>
            <a:br/>
            <a:r>
              <a:t>• HDX-MS to probe conformational dynamics</a:t>
            </a:r>
            <a:br/>
            <a:r>
              <a:t>• Test additional mutations (G908R, L1007fs)</a:t>
            </a:r>
            <a:br/>
            <a:r>
              <a:t>• Cell-based NOD2 activation assays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0" y="24688800"/>
            <a:ext cx="14630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437840" y="24734520"/>
            <a:ext cx="1444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0" y="25237440"/>
            <a:ext cx="1426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Hugot et al. Nature 2001 (NOD2-Crohn's link)</a:t>
            </a:r>
            <a:br/>
            <a:r>
              <a:t>• AlphaFold2: Jumper et al. Nature 2021</a:t>
            </a:r>
            <a:br/>
            <a:r>
              <a:t>• FEP methodology: Wang et al. JACS 2015</a:t>
            </a:r>
            <a:br/>
            <a:r>
              <a:t>• All figures generated by author using PyMOL, PLIP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31546800"/>
            <a:ext cx="438912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31729680"/>
            <a:ext cx="4206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Computational resources provided by local workstation. All code and analysis performed independently by the author. Contact: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