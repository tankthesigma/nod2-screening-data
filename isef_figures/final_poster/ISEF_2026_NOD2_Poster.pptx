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5486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Deep Learning Guided Discovery and FEP Validation</a:t>
            </a:r>
            <a:br/>
            <a:r>
              <a:t>of NOD2 Binders for the R702W Crohn's 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3200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Tanmay Vasudeva  •  Texas Virtual Academy at Hallsville  •  ISEF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29260800" cy="128016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I built a screening pipeline for NOD2 binders and used FEP to quantify how the R702W variant changes binding for specific ligands, with apo MD providing supporting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943600"/>
            <a:ext cx="9601200" cy="1645920"/>
          </a:xfrm>
          <a:prstGeom prst="roundRect">
            <a:avLst/>
          </a:prstGeom>
          <a:solidFill>
            <a:srgbClr val="F7FAFC"/>
          </a:solidFill>
          <a:ln w="381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126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D8936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6080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FEP: Febuxostat Mutation-Sensitive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672084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202C"/>
                </a:solidFill>
              </a:defRPr>
            </a:pPr>
            <a:r>
              <a:t>ΔΔG = +2.34 kcal/mol, 50× weaker (p&lt;0.001)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0" y="5943600"/>
            <a:ext cx="9601200" cy="1645920"/>
          </a:xfrm>
          <a:prstGeom prst="roundRect">
            <a:avLst/>
          </a:prstGeom>
          <a:solidFill>
            <a:srgbClr val="F7FAFC"/>
          </a:solidFill>
          <a:ln w="381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0" y="6126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D893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0" y="6080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FEP: Bufadienolide No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0" y="672084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202C"/>
                </a:solidFill>
              </a:defRPr>
            </a:pPr>
            <a:r>
              <a:t>ΔΔG = -0.44 kcal/mol (NS)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0" y="5943600"/>
            <a:ext cx="9601200" cy="1645920"/>
          </a:xfrm>
          <a:prstGeom prst="roundRect">
            <a:avLst/>
          </a:prstGeom>
          <a:solidFill>
            <a:srgbClr val="F7FAFC"/>
          </a:solidFill>
          <a:ln w="381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0" y="6126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D8936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0" y="6080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Apo MD: Reduced R702W 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0" y="672084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202C"/>
                </a:solidFill>
              </a:defRPr>
            </a:pPr>
            <a:r>
              <a:t>WT: 12.6% vs R702W: 0% frames &gt;5Å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229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8869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NOD2 mutations cause 15-25% of Crohn's disease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R702W is the most common mutation (~10% of patients)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Literature describes R702W as "destabilizing" NOD2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Hypothesis: Test binding differences at molecular level</a:t>
            </a:r>
          </a:p>
        </p:txBody>
      </p:sp>
      <p:pic>
        <p:nvPicPr>
          <p:cNvPr id="20" name="Picture 19" descr="figure1_pipeline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0"/>
            <a:ext cx="10058400" cy="2863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14630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27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9,566 compounds (2,152 FDA + 7,414 natural products)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GNINA CNN-docking on AlphaFold2 NOD2 LRR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NOD2-Scout ML: AUC 0.85-0.93 (scaffold-split CV)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MD: OpenMM, AMBER14 + OpenFF 2.1.0, 520 ns total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FEP: Gold-standard thermodynamic binding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8229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FEP Binding Results (Gold Standard)</a:t>
            </a:r>
          </a:p>
        </p:txBody>
      </p:sp>
      <p:pic>
        <p:nvPicPr>
          <p:cNvPr id="24" name="Picture 23" descr="figure4_fe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8961120"/>
            <a:ext cx="9144000" cy="739754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30000" y="1417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FEP Quantitative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14813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02C"/>
                </a:solidFill>
              </a:defRPr>
            </a:pPr>
            <a:r>
              <a:t>Compound         ΔG(WT)      ΔG(R702W)    ΔΔG         Significance</a:t>
            </a:r>
          </a:p>
          <a:p>
            <a:pPr>
              <a:spcAft>
                <a:spcPts val="600"/>
              </a:spcAft>
              <a:defRPr sz="1800">
                <a:solidFill>
                  <a:srgbClr val="1A202C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800">
                <a:solidFill>
                  <a:srgbClr val="1A202C"/>
                </a:solidFill>
              </a:defRPr>
            </a:pPr>
            <a:r>
              <a:t>Febuxostat      -10.36       -8.02      +2.34 kcal/mol   ***  (8σ)</a:t>
            </a:r>
          </a:p>
          <a:p>
            <a:pPr>
              <a:spcAft>
                <a:spcPts val="600"/>
              </a:spcAft>
              <a:defRPr sz="1800">
                <a:solidFill>
                  <a:srgbClr val="1A202C"/>
                </a:solidFill>
              </a:defRPr>
            </a:pPr>
            <a:r>
              <a:t>Bufadienolide   -15.22      -15.66      -0.44 kcal/mol    NS  (1.8σ)</a:t>
            </a:r>
          </a:p>
          <a:p>
            <a:pPr>
              <a:spcAft>
                <a:spcPts val="600"/>
              </a:spcAft>
              <a:defRPr sz="1800">
                <a:solidFill>
                  <a:srgbClr val="1A202C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202C"/>
                </a:solidFill>
              </a:defRPr>
            </a:pPr>
            <a:r>
              <a:t>Key: *** = p&lt;0.001 (highly significant), NS = not significant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17830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Apo MD: Supporting Context</a:t>
            </a:r>
          </a:p>
        </p:txBody>
      </p:sp>
      <p:pic>
        <p:nvPicPr>
          <p:cNvPr id="28" name="Picture 27" descr="figure2_rmsd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8562320"/>
            <a:ext cx="4572000" cy="3790483"/>
          </a:xfrm>
          <a:prstGeom prst="rect">
            <a:avLst/>
          </a:prstGeom>
        </p:spPr>
      </p:pic>
      <p:pic>
        <p:nvPicPr>
          <p:cNvPr id="29" name="Picture 28" descr="figure3_heterogeneity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0" y="18562320"/>
            <a:ext cx="4572000" cy="3790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2402800" y="8229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NOD2 Structure &amp; Binding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0" y="89611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202C"/>
                </a:solidFill>
              </a:defRPr>
            </a:pPr>
            <a:r>
              <a:t>[Insert PyMOL structure images here]</a:t>
            </a:r>
            <a:br/>
            <a:br/>
            <a:r>
              <a:t>• Run pathway_diagram_10K.pml in PyMOL</a:t>
            </a:r>
            <a:br/>
            <a:r>
              <a:t>• Insert img1-img6 from pathway_diagram folder</a:t>
            </a:r>
            <a:br/>
            <a:br/>
            <a:r>
              <a:t>Domain colors:</a:t>
            </a:r>
            <a:br/>
            <a:r>
              <a:t>• Gray: CARD domains</a:t>
            </a:r>
            <a:br/>
            <a:r>
              <a:t>• Blue: NBD</a:t>
            </a:r>
            <a:br/>
            <a:r>
              <a:t>• Cyan: HD1</a:t>
            </a:r>
            <a:br/>
            <a:r>
              <a:t>• Orange: HD2 (R702W location)</a:t>
            </a:r>
            <a:br/>
            <a:r>
              <a:t>• Green: LRR (binding domain)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0" y="14630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MD Binding Validation</a:t>
            </a:r>
          </a:p>
        </p:txBody>
      </p:sp>
      <p:pic>
        <p:nvPicPr>
          <p:cNvPr id="33" name="Picture 32" descr="figure8_pocket_occupan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2800" y="15361920"/>
            <a:ext cx="9144000" cy="65270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3657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Conclusions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216080"/>
            <a:ext cx="1463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1. Built deep learning pipeline screening 9,566 compounds against NOD2 LRR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2. FEP quantifies mutation-sensitive binding: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   • Febuxostat: ΔΔG = +2.34 kcal/mol (50× weaker in R702W, p&lt;0.001)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   • Bufadienolide: ΔΔG = -0.44 kcal/mol (no significant change)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3. Apo MD shows reduced conformational sampling in R702W (0% vs 12.6% &gt;5Å)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4. Identified key binding residues: GLU1008, ARG1037, ASP1011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3657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Limitations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372160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FEP on 2 ligands only (compute-intensive)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Apo MD only (no drug comparisons)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Computational predictions require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  experimental validation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Bufadienolide statistical significance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  not reached (1.8σ)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0" y="3657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Future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0" y="3721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Experimental validation: SPR, ITC binding assays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Test additional NOD2 mutations (G908R, L1007fs)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HDX-MS conformational dynamics studies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Cell-based NF-κB reporter assays</a:t>
            </a:r>
          </a:p>
          <a:p>
            <a:pPr>
              <a:spcAft>
                <a:spcPts val="600"/>
              </a:spcAft>
              <a:defRPr sz="2000">
                <a:solidFill>
                  <a:srgbClr val="1A202C"/>
                </a:solidFill>
              </a:defRPr>
            </a:pPr>
            <a:r>
              <a:t>• Analog screening for improved drug-likeness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1148000"/>
            <a:ext cx="2286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Acknowledgments: TACC Frontera allocation, AlphaFold2 structure (UniProt Q9HC29), OpenMM/AMBER14 force fields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0" y="40233600"/>
            <a:ext cx="2743200" cy="2743200"/>
          </a:xfrm>
          <a:prstGeom prst="rect">
            <a:avLst/>
          </a:prstGeom>
          <a:solidFill>
            <a:srgbClr val="F7FAFC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0" y="43159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365D"/>
                </a:solidFill>
              </a:defRPr>
            </a:pPr>
            <a:r>
              <a:t>GitHub</a:t>
            </a:r>
            <a:br/>
            <a:r>
              <a:t>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